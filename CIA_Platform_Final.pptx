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A Bloc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CIA Platform (Access, Migration &amp; Export)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Entitlement Migration: Enterprise Systems → RCS → CIA (no UAP)  ·  User Onboarding: UAP → CIA → RCS  ·  Export: UAP admin only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227373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209373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587200" y="1355000"/>
            <a:ext cx="2013736" cy="5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62200" y="1359280"/>
            <a:ext cx="186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UAP </a:t>
            </a:r>
          </a:p>
        </p:txBody>
      </p:sp>
      <p:sp>
        <p:nvSpPr>
          <p:cNvPr id="107" name="ML107"/>
          <p:cNvSpPr/>
          <p:nvPr/>
        </p:nvSpPr>
        <p:spPr>
          <a:xfrm>
            <a:off x="662200" y="1533840"/>
            <a:ext cx="1863736" cy="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&amp; user entry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Onboarding trigger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Profile management</a:t>
            </a:r>
          </a:p>
        </p:txBody>
      </p:sp>
      <p:sp>
        <p:nvSpPr>
          <p:cNvPr id="108" name="S108"/>
          <p:cNvSpPr/>
          <p:nvPr/>
        </p:nvSpPr>
        <p:spPr>
          <a:xfrm>
            <a:off x="567200" y="2115000"/>
            <a:ext cx="2053736" cy="206000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9525">
            <a:solidFill>
              <a:srgbClr val="6B6B6B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2200" y="2160000"/>
            <a:ext cx="1903736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i="1" dirty="0">
                <a:solidFill>
                  <a:srgbClr val="6B6B6B"/>
                </a:solidFill>
                <a:latin typeface="Calibri"/>
              </a:rPr>
              <a:t>Export  (UAP only)</a:t>
            </a:r>
          </a:p>
        </p:txBody>
      </p:sp>
      <p:sp>
        <p:nvSpPr>
          <p:cNvPr id="110" name="S110"/>
          <p:cNvSpPr/>
          <p:nvPr/>
        </p:nvSpPr>
        <p:spPr>
          <a:xfrm>
            <a:off x="647200" y="2375000"/>
            <a:ext cx="1893736" cy="5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22200" y="2449533"/>
            <a:ext cx="174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Select Format</a:t>
            </a:r>
          </a:p>
        </p:txBody>
      </p:sp>
      <p:sp>
        <p:nvSpPr>
          <p:cNvPr id="112" name="ML112"/>
          <p:cNvSpPr/>
          <p:nvPr/>
        </p:nvSpPr>
        <p:spPr>
          <a:xfrm>
            <a:off x="722200" y="2715533"/>
            <a:ext cx="1743736" cy="20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csv / xlsx / pdf</a:t>
            </a:r>
          </a:p>
        </p:txBody>
      </p:sp>
      <p:sp>
        <p:nvSpPr>
          <p:cNvPr id="113" name="S113"/>
          <p:cNvSpPr/>
          <p:nvPr/>
        </p:nvSpPr>
        <p:spPr>
          <a:xfrm>
            <a:off x="647200" y="3008333"/>
            <a:ext cx="1893736" cy="5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722200" y="3082866"/>
            <a:ext cx="174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Generate File</a:t>
            </a:r>
          </a:p>
        </p:txBody>
      </p:sp>
      <p:sp>
        <p:nvSpPr>
          <p:cNvPr id="115" name="ML115"/>
          <p:cNvSpPr/>
          <p:nvPr/>
        </p:nvSpPr>
        <p:spPr>
          <a:xfrm>
            <a:off x="722200" y="3318386"/>
            <a:ext cx="1743736" cy="20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All users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No pagination</a:t>
            </a:r>
          </a:p>
        </p:txBody>
      </p:sp>
      <p:sp>
        <p:nvSpPr>
          <p:cNvPr id="116" name="S116"/>
          <p:cNvSpPr/>
          <p:nvPr/>
        </p:nvSpPr>
        <p:spPr>
          <a:xfrm>
            <a:off x="647200" y="3641666"/>
            <a:ext cx="1893736" cy="5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722200" y="3716199"/>
            <a:ext cx="174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Download Link</a:t>
            </a:r>
          </a:p>
        </p:txBody>
      </p:sp>
      <p:sp>
        <p:nvSpPr>
          <p:cNvPr id="118" name="ML118"/>
          <p:cNvSpPr/>
          <p:nvPr/>
        </p:nvSpPr>
        <p:spPr>
          <a:xfrm>
            <a:off x="722200" y="3982199"/>
            <a:ext cx="1743736" cy="20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saves file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</a:t>
            </a:r>
          </a:p>
        </p:txBody>
      </p:sp>
      <p:sp>
        <p:nvSpPr>
          <p:cNvPr id="119" name="S119"/>
          <p:cNvSpPr/>
          <p:nvPr/>
        </p:nvSpPr>
        <p:spPr>
          <a:xfrm>
            <a:off x="1594068" y="2958333"/>
            <a:ext cx="0" cy="4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0" name="S120"/>
          <p:cNvSpPr/>
          <p:nvPr/>
        </p:nvSpPr>
        <p:spPr>
          <a:xfrm>
            <a:off x="1594068" y="3591666"/>
            <a:ext cx="0" cy="4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1" name="S121"/>
          <p:cNvSpPr/>
          <p:nvPr/>
        </p:nvSpPr>
        <p:spPr>
          <a:xfrm>
            <a:off x="567200" y="4315000"/>
            <a:ext cx="2053736" cy="219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22" name="T122"/>
          <p:cNvSpPr/>
          <p:nvPr/>
        </p:nvSpPr>
        <p:spPr>
          <a:xfrm>
            <a:off x="652200" y="4360000"/>
            <a:ext cx="1903736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i="1" dirty="0">
                <a:solidFill>
                  <a:srgbClr val="A6192E"/>
                </a:solidFill>
                <a:latin typeface="Calibri"/>
              </a:rPr>
              <a:t>Onboarding</a:t>
            </a:r>
          </a:p>
        </p:txBody>
      </p:sp>
      <p:sp>
        <p:nvSpPr>
          <p:cNvPr id="123" name="S123"/>
          <p:cNvSpPr/>
          <p:nvPr/>
        </p:nvSpPr>
        <p:spPr>
          <a:xfrm>
            <a:off x="647200" y="4565000"/>
            <a:ext cx="1893736" cy="18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4" name="T124"/>
          <p:cNvSpPr/>
          <p:nvPr/>
        </p:nvSpPr>
        <p:spPr>
          <a:xfrm>
            <a:off x="722200" y="4808750"/>
            <a:ext cx="174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New User Created</a:t>
            </a:r>
          </a:p>
        </p:txBody>
      </p:sp>
      <p:sp>
        <p:nvSpPr>
          <p:cNvPr id="125" name="ML125"/>
          <p:cNvSpPr/>
          <p:nvPr/>
        </p:nvSpPr>
        <p:spPr>
          <a:xfrm>
            <a:off x="722200" y="5074750"/>
            <a:ext cx="1743736" cy="133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User profile set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Journey triggered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CIA API called</a:t>
            </a:r>
          </a:p>
        </p:txBody>
      </p:sp>
      <p:sp>
        <p:nvSpPr>
          <p:cNvPr id="126" name="S126"/>
          <p:cNvSpPr/>
          <p:nvPr/>
        </p:nvSpPr>
        <p:spPr>
          <a:xfrm>
            <a:off x="2740936" y="5352500"/>
            <a:ext cx="205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7" name="T127"/>
          <p:cNvSpPr/>
          <p:nvPr/>
        </p:nvSpPr>
        <p:spPr>
          <a:xfrm>
            <a:off x="2622376" y="5294580"/>
            <a:ext cx="431440" cy="11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onboarding call</a:t>
            </a:r>
          </a:p>
        </p:txBody>
      </p:sp>
      <p:sp>
        <p:nvSpPr>
          <p:cNvPr id="128" name="S128"/>
          <p:cNvSpPr/>
          <p:nvPr/>
        </p:nvSpPr>
        <p:spPr>
          <a:xfrm>
            <a:off x="2740936" y="5472499"/>
            <a:ext cx="237880" cy="24991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9" name="T129"/>
          <p:cNvSpPr/>
          <p:nvPr/>
        </p:nvSpPr>
        <p:spPr>
          <a:xfrm>
            <a:off x="2622376" y="5497500"/>
            <a:ext cx="506440" cy="21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roles assigned</a:t>
            </a:r>
          </a:p>
        </p:txBody>
      </p:sp>
      <p:sp>
        <p:nvSpPr>
          <p:cNvPr id="130" name="S130"/>
          <p:cNvSpPr/>
          <p:nvPr/>
        </p:nvSpPr>
        <p:spPr>
          <a:xfrm>
            <a:off x="2913816" y="1060000"/>
            <a:ext cx="3183230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31" name="T131"/>
          <p:cNvSpPr/>
          <p:nvPr/>
        </p:nvSpPr>
        <p:spPr>
          <a:xfrm>
            <a:off x="3013816" y="1110000"/>
            <a:ext cx="300323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32" name="S132"/>
          <p:cNvSpPr/>
          <p:nvPr/>
        </p:nvSpPr>
        <p:spPr>
          <a:xfrm>
            <a:off x="3053816" y="1355000"/>
            <a:ext cx="2903230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3" name="T133"/>
          <p:cNvSpPr/>
          <p:nvPr/>
        </p:nvSpPr>
        <p:spPr>
          <a:xfrm>
            <a:off x="3128816" y="1675450"/>
            <a:ext cx="275323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CIA / PingOne AIC</a:t>
            </a:r>
          </a:p>
        </p:txBody>
      </p:sp>
      <p:sp>
        <p:nvSpPr>
          <p:cNvPr id="134" name="ML134"/>
          <p:cNvSpPr/>
          <p:nvPr/>
        </p:nvSpPr>
        <p:spPr>
          <a:xfrm>
            <a:off x="3128816" y="1941450"/>
            <a:ext cx="2753230" cy="184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Journey engine for all CIA operations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Onboarding journey: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Assigns default roles per policy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e.g. MBC basic access entitlement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Migration journey: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Receives data from RCS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Runs transformation script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Maps entitlements → CIAM roles</a:t>
            </a:r>
          </a:p>
        </p:txBody>
      </p:sp>
      <p:sp>
        <p:nvSpPr>
          <p:cNvPr id="135" name="S135"/>
          <p:cNvSpPr/>
          <p:nvPr/>
        </p:nvSpPr>
        <p:spPr>
          <a:xfrm>
            <a:off x="3010256" y="4040000"/>
            <a:ext cx="2903230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6" name="T136"/>
          <p:cNvSpPr/>
          <p:nvPr/>
        </p:nvSpPr>
        <p:spPr>
          <a:xfrm>
            <a:off x="3128816" y="4360450"/>
            <a:ext cx="275323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Transformation Script</a:t>
            </a:r>
          </a:p>
        </p:txBody>
      </p:sp>
      <p:sp>
        <p:nvSpPr>
          <p:cNvPr id="137" name="ML137"/>
          <p:cNvSpPr/>
          <p:nvPr/>
        </p:nvSpPr>
        <p:spPr>
          <a:xfrm>
            <a:off x="3128816" y="4626450"/>
            <a:ext cx="2753230" cy="184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CIA-native scripting engine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Reads raw entitlement data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from Oracle via RCS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Applies mapping rules: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Entitlement → CIAM role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Role hierarchy &amp; defaults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Policy-based assignment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Output: CIAM roles stored in CIA</a:t>
            </a:r>
          </a:p>
        </p:txBody>
      </p:sp>
      <p:sp>
        <p:nvSpPr>
          <p:cNvPr id="138" name="S138"/>
          <p:cNvSpPr/>
          <p:nvPr/>
        </p:nvSpPr>
        <p:spPr>
          <a:xfrm>
            <a:off x="4505431" y="3830000"/>
            <a:ext cx="0" cy="20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9" name="T139"/>
          <p:cNvSpPr/>
          <p:nvPr/>
        </p:nvSpPr>
        <p:spPr>
          <a:xfrm>
            <a:off x="4555431" y="3845000"/>
            <a:ext cx="1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transform</a:t>
            </a:r>
          </a:p>
        </p:txBody>
      </p:sp>
      <p:sp>
        <p:nvSpPr>
          <p:cNvPr id="140" name="S140"/>
          <p:cNvSpPr/>
          <p:nvPr/>
        </p:nvSpPr>
        <p:spPr>
          <a:xfrm>
            <a:off x="6107046" y="5212500"/>
            <a:ext cx="30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1" name="T141"/>
          <p:cNvSpPr/>
          <p:nvPr/>
        </p:nvSpPr>
        <p:spPr>
          <a:xfrm>
            <a:off x="5988486" y="5022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fetch entitlements</a:t>
            </a:r>
          </a:p>
        </p:txBody>
      </p:sp>
      <p:sp>
        <p:nvSpPr>
          <p:cNvPr id="142" name="S142"/>
          <p:cNvSpPr/>
          <p:nvPr/>
        </p:nvSpPr>
        <p:spPr>
          <a:xfrm>
            <a:off x="6107046" y="5332500"/>
            <a:ext cx="30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3" name="T143"/>
          <p:cNvSpPr/>
          <p:nvPr/>
        </p:nvSpPr>
        <p:spPr>
          <a:xfrm>
            <a:off x="5988486" y="5357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entitlement data</a:t>
            </a:r>
          </a:p>
        </p:txBody>
      </p:sp>
      <p:sp>
        <p:nvSpPr>
          <p:cNvPr id="144" name="S144"/>
          <p:cNvSpPr/>
          <p:nvPr/>
        </p:nvSpPr>
        <p:spPr>
          <a:xfrm>
            <a:off x="6107046" y="2787500"/>
            <a:ext cx="30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5" name="T145"/>
          <p:cNvSpPr/>
          <p:nvPr/>
        </p:nvSpPr>
        <p:spPr>
          <a:xfrm>
            <a:off x="5988486" y="2597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sync new user</a:t>
            </a:r>
          </a:p>
        </p:txBody>
      </p:sp>
      <p:sp>
        <p:nvSpPr>
          <p:cNvPr id="146" name="S146"/>
          <p:cNvSpPr/>
          <p:nvPr/>
        </p:nvSpPr>
        <p:spPr>
          <a:xfrm>
            <a:off x="6279926" y="1060000"/>
            <a:ext cx="227373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7" name="T147"/>
          <p:cNvSpPr/>
          <p:nvPr/>
        </p:nvSpPr>
        <p:spPr>
          <a:xfrm>
            <a:off x="6379926" y="1110000"/>
            <a:ext cx="209373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RCS</a:t>
            </a:r>
          </a:p>
        </p:txBody>
      </p:sp>
      <p:sp>
        <p:nvSpPr>
          <p:cNvPr id="148" name="S148"/>
          <p:cNvSpPr/>
          <p:nvPr/>
        </p:nvSpPr>
        <p:spPr>
          <a:xfrm>
            <a:off x="6409926" y="1355000"/>
            <a:ext cx="2013736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9" name="T149"/>
          <p:cNvSpPr/>
          <p:nvPr/>
        </p:nvSpPr>
        <p:spPr>
          <a:xfrm>
            <a:off x="6484926" y="1675450"/>
            <a:ext cx="186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OOTB Oracle
Connector</a:t>
            </a:r>
          </a:p>
        </p:txBody>
      </p:sp>
      <p:sp>
        <p:nvSpPr>
          <p:cNvPr id="150" name="ML150"/>
          <p:cNvSpPr/>
          <p:nvPr/>
        </p:nvSpPr>
        <p:spPr>
          <a:xfrm>
            <a:off x="6484926" y="1941450"/>
            <a:ext cx="1863736" cy="184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Standard connector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JDBC-based fetch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Packaged with RCS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No custom code needed</a:t>
            </a:r>
          </a:p>
        </p:txBody>
      </p:sp>
      <p:sp>
        <p:nvSpPr>
          <p:cNvPr id="151" name="S151"/>
          <p:cNvSpPr/>
          <p:nvPr/>
        </p:nvSpPr>
        <p:spPr>
          <a:xfrm>
            <a:off x="6409926" y="4040000"/>
            <a:ext cx="2013736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52" name="T152"/>
          <p:cNvSpPr/>
          <p:nvPr/>
        </p:nvSpPr>
        <p:spPr>
          <a:xfrm>
            <a:off x="6484926" y="4360450"/>
            <a:ext cx="1863736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Custom SQL
Connector</a:t>
            </a:r>
          </a:p>
        </p:txBody>
      </p:sp>
      <p:sp>
        <p:nvSpPr>
          <p:cNvPr id="153" name="ML153"/>
          <p:cNvSpPr/>
          <p:nvPr/>
        </p:nvSpPr>
        <p:spPr>
          <a:xfrm>
            <a:off x="6484926" y="4626450"/>
            <a:ext cx="1863736" cy="184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For complex queries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Bespoke transformations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Custom filter logic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Built on RCS framework</a:t>
            </a:r>
          </a:p>
        </p:txBody>
      </p:sp>
      <p:sp>
        <p:nvSpPr>
          <p:cNvPr id="154" name="S154"/>
          <p:cNvSpPr/>
          <p:nvPr/>
        </p:nvSpPr>
        <p:spPr>
          <a:xfrm>
            <a:off x="8563662" y="2587500"/>
            <a:ext cx="20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5" name="T155"/>
          <p:cNvSpPr/>
          <p:nvPr/>
        </p:nvSpPr>
        <p:spPr>
          <a:xfrm>
            <a:off x="8430102" y="2397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JDBC / SQL query</a:t>
            </a:r>
          </a:p>
        </p:txBody>
      </p:sp>
      <p:sp>
        <p:nvSpPr>
          <p:cNvPr id="156" name="S156"/>
          <p:cNvSpPr/>
          <p:nvPr/>
        </p:nvSpPr>
        <p:spPr>
          <a:xfrm>
            <a:off x="8563662" y="26975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57" name="T157"/>
          <p:cNvSpPr/>
          <p:nvPr/>
        </p:nvSpPr>
        <p:spPr>
          <a:xfrm>
            <a:off x="8430102" y="2722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raw entitlement data</a:t>
            </a:r>
          </a:p>
        </p:txBody>
      </p:sp>
      <p:sp>
        <p:nvSpPr>
          <p:cNvPr id="158" name="S158"/>
          <p:cNvSpPr/>
          <p:nvPr/>
        </p:nvSpPr>
        <p:spPr>
          <a:xfrm>
            <a:off x="8563662" y="5272500"/>
            <a:ext cx="1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9" name="T159"/>
          <p:cNvSpPr/>
          <p:nvPr/>
        </p:nvSpPr>
        <p:spPr>
          <a:xfrm>
            <a:off x="8430102" y="5082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custom SQL query</a:t>
            </a:r>
          </a:p>
        </p:txBody>
      </p:sp>
      <p:sp>
        <p:nvSpPr>
          <p:cNvPr id="160" name="S160"/>
          <p:cNvSpPr/>
          <p:nvPr/>
        </p:nvSpPr>
        <p:spPr>
          <a:xfrm>
            <a:off x="8563662" y="53825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61" name="T161"/>
          <p:cNvSpPr/>
          <p:nvPr/>
        </p:nvSpPr>
        <p:spPr>
          <a:xfrm>
            <a:off x="8430102" y="5407500"/>
            <a:ext cx="5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query results</a:t>
            </a:r>
          </a:p>
        </p:txBody>
      </p:sp>
      <p:sp>
        <p:nvSpPr>
          <p:cNvPr id="162" name="S162"/>
          <p:cNvSpPr/>
          <p:nvPr/>
        </p:nvSpPr>
        <p:spPr>
          <a:xfrm>
            <a:off x="8736542" y="1060000"/>
            <a:ext cx="3089338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63" name="T163"/>
          <p:cNvSpPr/>
          <p:nvPr/>
        </p:nvSpPr>
        <p:spPr>
          <a:xfrm>
            <a:off x="8836542" y="1110000"/>
            <a:ext cx="2909338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Enterprise Systems</a:t>
            </a:r>
          </a:p>
        </p:txBody>
      </p:sp>
      <p:sp>
        <p:nvSpPr>
          <p:cNvPr id="164" name="S164"/>
          <p:cNvSpPr/>
          <p:nvPr/>
        </p:nvSpPr>
        <p:spPr>
          <a:xfrm>
            <a:off x="8846542" y="1355000"/>
            <a:ext cx="2869338" cy="5150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5" name="T165"/>
          <p:cNvSpPr/>
          <p:nvPr/>
        </p:nvSpPr>
        <p:spPr>
          <a:xfrm>
            <a:off x="8921542" y="2024500"/>
            <a:ext cx="271933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Enterprise HR / Oracle DB</a:t>
            </a:r>
          </a:p>
        </p:txBody>
      </p:sp>
      <p:sp>
        <p:nvSpPr>
          <p:cNvPr id="166" name="ML166"/>
          <p:cNvSpPr/>
          <p:nvPr/>
        </p:nvSpPr>
        <p:spPr>
          <a:xfrm>
            <a:off x="8921542" y="2290500"/>
            <a:ext cx="2719338" cy="418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Legacy IAM entitlement store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User roles &amp; permission records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Accessed read-only during migration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No changes written back to Oracle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Connection via RCS: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OOTB Oracle connector (default)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Custom SQL connector (if needed)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Post-migration: Oracle remains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as historical reference only</a:t>
            </a:r>
          </a:p>
        </p:txBody>
      </p:sp>
      <p:sp>
        <p:nvSpPr>
          <p:cNvPr id="167" name="T167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Grey sub-zone = UAP-only  ·  Dashed = platform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igration Sequ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Entitlement Migration (Enterprise HR / Oracle → CIA)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Scheduled / triggered migration process — no UAP involvement — Oracle entitlements transformed to CIAM roles via RCS and CIA transformation script</a:t>
            </a:r>
          </a:p>
        </p:txBody>
      </p:sp>
      <p:sp>
        <p:nvSpPr>
          <p:cNvPr id="103" name="S103"/>
          <p:cNvSpPr/>
          <p:nvPr/>
        </p:nvSpPr>
        <p:spPr>
          <a:xfrm>
            <a:off x="101600" y="1170432"/>
            <a:ext cx="1612899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4" name="LH104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Enterprise HR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/ Oracle DB</a:t>
            </a:r>
          </a:p>
        </p:txBody>
      </p:sp>
      <p:sp>
        <p:nvSpPr>
          <p:cNvPr id="105" name="S105"/>
          <p:cNvSpPr/>
          <p:nvPr/>
        </p:nvSpPr>
        <p:spPr>
          <a:xfrm>
            <a:off x="263652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6" name="LH106"/>
          <p:cNvSpPr/>
          <p:nvPr/>
        </p:nvSpPr>
        <p:spPr>
          <a:xfrm>
            <a:off x="263652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RCS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(Connector)</a:t>
            </a:r>
          </a:p>
        </p:txBody>
      </p:sp>
      <p:sp>
        <p:nvSpPr>
          <p:cNvPr id="107" name="S107"/>
          <p:cNvSpPr/>
          <p:nvPr/>
        </p:nvSpPr>
        <p:spPr>
          <a:xfrm>
            <a:off x="525018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8" name="LH108"/>
          <p:cNvSpPr/>
          <p:nvPr/>
        </p:nvSpPr>
        <p:spPr>
          <a:xfrm>
            <a:off x="525018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CIA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(PingOne AIC)</a:t>
            </a:r>
          </a:p>
        </p:txBody>
      </p:sp>
      <p:sp>
        <p:nvSpPr>
          <p:cNvPr id="109" name="S109"/>
          <p:cNvSpPr/>
          <p:nvPr/>
        </p:nvSpPr>
        <p:spPr>
          <a:xfrm>
            <a:off x="786384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0" name="LH110"/>
          <p:cNvSpPr/>
          <p:nvPr/>
        </p:nvSpPr>
        <p:spPr>
          <a:xfrm>
            <a:off x="786384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Transformation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Script</a:t>
            </a:r>
          </a:p>
        </p:txBody>
      </p:sp>
      <p:sp>
        <p:nvSpPr>
          <p:cNvPr id="111" name="S111"/>
          <p:cNvSpPr/>
          <p:nvPr/>
        </p:nvSpPr>
        <p:spPr>
          <a:xfrm>
            <a:off x="10477500" y="1170432"/>
            <a:ext cx="1612897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2" name="LH112"/>
          <p:cNvSpPr/>
          <p:nvPr/>
        </p:nvSpPr>
        <p:spPr>
          <a:xfrm>
            <a:off x="1047750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CIAM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Role Store</a:t>
            </a:r>
          </a:p>
        </p:txBody>
      </p:sp>
      <p:sp>
        <p:nvSpPr>
          <p:cNvPr id="113" name="S113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4" name="S114"/>
          <p:cNvSpPr/>
          <p:nvPr/>
        </p:nvSpPr>
        <p:spPr>
          <a:xfrm>
            <a:off x="348234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5" name="S115"/>
          <p:cNvSpPr/>
          <p:nvPr/>
        </p:nvSpPr>
        <p:spPr>
          <a:xfrm>
            <a:off x="609600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6" name="S116"/>
          <p:cNvSpPr/>
          <p:nvPr/>
        </p:nvSpPr>
        <p:spPr>
          <a:xfrm>
            <a:off x="870966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7" name="S117"/>
          <p:cNvSpPr/>
          <p:nvPr/>
        </p:nvSpPr>
        <p:spPr>
          <a:xfrm>
            <a:off x="1132332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8" name="S118"/>
          <p:cNvSpPr/>
          <p:nvPr/>
        </p:nvSpPr>
        <p:spPr>
          <a:xfrm>
            <a:off x="868680" y="1841920"/>
            <a:ext cx="522732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19" name="T119"/>
          <p:cNvSpPr/>
          <p:nvPr/>
        </p:nvSpPr>
        <p:spPr>
          <a:xfrm>
            <a:off x="898680" y="1606600"/>
            <a:ext cx="51673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1. Request entitlement data (scheduled / triggered)</a:t>
            </a:r>
          </a:p>
        </p:txBody>
      </p:sp>
      <p:sp>
        <p:nvSpPr>
          <p:cNvPr id="120" name="S120"/>
          <p:cNvSpPr/>
          <p:nvPr/>
        </p:nvSpPr>
        <p:spPr>
          <a:xfrm>
            <a:off x="868680" y="21619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1" name="T121"/>
          <p:cNvSpPr/>
          <p:nvPr/>
        </p:nvSpPr>
        <p:spPr>
          <a:xfrm>
            <a:off x="898680" y="21869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2. Route fetch request to RCS connector</a:t>
            </a:r>
          </a:p>
        </p:txBody>
      </p:sp>
      <p:sp>
        <p:nvSpPr>
          <p:cNvPr id="122" name="S122"/>
          <p:cNvSpPr/>
          <p:nvPr/>
        </p:nvSpPr>
        <p:spPr>
          <a:xfrm>
            <a:off x="868680" y="24819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23" name="T123"/>
          <p:cNvSpPr/>
          <p:nvPr/>
        </p:nvSpPr>
        <p:spPr>
          <a:xfrm>
            <a:off x="898680" y="22669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3. Execute JDBC / SQL query against Oracle DB</a:t>
            </a:r>
          </a:p>
        </p:txBody>
      </p:sp>
      <p:sp>
        <p:nvSpPr>
          <p:cNvPr id="124" name="S124"/>
          <p:cNvSpPr/>
          <p:nvPr/>
        </p:nvSpPr>
        <p:spPr>
          <a:xfrm>
            <a:off x="868680" y="28019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125" name="T125"/>
          <p:cNvSpPr/>
          <p:nvPr/>
        </p:nvSpPr>
        <p:spPr>
          <a:xfrm>
            <a:off x="898680" y="28269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4. Return raw entitlement records</a:t>
            </a:r>
          </a:p>
        </p:txBody>
      </p:sp>
      <p:sp>
        <p:nvSpPr>
          <p:cNvPr id="126" name="S126"/>
          <p:cNvSpPr/>
          <p:nvPr/>
        </p:nvSpPr>
        <p:spPr>
          <a:xfrm>
            <a:off x="3482340" y="31219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127" name="T127"/>
          <p:cNvSpPr/>
          <p:nvPr/>
        </p:nvSpPr>
        <p:spPr>
          <a:xfrm>
            <a:off x="3512340" y="29069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5. Deliver raw entitlement data to CIA</a:t>
            </a:r>
          </a:p>
        </p:txBody>
      </p:sp>
      <p:sp>
        <p:nvSpPr>
          <p:cNvPr id="128" name="S128"/>
          <p:cNvSpPr/>
          <p:nvPr/>
        </p:nvSpPr>
        <p:spPr>
          <a:xfrm>
            <a:off x="6096000" y="34419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9" name="T129"/>
          <p:cNvSpPr/>
          <p:nvPr/>
        </p:nvSpPr>
        <p:spPr>
          <a:xfrm>
            <a:off x="6126000" y="34669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6. Invoke transformation script</a:t>
            </a:r>
          </a:p>
        </p:txBody>
      </p:sp>
      <p:sp>
        <p:nvSpPr>
          <p:cNvPr id="130" name="S130"/>
          <p:cNvSpPr/>
          <p:nvPr/>
        </p:nvSpPr>
        <p:spPr>
          <a:xfrm>
            <a:off x="7609660" y="3761920"/>
            <a:ext cx="2200000" cy="329184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31" name="T131"/>
          <p:cNvSpPr/>
          <p:nvPr/>
        </p:nvSpPr>
        <p:spPr>
          <a:xfrm>
            <a:off x="7609660" y="3761920"/>
            <a:ext cx="22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7. Map entitlements → CIAM roles (policy-based)</a:t>
            </a:r>
          </a:p>
        </p:txBody>
      </p:sp>
      <p:sp>
        <p:nvSpPr>
          <p:cNvPr id="132" name="S132"/>
          <p:cNvSpPr/>
          <p:nvPr/>
        </p:nvSpPr>
        <p:spPr>
          <a:xfrm>
            <a:off x="6096000" y="4171104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3" name="T133"/>
          <p:cNvSpPr/>
          <p:nvPr/>
        </p:nvSpPr>
        <p:spPr>
          <a:xfrm>
            <a:off x="6126000" y="4196104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8. Return mapped CIAM role definitions</a:t>
            </a:r>
          </a:p>
        </p:txBody>
      </p:sp>
      <p:sp>
        <p:nvSpPr>
          <p:cNvPr id="134" name="S134"/>
          <p:cNvSpPr/>
          <p:nvPr/>
        </p:nvSpPr>
        <p:spPr>
          <a:xfrm>
            <a:off x="6096000" y="4491104"/>
            <a:ext cx="522732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5" name="T135"/>
          <p:cNvSpPr/>
          <p:nvPr/>
        </p:nvSpPr>
        <p:spPr>
          <a:xfrm>
            <a:off x="6126000" y="4276104"/>
            <a:ext cx="51673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9. Persist CIAM roles to role store</a:t>
            </a:r>
          </a:p>
        </p:txBody>
      </p:sp>
      <p:sp>
        <p:nvSpPr>
          <p:cNvPr id="136" name="S136"/>
          <p:cNvSpPr/>
          <p:nvPr/>
        </p:nvSpPr>
        <p:spPr>
          <a:xfrm>
            <a:off x="6096000" y="4811104"/>
            <a:ext cx="522732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7" name="T137"/>
          <p:cNvSpPr/>
          <p:nvPr/>
        </p:nvSpPr>
        <p:spPr>
          <a:xfrm>
            <a:off x="6126000" y="4836104"/>
            <a:ext cx="51673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10. Confirm roles stored</a:t>
            </a:r>
          </a:p>
        </p:txBody>
      </p:sp>
      <p:sp>
        <p:nvSpPr>
          <p:cNvPr id="138" name="S138"/>
          <p:cNvSpPr/>
          <p:nvPr/>
        </p:nvSpPr>
        <p:spPr>
          <a:xfrm>
            <a:off x="4996000" y="5131104"/>
            <a:ext cx="2200000" cy="329184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39" name="T139"/>
          <p:cNvSpPr/>
          <p:nvPr/>
        </p:nvSpPr>
        <p:spPr>
          <a:xfrm>
            <a:off x="4996000" y="5131104"/>
            <a:ext cx="22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11. Migration complete — log &amp; notify</a:t>
            </a:r>
          </a:p>
        </p:txBody>
      </p:sp>
      <p:sp>
        <p:nvSpPr>
          <p:cNvPr id="140" name="T140"/>
          <p:cNvSpPr/>
          <p:nvPr/>
        </p:nvSpPr>
        <p:spPr>
          <a:xfrm>
            <a:off x="457200" y="6111240"/>
            <a:ext cx="11368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6B6B6B"/>
                </a:solidFill>
                <a:latin typeface="Calibri"/>
              </a:rPr>
              <a:t>Black solid → request / call  ·  Black dashed → response / return  ·  Red-tint box → processing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boarding Sequ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3759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User Onboarding &amp; Default Role Assignment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8879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Admin creates new user in UAP — CIA assigns default roles per onboarding policy — RCS syncs access to connected systems</a:t>
            </a:r>
          </a:p>
        </p:txBody>
      </p:sp>
      <p:sp>
        <p:nvSpPr>
          <p:cNvPr id="103" name="S103"/>
          <p:cNvSpPr/>
          <p:nvPr/>
        </p:nvSpPr>
        <p:spPr>
          <a:xfrm>
            <a:off x="152400" y="1272032"/>
            <a:ext cx="156210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4" name="LH104"/>
          <p:cNvSpPr/>
          <p:nvPr/>
        </p:nvSpPr>
        <p:spPr>
          <a:xfrm>
            <a:off x="152400" y="1272032"/>
            <a:ext cx="15620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Admin /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05" name="S105"/>
          <p:cNvSpPr/>
          <p:nvPr/>
        </p:nvSpPr>
        <p:spPr>
          <a:xfrm>
            <a:off x="2636520" y="12720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6" name="LH106"/>
          <p:cNvSpPr/>
          <p:nvPr/>
        </p:nvSpPr>
        <p:spPr>
          <a:xfrm>
            <a:off x="2636520" y="12720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UAP /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CIA Portal</a:t>
            </a:r>
          </a:p>
        </p:txBody>
      </p:sp>
      <p:sp>
        <p:nvSpPr>
          <p:cNvPr id="107" name="S107"/>
          <p:cNvSpPr/>
          <p:nvPr/>
        </p:nvSpPr>
        <p:spPr>
          <a:xfrm>
            <a:off x="5250180" y="12720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8" name="LH108"/>
          <p:cNvSpPr/>
          <p:nvPr/>
        </p:nvSpPr>
        <p:spPr>
          <a:xfrm>
            <a:off x="5250180" y="12720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CIA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(PingOne AIC)</a:t>
            </a:r>
          </a:p>
        </p:txBody>
      </p:sp>
      <p:sp>
        <p:nvSpPr>
          <p:cNvPr id="109" name="S109"/>
          <p:cNvSpPr/>
          <p:nvPr/>
        </p:nvSpPr>
        <p:spPr>
          <a:xfrm>
            <a:off x="7863840" y="12720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0" name="LH110"/>
          <p:cNvSpPr/>
          <p:nvPr/>
        </p:nvSpPr>
        <p:spPr>
          <a:xfrm>
            <a:off x="7863840" y="12720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RCS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(Connector)</a:t>
            </a:r>
          </a:p>
        </p:txBody>
      </p:sp>
      <p:sp>
        <p:nvSpPr>
          <p:cNvPr id="111" name="S111"/>
          <p:cNvSpPr/>
          <p:nvPr/>
        </p:nvSpPr>
        <p:spPr>
          <a:xfrm>
            <a:off x="10477500" y="1272032"/>
            <a:ext cx="1562098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2" name="LH112"/>
          <p:cNvSpPr/>
          <p:nvPr/>
        </p:nvSpPr>
        <p:spPr>
          <a:xfrm>
            <a:off x="10477500" y="1272032"/>
            <a:ext cx="15620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Connected</a:t>
            </a:r>
          </a:p>
          <a:p>
            <a:pPr marL="0" indent="0" algn="ctr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3" name="S113"/>
          <p:cNvSpPr/>
          <p:nvPr/>
        </p:nvSpPr>
        <p:spPr>
          <a:xfrm>
            <a:off x="868680" y="177901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4" name="S114"/>
          <p:cNvSpPr/>
          <p:nvPr/>
        </p:nvSpPr>
        <p:spPr>
          <a:xfrm>
            <a:off x="3482340" y="177901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5" name="S115"/>
          <p:cNvSpPr/>
          <p:nvPr/>
        </p:nvSpPr>
        <p:spPr>
          <a:xfrm>
            <a:off x="6096000" y="176885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6" name="S116"/>
          <p:cNvSpPr/>
          <p:nvPr/>
        </p:nvSpPr>
        <p:spPr>
          <a:xfrm>
            <a:off x="8709660" y="176885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7" name="S117"/>
          <p:cNvSpPr/>
          <p:nvPr/>
        </p:nvSpPr>
        <p:spPr>
          <a:xfrm>
            <a:off x="11323320" y="176885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8" name="S118"/>
          <p:cNvSpPr/>
          <p:nvPr/>
        </p:nvSpPr>
        <p:spPr>
          <a:xfrm>
            <a:off x="868680" y="198416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9" name="T119"/>
          <p:cNvSpPr/>
          <p:nvPr/>
        </p:nvSpPr>
        <p:spPr>
          <a:xfrm>
            <a:off x="898680" y="178948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1. Create new user (name, profile, role type)</a:t>
            </a:r>
          </a:p>
        </p:txBody>
      </p:sp>
      <p:sp>
        <p:nvSpPr>
          <p:cNvPr id="120" name="S120"/>
          <p:cNvSpPr/>
          <p:nvPr/>
        </p:nvSpPr>
        <p:spPr>
          <a:xfrm>
            <a:off x="3482340" y="2314320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1" name="T121"/>
          <p:cNvSpPr/>
          <p:nvPr/>
        </p:nvSpPr>
        <p:spPr>
          <a:xfrm>
            <a:off x="3512340" y="2339320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2. Call CIA onboarding journey API (OIDC)</a:t>
            </a:r>
          </a:p>
        </p:txBody>
      </p:sp>
      <p:sp>
        <p:nvSpPr>
          <p:cNvPr id="122" name="S122"/>
          <p:cNvSpPr/>
          <p:nvPr/>
        </p:nvSpPr>
        <p:spPr>
          <a:xfrm>
            <a:off x="4996000" y="2634320"/>
            <a:ext cx="2200000" cy="329184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4996000" y="2634320"/>
            <a:ext cx="22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3. Evaluate onboarding policy for user type</a:t>
            </a:r>
          </a:p>
        </p:txBody>
      </p:sp>
      <p:sp>
        <p:nvSpPr>
          <p:cNvPr id="124" name="S124"/>
          <p:cNvSpPr/>
          <p:nvPr/>
        </p:nvSpPr>
        <p:spPr>
          <a:xfrm>
            <a:off x="4996000" y="3043504"/>
            <a:ext cx="2200000" cy="329184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25" name="T125"/>
          <p:cNvSpPr/>
          <p:nvPr/>
        </p:nvSpPr>
        <p:spPr>
          <a:xfrm>
            <a:off x="4996000" y="3043504"/>
            <a:ext cx="22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4. Determine default role set (e.g. MBC basic access)</a:t>
            </a:r>
          </a:p>
        </p:txBody>
      </p:sp>
      <p:sp>
        <p:nvSpPr>
          <p:cNvPr id="126" name="S126"/>
          <p:cNvSpPr/>
          <p:nvPr/>
        </p:nvSpPr>
        <p:spPr>
          <a:xfrm>
            <a:off x="6096000" y="3645728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7" name="T127"/>
          <p:cNvSpPr/>
          <p:nvPr/>
        </p:nvSpPr>
        <p:spPr>
          <a:xfrm>
            <a:off x="6126000" y="3451048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5. Request provisioning to connected applications</a:t>
            </a:r>
          </a:p>
        </p:txBody>
      </p:sp>
      <p:sp>
        <p:nvSpPr>
          <p:cNvPr id="128" name="S128"/>
          <p:cNvSpPr/>
          <p:nvPr/>
        </p:nvSpPr>
        <p:spPr>
          <a:xfrm>
            <a:off x="8709660" y="3772688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9" name="T129"/>
          <p:cNvSpPr/>
          <p:nvPr/>
        </p:nvSpPr>
        <p:spPr>
          <a:xfrm>
            <a:off x="8739660" y="3797688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6. Create user account in connected application</a:t>
            </a:r>
          </a:p>
        </p:txBody>
      </p:sp>
      <p:sp>
        <p:nvSpPr>
          <p:cNvPr id="130" name="S130"/>
          <p:cNvSpPr/>
          <p:nvPr/>
        </p:nvSpPr>
        <p:spPr>
          <a:xfrm>
            <a:off x="8709660" y="4092688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1" name="T131"/>
          <p:cNvSpPr/>
          <p:nvPr/>
        </p:nvSpPr>
        <p:spPr>
          <a:xfrm>
            <a:off x="8739660" y="3877688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7. Return provisioning confirmation</a:t>
            </a:r>
          </a:p>
        </p:txBody>
      </p:sp>
      <p:sp>
        <p:nvSpPr>
          <p:cNvPr id="132" name="S132"/>
          <p:cNvSpPr/>
          <p:nvPr/>
        </p:nvSpPr>
        <p:spPr>
          <a:xfrm>
            <a:off x="6096000" y="4412688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3" name="T133"/>
          <p:cNvSpPr/>
          <p:nvPr/>
        </p:nvSpPr>
        <p:spPr>
          <a:xfrm>
            <a:off x="6126000" y="4437688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8. Confirm account created in target system</a:t>
            </a:r>
          </a:p>
        </p:txBody>
      </p:sp>
      <p:sp>
        <p:nvSpPr>
          <p:cNvPr id="134" name="S134"/>
          <p:cNvSpPr/>
          <p:nvPr/>
        </p:nvSpPr>
        <p:spPr>
          <a:xfrm>
            <a:off x="4996000" y="4732688"/>
            <a:ext cx="2200000" cy="329184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35" name="T135"/>
          <p:cNvSpPr/>
          <p:nvPr/>
        </p:nvSpPr>
        <p:spPr>
          <a:xfrm>
            <a:off x="4996000" y="4732688"/>
            <a:ext cx="22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9. Assign default CIAM roles to user profile</a:t>
            </a:r>
          </a:p>
        </p:txBody>
      </p:sp>
      <p:sp>
        <p:nvSpPr>
          <p:cNvPr id="136" name="S136"/>
          <p:cNvSpPr/>
          <p:nvPr/>
        </p:nvSpPr>
        <p:spPr>
          <a:xfrm>
            <a:off x="3482340" y="5141872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7" name="T137"/>
          <p:cNvSpPr/>
          <p:nvPr/>
        </p:nvSpPr>
        <p:spPr>
          <a:xfrm>
            <a:off x="3512340" y="5166872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10. Return onboarding result (roles assigned)</a:t>
            </a:r>
          </a:p>
        </p:txBody>
      </p:sp>
      <p:sp>
        <p:nvSpPr>
          <p:cNvPr id="138" name="S138"/>
          <p:cNvSpPr/>
          <p:nvPr/>
        </p:nvSpPr>
        <p:spPr>
          <a:xfrm>
            <a:off x="868680" y="5461872"/>
            <a:ext cx="261366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9" name="T139"/>
          <p:cNvSpPr/>
          <p:nvPr/>
        </p:nvSpPr>
        <p:spPr>
          <a:xfrm>
            <a:off x="898680" y="5246872"/>
            <a:ext cx="25536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11. Display confirmation — user onboarded with default roles</a:t>
            </a:r>
          </a:p>
        </p:txBody>
      </p:sp>
      <p:sp>
        <p:nvSpPr>
          <p:cNvPr id="140" name="T140"/>
          <p:cNvSpPr/>
          <p:nvPr/>
        </p:nvSpPr>
        <p:spPr>
          <a:xfrm>
            <a:off x="457200" y="6263640"/>
            <a:ext cx="11368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6B6B6B"/>
                </a:solidFill>
                <a:latin typeface="Calibri"/>
              </a:rPr>
              <a:t>Black solid → request / call  ·  Black dashed → response / return  ·  Red-tint box → processing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636</Words>
  <Application>Microsoft Office PowerPoint</Application>
  <PresentationFormat>Widescreen</PresentationFormat>
  <Paragraphs>129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3</cp:revision>
  <dcterms:created xsi:type="dcterms:W3CDTF">2013-01-27T09:14:16Z</dcterms:created>
  <dcterms:modified xsi:type="dcterms:W3CDTF">2026-07-10T10:36:02Z</dcterms:modified>
  <cp:category/>
</cp:coreProperties>
</file>