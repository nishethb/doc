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7200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egr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_title"/>
          <p:cNvSpPr/>
          <p:nvPr/>
        </p:nvSpPr>
        <p:spPr>
          <a:xfrm>
            <a:off x="457200" y="274320"/>
            <a:ext cx="113686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2500" b="1" i="0" dirty="0">
                <a:solidFill>
                  <a:srgbClr val="7A1322"/>
                </a:solidFill>
                <a:latin typeface="Calibri"/>
              </a:rPr>
              <a:t>Block Diagram — Integration</a:t>
            </a:r>
          </a:p>
        </p:txBody>
      </p:sp>
      <p:sp>
        <p:nvSpPr>
          <p:cNvPr id="102" name="T_sub"/>
          <p:cNvSpPr/>
          <p:nvPr/>
        </p:nvSpPr>
        <p:spPr>
          <a:xfrm>
            <a:off x="457200" y="730000"/>
            <a:ext cx="113686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1050" b="0" i="1" dirty="0">
                <a:solidFill>
                  <a:srgbClr val="6B6B6B"/>
                </a:solidFill>
                <a:latin typeface="Calibri"/>
              </a:rPr>
              <a:t>Covers: BOB Reporting (REST)  ·  DMO Data Sync  ·  OneSpan / GCP  ·  DSH Portal Access  ·  REST APIs</a:t>
            </a:r>
          </a:p>
        </p:txBody>
      </p:sp>
      <p:sp>
        <p:nvSpPr>
          <p:cNvPr id="103" name="S_uap"/>
          <p:cNvSpPr/>
          <p:nvPr/>
        </p:nvSpPr>
        <p:spPr>
          <a:xfrm>
            <a:off x="457200" y="950000"/>
            <a:ext cx="5200000" cy="6000000"/>
          </a:xfrm>
          <a:prstGeom prst="roundRect">
            <a:avLst>
              <a:gd name="adj" fmla="val 3000"/>
            </a:avLst>
          </a:prstGeom>
          <a:solidFill>
            <a:srgbClr val="FBF1F2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04" name="T_uap_lbl"/>
          <p:cNvSpPr/>
          <p:nvPr/>
        </p:nvSpPr>
        <p:spPr>
          <a:xfrm>
            <a:off x="557200" y="1000000"/>
            <a:ext cx="1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UAP Platform Zone</a:t>
            </a:r>
          </a:p>
        </p:txBody>
      </p:sp>
      <p:sp>
        <p:nvSpPr>
          <p:cNvPr id="105" name="S_portal"/>
          <p:cNvSpPr/>
          <p:nvPr/>
        </p:nvSpPr>
        <p:spPr>
          <a:xfrm>
            <a:off x="557200" y="1230000"/>
            <a:ext cx="5000000" cy="6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06" name="T_portal_name"/>
          <p:cNvSpPr/>
          <p:nvPr/>
        </p:nvSpPr>
        <p:spPr>
          <a:xfrm>
            <a:off x="657200" y="1330000"/>
            <a:ext cx="48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UAP Admin Console</a:t>
            </a:r>
          </a:p>
        </p:txBody>
      </p:sp>
      <p:sp>
        <p:nvSpPr>
          <p:cNvPr id="107" name="T_portal_body"/>
          <p:cNvSpPr/>
          <p:nvPr/>
        </p:nvSpPr>
        <p:spPr>
          <a:xfrm>
            <a:off x="657200" y="1570000"/>
            <a:ext cx="4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75" b="0" i="1" dirty="0">
                <a:solidFill>
                  <a:srgbClr val="6B6B6B"/>
                </a:solidFill>
                <a:latin typeface="Calibri"/>
              </a:rPr>
              <a:t>Report trigger &amp; sync  ·  DSH entry  ·  REST API gateway  ·  OneSpan intermediary</a:t>
            </a:r>
          </a:p>
        </p:txBody>
      </p:sp>
      <p:sp>
        <p:nvSpPr>
          <p:cNvPr id="108" name="S_int_zone"/>
          <p:cNvSpPr/>
          <p:nvPr/>
        </p:nvSpPr>
        <p:spPr>
          <a:xfrm>
            <a:off x="557200" y="2030000"/>
            <a:ext cx="5000000" cy="4770000"/>
          </a:xfrm>
          <a:prstGeom prst="roundRect">
            <a:avLst>
              <a:gd name="adj" fmla="val 3000"/>
            </a:avLst>
          </a:prstGeom>
          <a:solidFill>
            <a:srgbClr val="FEF9F9"/>
          </a:solidFill>
          <a:ln w="9525">
            <a:solidFill>
              <a:srgbClr val="262626"/>
            </a:solidFill>
            <a:prstDash val="dash"/>
          </a:ln>
        </p:spPr>
      </p:sp>
      <p:sp>
        <p:nvSpPr>
          <p:cNvPr id="109" name="T_int_lbl"/>
          <p:cNvSpPr/>
          <p:nvPr/>
        </p:nvSpPr>
        <p:spPr>
          <a:xfrm>
            <a:off x="657200" y="2070000"/>
            <a:ext cx="20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950" b="1" i="1" dirty="0">
                <a:solidFill>
                  <a:srgbClr val="A6192E"/>
                </a:solidFill>
                <a:latin typeface="Calibri"/>
              </a:rPr>
              <a:t>Integration Capabilities</a:t>
            </a:r>
          </a:p>
        </p:txBody>
      </p:sp>
      <p:sp>
        <p:nvSpPr>
          <p:cNvPr id="110" name="S_bob"/>
          <p:cNvSpPr/>
          <p:nvPr/>
        </p:nvSpPr>
        <p:spPr>
          <a:xfrm>
            <a:off x="677200" y="2400000"/>
            <a:ext cx="2320000" cy="2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1" name="T_bob_name"/>
          <p:cNvSpPr/>
          <p:nvPr/>
        </p:nvSpPr>
        <p:spPr>
          <a:xfrm>
            <a:off x="777200" y="2550000"/>
            <a:ext cx="212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BOB Reporting (REST)</a:t>
            </a:r>
          </a:p>
        </p:txBody>
      </p:sp>
      <p:sp>
        <p:nvSpPr>
          <p:cNvPr id="112" name="T_bob_body"/>
          <p:cNvSpPr/>
          <p:nvPr/>
        </p:nvSpPr>
        <p:spPr>
          <a:xfrm>
            <a:off x="777200" y="2840000"/>
            <a:ext cx="212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CIAM triggers report request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REST API call near-real-time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BOB schedules report generation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Form: users, apps, file format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Consolidated reports via SMTP/MQ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Delivered to us.mufg.jp mailbox</a:t>
            </a:r>
          </a:p>
        </p:txBody>
      </p:sp>
      <p:sp>
        <p:nvSpPr>
          <p:cNvPr id="113" name="S_onespan"/>
          <p:cNvSpPr/>
          <p:nvPr/>
        </p:nvSpPr>
        <p:spPr>
          <a:xfrm>
            <a:off x="3117200" y="2400000"/>
            <a:ext cx="2320000" cy="2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4" name="T_onespan_name"/>
          <p:cNvSpPr/>
          <p:nvPr/>
        </p:nvSpPr>
        <p:spPr>
          <a:xfrm>
            <a:off x="3217200" y="2550000"/>
            <a:ext cx="212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OneSpan / GCP Intermediary</a:t>
            </a:r>
          </a:p>
        </p:txBody>
      </p:sp>
      <p:sp>
        <p:nvSpPr>
          <p:cNvPr id="115" name="T_onespan_body"/>
          <p:cNvSpPr/>
          <p:nvPr/>
        </p:nvSpPr>
        <p:spPr>
          <a:xfrm>
            <a:off x="3217200" y="2840000"/>
            <a:ext cx="212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UAP acts as intermediary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ComSuite submits OneSpan challenge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UAP forwards to GCP for validation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Normalized auth result returned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Secure &amp; standardized communication</a:t>
            </a:r>
          </a:p>
        </p:txBody>
      </p:sp>
      <p:sp>
        <p:nvSpPr>
          <p:cNvPr id="116" name="S_dsh"/>
          <p:cNvSpPr/>
          <p:nvPr/>
        </p:nvSpPr>
        <p:spPr>
          <a:xfrm>
            <a:off x="677200" y="4600000"/>
            <a:ext cx="2320000" cy="2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17" name="T_dsh_name"/>
          <p:cNvSpPr/>
          <p:nvPr/>
        </p:nvSpPr>
        <p:spPr>
          <a:xfrm>
            <a:off x="777200" y="4750000"/>
            <a:ext cx="212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DSH Portal Access</a:t>
            </a:r>
          </a:p>
        </p:txBody>
      </p:sp>
      <p:sp>
        <p:nvSpPr>
          <p:cNvPr id="118" name="T_dsh_body"/>
          <p:cNvSpPr/>
          <p:nvPr/>
        </p:nvSpPr>
        <p:spPr>
          <a:xfrm>
            <a:off x="777200" y="5040000"/>
            <a:ext cx="212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Admin logs in via DSH page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Navigates to User Access Portal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UAP authenticates &amp; provides link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Direct DSH-to-UAP access</a:t>
            </a:r>
          </a:p>
        </p:txBody>
      </p:sp>
      <p:sp>
        <p:nvSpPr>
          <p:cNvPr id="119" name="S_rest"/>
          <p:cNvSpPr/>
          <p:nvPr/>
        </p:nvSpPr>
        <p:spPr>
          <a:xfrm>
            <a:off x="3117200" y="4600000"/>
            <a:ext cx="2320000" cy="20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20" name="T_rest_name"/>
          <p:cNvSpPr/>
          <p:nvPr/>
        </p:nvSpPr>
        <p:spPr>
          <a:xfrm>
            <a:off x="3217200" y="4750000"/>
            <a:ext cx="212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50" b="1" i="0" dirty="0">
                <a:solidFill>
                  <a:srgbClr val="262626"/>
                </a:solidFill>
                <a:latin typeface="Calibri"/>
              </a:rPr>
              <a:t>REST API Gateway</a:t>
            </a:r>
          </a:p>
        </p:txBody>
      </p:sp>
      <p:sp>
        <p:nvSpPr>
          <p:cNvPr id="121" name="T_rest_body"/>
          <p:cNvSpPr/>
          <p:nvPr/>
        </p:nvSpPr>
        <p:spPr>
          <a:xfrm>
            <a:off x="3217200" y="5040000"/>
            <a:ext cx="2120000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UAP exposes standardized REST APIs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Processes incoming REST requests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Returns required data to caller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Supports cross-system integration</a:t>
            </a:r>
          </a:p>
        </p:txBody>
      </p:sp>
      <p:sp>
        <p:nvSpPr>
          <p:cNvPr id="122" name="S_cia"/>
          <p:cNvSpPr/>
          <p:nvPr/>
        </p:nvSpPr>
        <p:spPr>
          <a:xfrm>
            <a:off x="5857200" y="950000"/>
            <a:ext cx="2900000" cy="6000000"/>
          </a:xfrm>
          <a:prstGeom prst="roundRect">
            <a:avLst>
              <a:gd name="adj" fmla="val 3000"/>
            </a:avLst>
          </a:prstGeom>
          <a:solidFill>
            <a:srgbClr val="F5E6E8"/>
          </a:solidFill>
          <a:ln w="12700">
            <a:solidFill>
              <a:srgbClr val="262626"/>
            </a:solidFill>
            <a:prstDash val="dash"/>
          </a:ln>
        </p:spPr>
      </p:sp>
      <p:sp>
        <p:nvSpPr>
          <p:cNvPr id="123" name="T_cia_lbl"/>
          <p:cNvSpPr/>
          <p:nvPr/>
        </p:nvSpPr>
        <p:spPr>
          <a:xfrm>
            <a:off x="5957200" y="1000000"/>
            <a:ext cx="2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buNone/>
            </a:pPr>
            <a:r>
              <a:rPr lang="en-US" sz="1000" b="1" i="1" dirty="0">
                <a:solidFill>
                  <a:srgbClr val="A6192E"/>
                </a:solidFill>
                <a:latin typeface="Calibri"/>
              </a:rPr>
              <a:t>CIA (PingOne AIC)</a:t>
            </a:r>
          </a:p>
        </p:txBody>
      </p:sp>
      <p:sp>
        <p:nvSpPr>
          <p:cNvPr id="124" name="S_aic"/>
          <p:cNvSpPr/>
          <p:nvPr/>
        </p:nvSpPr>
        <p:spPr>
          <a:xfrm>
            <a:off x="5957200" y="1230000"/>
            <a:ext cx="2700000" cy="55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25" name="T_aic_name"/>
          <p:cNvSpPr/>
          <p:nvPr/>
        </p:nvSpPr>
        <p:spPr>
          <a:xfrm>
            <a:off x="6057200" y="1430000"/>
            <a:ext cx="2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100" b="1" i="0" dirty="0">
                <a:solidFill>
                  <a:srgbClr val="262626"/>
                </a:solidFill>
                <a:latin typeface="Calibri"/>
              </a:rPr>
              <a:t>PingOne AIC</a:t>
            </a:r>
          </a:p>
        </p:txBody>
      </p:sp>
      <p:sp>
        <p:nvSpPr>
          <p:cNvPr id="126" name="T_aic_body"/>
          <p:cNvSpPr/>
          <p:nvPr/>
        </p:nvSpPr>
        <p:spPr>
          <a:xfrm>
            <a:off x="6057200" y="1730000"/>
            <a:ext cx="2500000" cy="50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Journey &amp; data orchestration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REST call relay to BOB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OneSpan challenge processing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Session management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OIDC-authenticated flows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BOB Reporting journey: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  Trigger REST report request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  Schedule report generation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OneSpan journey: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  Forward challenge to GCP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  Return normalised auth result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DSH journey: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  Authenticate admin from DSH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  Provide direct UAP link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REST API: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  Process incoming REST calls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  Return required data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/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DMO Sync: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  Sync customer / user data</a:t>
            </a:r>
          </a:p>
          <a:p>
            <a:pPr algn="ctr" marL="0" indent="0">
              <a:buNone/>
            </a:pPr>
            <a:r>
              <a:rPr lang="en-US" sz="820" b="0" i="1" dirty="0">
                <a:solidFill>
                  <a:srgbClr val="6B6B6B"/>
                </a:solidFill>
                <a:latin typeface="Calibri"/>
              </a:rPr>
              <a:t>  Enable accurate reporting</a:t>
            </a:r>
          </a:p>
        </p:txBody>
      </p:sp>
      <p:sp>
        <p:nvSpPr>
          <p:cNvPr id="130" name="S_ext"/>
          <p:cNvSpPr/>
          <p:nvPr/>
        </p:nvSpPr>
        <p:spPr>
          <a:xfrm>
            <a:off x="8957200" y="950000"/>
            <a:ext cx="2777600" cy="600000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1" name="T_ext_lbl"/>
          <p:cNvSpPr/>
          <p:nvPr/>
        </p:nvSpPr>
        <p:spPr>
          <a:xfrm>
            <a:off x="9057200" y="1000000"/>
            <a:ext cx="2577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1" dirty="0">
                <a:solidFill>
                  <a:srgbClr val="262626"/>
                </a:solidFill>
                <a:latin typeface="Calibri"/>
              </a:rPr>
              <a:t>Third-Party Systems</a:t>
            </a:r>
          </a:p>
        </p:txBody>
      </p:sp>
      <p:sp>
        <p:nvSpPr>
          <p:cNvPr id="132" name="S_ext0"/>
          <p:cNvSpPr/>
          <p:nvPr/>
        </p:nvSpPr>
        <p:spPr>
          <a:xfrm>
            <a:off x="9057200" y="1400000"/>
            <a:ext cx="2577600" cy="10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3" name="T_ext0_name"/>
          <p:cNvSpPr/>
          <p:nvPr/>
        </p:nvSpPr>
        <p:spPr>
          <a:xfrm>
            <a:off x="9117200" y="168500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BOB</a:t>
            </a:r>
          </a:p>
        </p:txBody>
      </p:sp>
      <p:sp>
        <p:nvSpPr>
          <p:cNvPr id="134" name="T_ext0_body"/>
          <p:cNvSpPr/>
          <p:nvPr/>
        </p:nvSpPr>
        <p:spPr>
          <a:xfrm>
            <a:off x="9117200" y="196500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Report scheduling system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Near-real-time REST intake</a:t>
            </a:r>
          </a:p>
        </p:txBody>
      </p:sp>
      <p:sp>
        <p:nvSpPr>
          <p:cNvPr id="135" name="S_ext1"/>
          <p:cNvSpPr/>
          <p:nvPr/>
        </p:nvSpPr>
        <p:spPr>
          <a:xfrm>
            <a:off x="9057200" y="2510000"/>
            <a:ext cx="2577600" cy="10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6" name="T_ext1_name"/>
          <p:cNvSpPr/>
          <p:nvPr/>
        </p:nvSpPr>
        <p:spPr>
          <a:xfrm>
            <a:off x="9117200" y="279500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DMO</a:t>
            </a:r>
          </a:p>
        </p:txBody>
      </p:sp>
      <p:sp>
        <p:nvSpPr>
          <p:cNvPr id="137" name="T_ext1_body"/>
          <p:cNvSpPr/>
          <p:nvPr/>
        </p:nvSpPr>
        <p:spPr>
          <a:xfrm>
            <a:off x="9117200" y="307500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Reporting data store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Customer / user data sync</a:t>
            </a:r>
          </a:p>
        </p:txBody>
      </p:sp>
      <p:sp>
        <p:nvSpPr>
          <p:cNvPr id="138" name="S_ext2"/>
          <p:cNvSpPr/>
          <p:nvPr/>
        </p:nvSpPr>
        <p:spPr>
          <a:xfrm>
            <a:off x="9057200" y="3620000"/>
            <a:ext cx="2577600" cy="10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39" name="T_ext2_name"/>
          <p:cNvSpPr/>
          <p:nvPr/>
        </p:nvSpPr>
        <p:spPr>
          <a:xfrm>
            <a:off x="9117200" y="390500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OneSpan / GCP</a:t>
            </a:r>
          </a:p>
        </p:txBody>
      </p:sp>
      <p:sp>
        <p:nvSpPr>
          <p:cNvPr id="140" name="T_ext2_body"/>
          <p:cNvSpPr/>
          <p:nvPr/>
        </p:nvSpPr>
        <p:spPr>
          <a:xfrm>
            <a:off x="9117200" y="418500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Challenge validation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Authentication service</a:t>
            </a:r>
          </a:p>
        </p:txBody>
      </p:sp>
      <p:sp>
        <p:nvSpPr>
          <p:cNvPr id="141" name="S_ext3"/>
          <p:cNvSpPr/>
          <p:nvPr/>
        </p:nvSpPr>
        <p:spPr>
          <a:xfrm>
            <a:off x="9057200" y="4730000"/>
            <a:ext cx="2577600" cy="10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2" name="T_ext3_name"/>
          <p:cNvSpPr/>
          <p:nvPr/>
        </p:nvSpPr>
        <p:spPr>
          <a:xfrm>
            <a:off x="9117200" y="501500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DSH Portal</a:t>
            </a:r>
          </a:p>
        </p:txBody>
      </p:sp>
      <p:sp>
        <p:nvSpPr>
          <p:cNvPr id="143" name="T_ext3_body"/>
          <p:cNvSpPr/>
          <p:nvPr/>
        </p:nvSpPr>
        <p:spPr>
          <a:xfrm>
            <a:off x="9117200" y="529500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Digital Services Hub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Admin entry point</a:t>
            </a:r>
          </a:p>
        </p:txBody>
      </p:sp>
      <p:sp>
        <p:nvSpPr>
          <p:cNvPr id="144" name="S_ext4"/>
          <p:cNvSpPr/>
          <p:nvPr/>
        </p:nvSpPr>
        <p:spPr>
          <a:xfrm>
            <a:off x="9057200" y="5840000"/>
            <a:ext cx="2577600" cy="10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5" name="T_ext4_name"/>
          <p:cNvSpPr/>
          <p:nvPr/>
        </p:nvSpPr>
        <p:spPr>
          <a:xfrm>
            <a:off x="9117200" y="6125000"/>
            <a:ext cx="2457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1000" b="1" i="0" dirty="0">
                <a:solidFill>
                  <a:srgbClr val="262626"/>
                </a:solidFill>
                <a:latin typeface="Calibri"/>
              </a:rPr>
              <a:t>SEM Mailbox</a:t>
            </a:r>
          </a:p>
        </p:txBody>
      </p:sp>
      <p:sp>
        <p:nvSpPr>
          <p:cNvPr id="146" name="T_ext4_body"/>
          <p:cNvSpPr/>
          <p:nvPr/>
        </p:nvSpPr>
        <p:spPr>
          <a:xfrm>
            <a:off x="9117200" y="6405000"/>
            <a:ext cx="2457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SMTP / MQ delivery</a:t>
            </a:r>
          </a:p>
          <a:p>
            <a:pPr algn="ctr" marL="0" indent="0">
              <a:buNone/>
            </a:pPr>
            <a:r>
              <a:rPr lang="en-US" sz="850" b="0" i="1" dirty="0">
                <a:solidFill>
                  <a:srgbClr val="6B6B6B"/>
                </a:solidFill>
                <a:latin typeface="Calibri"/>
              </a:rPr>
              <a:t>us.mufg.jp destination</a:t>
            </a:r>
          </a:p>
        </p:txBody>
      </p:sp>
      <p:sp>
        <p:nvSpPr>
          <p:cNvPr id="147" name="D_bob"/>
          <p:cNvSpPr/>
          <p:nvPr/>
        </p:nvSpPr>
        <p:spPr>
          <a:xfrm>
            <a:off x="8757200" y="190500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48" name="TArr148"/>
          <p:cNvSpPr/>
          <p:nvPr/>
        </p:nvSpPr>
        <p:spPr>
          <a:xfrm>
            <a:off x="8787200" y="1745000"/>
            <a:ext cx="14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REST report</a:t>
            </a:r>
          </a:p>
        </p:txBody>
      </p:sp>
      <p:sp>
        <p:nvSpPr>
          <p:cNvPr id="149" name="D_dmo"/>
          <p:cNvSpPr/>
          <p:nvPr/>
        </p:nvSpPr>
        <p:spPr>
          <a:xfrm>
            <a:off x="8757200" y="301500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150" name="TArr150"/>
          <p:cNvSpPr/>
          <p:nvPr/>
        </p:nvSpPr>
        <p:spPr>
          <a:xfrm>
            <a:off x="8787200" y="2855000"/>
            <a:ext cx="14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Data sync</a:t>
            </a:r>
          </a:p>
        </p:txBody>
      </p:sp>
      <p:sp>
        <p:nvSpPr>
          <p:cNvPr id="151" name="D_ospan"/>
          <p:cNvSpPr/>
          <p:nvPr/>
        </p:nvSpPr>
        <p:spPr>
          <a:xfrm>
            <a:off x="8757200" y="412500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2" name="TArr152"/>
          <p:cNvSpPr/>
          <p:nvPr/>
        </p:nvSpPr>
        <p:spPr>
          <a:xfrm>
            <a:off x="8787200" y="3965000"/>
            <a:ext cx="14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Auth request</a:t>
            </a:r>
          </a:p>
        </p:txBody>
      </p:sp>
      <p:sp>
        <p:nvSpPr>
          <p:cNvPr id="153" name="D_dsh"/>
          <p:cNvSpPr/>
          <p:nvPr/>
        </p:nvSpPr>
        <p:spPr>
          <a:xfrm>
            <a:off x="8757200" y="5235000"/>
            <a:ext cx="2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4" name="TArr154"/>
          <p:cNvSpPr/>
          <p:nvPr/>
        </p:nvSpPr>
        <p:spPr>
          <a:xfrm>
            <a:off x="8787200" y="5075000"/>
            <a:ext cx="14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SSO redirect</a:t>
            </a:r>
          </a:p>
        </p:txBody>
      </p:sp>
      <p:sp>
        <p:nvSpPr>
          <p:cNvPr id="155" name="D_uap_cia"/>
          <p:cNvSpPr/>
          <p:nvPr/>
        </p:nvSpPr>
        <p:spPr>
          <a:xfrm>
            <a:off x="5657200" y="4015000"/>
            <a:ext cx="100000" cy="0"/>
          </a:xfrm>
          <a:prstGeom prst="line">
            <a:avLst/>
          </a:prstGeom>
          <a:noFill/>
          <a:ln w="1905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56" name="TArr156"/>
          <p:cNvSpPr/>
          <p:nvPr/>
        </p:nvSpPr>
        <p:spPr>
          <a:xfrm>
            <a:off x="5687200" y="3855000"/>
            <a:ext cx="4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800" b="0" i="1" dirty="0">
                <a:solidFill>
                  <a:srgbClr val="6B6B6B"/>
                </a:solidFill>
                <a:latin typeface="Calibri"/>
              </a:rPr>
              <a:t>journey calls</a:t>
            </a:r>
          </a:p>
        </p:txBody>
      </p:sp>
      <p:sp>
        <p:nvSpPr>
          <p:cNvPr id="157" name="T_legend"/>
          <p:cNvSpPr/>
          <p:nvPr/>
        </p:nvSpPr>
        <p:spPr>
          <a:xfrm>
            <a:off x="457200" y="7050000"/>
            <a:ext cx="113686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buNone/>
            </a:pP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Black border = Internal  ·  Grey fill = External  ·  Black arrow = request/call  ·  Dashed arrow = async/sync  ·  Dashed zone = platform boundary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