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72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993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2E"/>
        </a:solidFill>
        <a:effectLst/>
      </p:bgPr>
    </p:bg>
    <p:spTree>
      <p:nvGrpSpPr>
        <p:cNvPr id="1" name=""/>
        <p:cNvGrpSpPr/>
        <p:nvPr/>
      </p:nvGrpSpPr>
      <p:grpSpPr>
        <a:xfrm>
          <a:off x="0" y="0"/>
          <a:ext cx="0" cy="0"/>
          <a:chOff x="0" y="0"/>
          <a:chExt cx="0" cy="0"/>
        </a:xfrm>
      </p:grpSpPr>
      <p:sp>
        <p:nvSpPr>
          <p:cNvPr id="2" name="Text 0"/>
          <p:cNvSpPr txBox="1"/>
          <p:nvPr/>
        </p:nvSpPr>
        <p:spPr>
          <a:xfrm>
            <a:off x="548640" y="1737360"/>
            <a:ext cx="11091672" cy="73152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Oracle Data Migration to Ping AIC</a:t>
            </a:r>
            <a:endParaRPr lang="en-US" sz="3600" dirty="0"/>
          </a:p>
        </p:txBody>
      </p:sp>
      <p:sp>
        <p:nvSpPr>
          <p:cNvPr id="3" name="Text 1"/>
          <p:cNvSpPr txBox="1"/>
          <p:nvPr/>
        </p:nvSpPr>
        <p:spPr>
          <a:xfrm>
            <a:off x="548640" y="2523744"/>
            <a:ext cx="11091672" cy="329184"/>
          </a:xfrm>
          <a:prstGeom prst="rect">
            <a:avLst/>
          </a:prstGeom>
          <a:noFill/>
          <a:ln/>
        </p:spPr>
        <p:txBody>
          <a:bodyPr wrap="square" rtlCol="0" anchor="ctr"/>
          <a:lstStyle/>
          <a:p>
            <a:pPr marL="0" indent="0" algn="l">
              <a:buNone/>
            </a:pPr>
            <a:r>
              <a:rPr lang="en-US" sz="1600" dirty="0">
                <a:solidFill>
                  <a:srgbClr val="C8C8C8"/>
                </a:solidFill>
                <a:latin typeface="Calibri" pitchFamily="34" charset="0"/>
                <a:ea typeface="Calibri" pitchFamily="34" charset="-122"/>
                <a:cs typeface="Calibri" pitchFamily="34" charset="-120"/>
              </a:rPr>
              <a:t>Objective, Implementation Options, and Comparative Assessment</a:t>
            </a:r>
            <a:endParaRPr lang="en-US" sz="1600" dirty="0"/>
          </a:p>
        </p:txBody>
      </p:sp>
      <p:sp>
        <p:nvSpPr>
          <p:cNvPr id="4" name="Shape 2"/>
          <p:cNvSpPr/>
          <p:nvPr/>
        </p:nvSpPr>
        <p:spPr>
          <a:xfrm>
            <a:off x="548640" y="2944368"/>
            <a:ext cx="2560320" cy="54864"/>
          </a:xfrm>
          <a:prstGeom prst="rect">
            <a:avLst/>
          </a:prstGeom>
          <a:solidFill>
            <a:srgbClr val="A6192E"/>
          </a:solidFill>
          <a:ln w="12700">
            <a:solidFill>
              <a:srgbClr val="A6192E"/>
            </a:solidFill>
            <a:prstDash val="solid"/>
          </a:ln>
        </p:spPr>
      </p:sp>
      <p:sp>
        <p:nvSpPr>
          <p:cNvPr id="5" name="Text 3"/>
          <p:cNvSpPr txBox="1"/>
          <p:nvPr/>
        </p:nvSpPr>
        <p:spPr>
          <a:xfrm>
            <a:off x="548640" y="3108960"/>
            <a:ext cx="7315200" cy="237744"/>
          </a:xfrm>
          <a:prstGeom prst="rect">
            <a:avLst/>
          </a:prstGeom>
          <a:noFill/>
          <a:ln/>
        </p:spPr>
        <p:txBody>
          <a:bodyPr wrap="square" rtlCol="0" anchor="ctr"/>
          <a:lstStyle/>
          <a:p>
            <a:pPr marL="0" indent="0" algn="l">
              <a:buNone/>
            </a:pPr>
            <a:r>
              <a:rPr lang="en-US" sz="1150" dirty="0">
                <a:solidFill>
                  <a:srgbClr val="C8C8C8"/>
                </a:solidFill>
                <a:latin typeface="Calibri" pitchFamily="34" charset="0"/>
                <a:ea typeface="Calibri" pitchFamily="34" charset="-122"/>
                <a:cs typeface="Calibri" pitchFamily="34" charset="-120"/>
              </a:rPr>
              <a:t>MUFG / Ping AIC Engagement</a:t>
            </a:r>
            <a:endParaRPr lang="en-US" sz="1150" dirty="0"/>
          </a:p>
        </p:txBody>
      </p:sp>
      <p:sp>
        <p:nvSpPr>
          <p:cNvPr id="6" name="Text 4"/>
          <p:cNvSpPr txBox="1"/>
          <p:nvPr/>
        </p:nvSpPr>
        <p:spPr>
          <a:xfrm>
            <a:off x="548640" y="3364992"/>
            <a:ext cx="3657600" cy="201168"/>
          </a:xfrm>
          <a:prstGeom prst="rect">
            <a:avLst/>
          </a:prstGeom>
          <a:noFill/>
          <a:ln/>
        </p:spPr>
        <p:txBody>
          <a:bodyPr wrap="square" rtlCol="0" anchor="ctr"/>
          <a:lstStyle/>
          <a:p>
            <a:pPr marL="0" indent="0" algn="l">
              <a:buNone/>
            </a:pPr>
            <a:r>
              <a:rPr lang="en-US" sz="1050" i="1" dirty="0">
                <a:solidFill>
                  <a:srgbClr val="C8C8C8"/>
                </a:solidFill>
                <a:latin typeface="Calibri" pitchFamily="34" charset="0"/>
                <a:ea typeface="Calibri" pitchFamily="34" charset="-122"/>
                <a:cs typeface="Calibri" pitchFamily="34" charset="-120"/>
              </a:rPr>
              <a:t>October 2026</a:t>
            </a:r>
            <a:endParaRPr lang="en-US" sz="1050" dirty="0"/>
          </a:p>
        </p:txBody>
      </p:sp>
      <p:sp>
        <p:nvSpPr>
          <p:cNvPr id="7" name="Shape 5"/>
          <p:cNvSpPr/>
          <p:nvPr/>
        </p:nvSpPr>
        <p:spPr>
          <a:xfrm>
            <a:off x="9601200" y="6327648"/>
            <a:ext cx="2221992" cy="237744"/>
          </a:xfrm>
          <a:prstGeom prst="rect">
            <a:avLst/>
          </a:prstGeom>
          <a:solidFill>
            <a:srgbClr val="A6192E"/>
          </a:solidFill>
          <a:ln w="12700">
            <a:solidFill>
              <a:srgbClr val="A6192E"/>
            </a:solidFill>
            <a:prstDash val="solid"/>
          </a:ln>
        </p:spPr>
      </p:sp>
      <p:sp>
        <p:nvSpPr>
          <p:cNvPr id="8" name="Text 6"/>
          <p:cNvSpPr txBox="1"/>
          <p:nvPr/>
        </p:nvSpPr>
        <p:spPr>
          <a:xfrm>
            <a:off x="9601200" y="6327648"/>
            <a:ext cx="2221992"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CONFIDENTIAL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29184" y="91440"/>
            <a:ext cx="11521440" cy="438912"/>
          </a:xfrm>
          <a:prstGeom prst="rect">
            <a:avLst/>
          </a:prstGeom>
          <a:noFill/>
          <a:ln/>
        </p:spPr>
        <p:txBody>
          <a:bodyPr wrap="square" rtlCol="0" anchor="ctr"/>
          <a:lstStyle/>
          <a:p>
            <a:pPr marL="0" indent="0" algn="l">
              <a:buNone/>
            </a:pPr>
            <a:r>
              <a:rPr lang="en-US" sz="2400" b="1" dirty="0">
                <a:solidFill>
                  <a:srgbClr val="7A1322"/>
                </a:solidFill>
                <a:latin typeface="Calibri" pitchFamily="34" charset="0"/>
                <a:ea typeface="Calibri" pitchFamily="34" charset="-122"/>
                <a:cs typeface="Calibri" pitchFamily="34" charset="-120"/>
              </a:rPr>
              <a:t>1. What We Are Going to Achieve</a:t>
            </a:r>
            <a:endParaRPr lang="en-US" sz="2400" dirty="0"/>
          </a:p>
        </p:txBody>
      </p:sp>
      <p:sp>
        <p:nvSpPr>
          <p:cNvPr id="3" name="Text 1"/>
          <p:cNvSpPr txBox="1"/>
          <p:nvPr/>
        </p:nvSpPr>
        <p:spPr>
          <a:xfrm>
            <a:off x="329184" y="512064"/>
            <a:ext cx="11521440" cy="201168"/>
          </a:xfrm>
          <a:prstGeom prst="rect">
            <a:avLst/>
          </a:prstGeom>
          <a:noFill/>
          <a:ln/>
        </p:spPr>
        <p:txBody>
          <a:bodyPr wrap="square" rtlCol="0" anchor="ctr"/>
          <a:lstStyle/>
          <a:p>
            <a:pPr marL="0" indent="0" algn="l">
              <a:buNone/>
            </a:pPr>
            <a:r>
              <a:rPr lang="en-US" sz="1000" i="1" dirty="0">
                <a:solidFill>
                  <a:srgbClr val="6B6B6B"/>
                </a:solidFill>
                <a:latin typeface="Calibri" pitchFamily="34" charset="0"/>
                <a:ea typeface="Calibri" pitchFamily="34" charset="-122"/>
                <a:cs typeface="Calibri" pitchFamily="34" charset="-120"/>
              </a:rPr>
              <a:t>Migrate Oracle-based identity data into Ping AIC with controlled coexistence and agreed cutover conditions</a:t>
            </a:r>
            <a:endParaRPr lang="en-US" sz="1000" dirty="0"/>
          </a:p>
        </p:txBody>
      </p:sp>
      <p:sp>
        <p:nvSpPr>
          <p:cNvPr id="4" name="Shape 2"/>
          <p:cNvSpPr/>
          <p:nvPr/>
        </p:nvSpPr>
        <p:spPr>
          <a:xfrm>
            <a:off x="329184" y="786384"/>
            <a:ext cx="11521440" cy="475488"/>
          </a:xfrm>
          <a:prstGeom prst="rect">
            <a:avLst/>
          </a:prstGeom>
          <a:solidFill>
            <a:srgbClr val="F4F4F4"/>
          </a:solidFill>
          <a:ln w="10160">
            <a:solidFill>
              <a:srgbClr val="C8C8C8"/>
            </a:solidFill>
            <a:prstDash val="solid"/>
          </a:ln>
        </p:spPr>
      </p:sp>
      <p:sp>
        <p:nvSpPr>
          <p:cNvPr id="5" name="Text 3"/>
          <p:cNvSpPr txBox="1"/>
          <p:nvPr/>
        </p:nvSpPr>
        <p:spPr>
          <a:xfrm>
            <a:off x="457200" y="804672"/>
            <a:ext cx="11301984" cy="438912"/>
          </a:xfrm>
          <a:prstGeom prst="rect">
            <a:avLst/>
          </a:prstGeom>
          <a:noFill/>
          <a:ln/>
        </p:spPr>
        <p:txBody>
          <a:bodyPr wrap="square" rtlCol="0" anchor="ctr"/>
          <a:lstStyle/>
          <a:p>
            <a:pPr marL="0" indent="0">
              <a:buNone/>
            </a:pPr>
            <a:r>
              <a:rPr lang="en-US" sz="950" b="1" dirty="0">
                <a:solidFill>
                  <a:srgbClr val="1A1A1A"/>
                </a:solidFill>
                <a:latin typeface="Calibri" pitchFamily="34" charset="0"/>
                <a:ea typeface="Calibri" pitchFamily="34" charset="-122"/>
                <a:cs typeface="Calibri" pitchFamily="34" charset="-120"/>
              </a:rPr>
              <a:t>Document purpose:  </a:t>
            </a:r>
            <a:r>
              <a:rPr lang="en-US" sz="950" dirty="0">
                <a:solidFill>
                  <a:srgbClr val="1A1A1A"/>
                </a:solidFill>
                <a:latin typeface="Calibri" pitchFamily="34" charset="0"/>
                <a:ea typeface="Calibri" pitchFamily="34" charset="-122"/>
                <a:cs typeface="Calibri" pitchFamily="34" charset="-120"/>
              </a:rPr>
              <a:t>Describe the intended outcome, available implementation options, and key considerations so MUFG and Ping AIC team can agree on the preferred design.</a:t>
            </a:r>
            <a:endParaRPr lang="en-US" sz="950" dirty="0"/>
          </a:p>
        </p:txBody>
      </p:sp>
      <p:sp>
        <p:nvSpPr>
          <p:cNvPr id="6" name="Text 4"/>
          <p:cNvSpPr txBox="1"/>
          <p:nvPr/>
        </p:nvSpPr>
        <p:spPr>
          <a:xfrm>
            <a:off x="329184" y="1335024"/>
            <a:ext cx="7315200" cy="237744"/>
          </a:xfrm>
          <a:prstGeom prst="rect">
            <a:avLst/>
          </a:prstGeom>
          <a:noFill/>
          <a:ln/>
        </p:spPr>
        <p:txBody>
          <a:bodyPr wrap="square" rtlCol="0" anchor="ctr"/>
          <a:lstStyle/>
          <a:p>
            <a:pPr marL="0" indent="0">
              <a:buNone/>
            </a:pPr>
            <a:r>
              <a:rPr lang="en-US" sz="1150" b="1" dirty="0">
                <a:solidFill>
                  <a:srgbClr val="7A1322"/>
                </a:solidFill>
                <a:latin typeface="Calibri" pitchFamily="34" charset="0"/>
                <a:ea typeface="Calibri" pitchFamily="34" charset="-122"/>
                <a:cs typeface="Calibri" pitchFamily="34" charset="-120"/>
              </a:rPr>
              <a:t>Migration Objectives</a:t>
            </a:r>
            <a:endParaRPr lang="en-US" sz="1150" dirty="0"/>
          </a:p>
        </p:txBody>
      </p:sp>
      <p:sp>
        <p:nvSpPr>
          <p:cNvPr id="7" name="Text 5"/>
          <p:cNvSpPr txBox="1"/>
          <p:nvPr/>
        </p:nvSpPr>
        <p:spPr>
          <a:xfrm>
            <a:off x="329184" y="1609344"/>
            <a:ext cx="5669280" cy="1188720"/>
          </a:xfrm>
          <a:prstGeom prst="rect">
            <a:avLst/>
          </a:prstGeom>
          <a:noFill/>
          <a:ln/>
        </p:spPr>
        <p:txBody>
          <a:bodyPr wrap="square" lIns="25400" tIns="25400" rIns="25400" bIns="25400" rtlCol="0" anchor="t"/>
          <a:lstStyle/>
          <a:p>
            <a:pPr>
              <a:spcAft>
                <a:spcPts val="400"/>
              </a:spcAft>
            </a:pPr>
            <a:r>
              <a:rPr lang="en-US" sz="1000" dirty="0">
                <a:solidFill>
                  <a:srgbClr val="1A1A1A"/>
                </a:solidFill>
                <a:latin typeface="Calibri" pitchFamily="34" charset="0"/>
                <a:ea typeface="Calibri" pitchFamily="34" charset="-122"/>
                <a:cs typeface="Calibri" pitchFamily="34" charset="-120"/>
              </a:rPr>
              <a:t>Migrate users, applications, organizations, and relationship data from Oracle to Ping AIC.</a:t>
            </a:r>
            <a:endParaRPr lang="en-US" sz="1000" dirty="0"/>
          </a:p>
          <a:p>
            <a:pPr>
              <a:spcAft>
                <a:spcPts val="400"/>
              </a:spcAft>
            </a:pPr>
            <a:r>
              <a:rPr lang="en-US" sz="1000" dirty="0">
                <a:solidFill>
                  <a:srgbClr val="1A1A1A"/>
                </a:solidFill>
                <a:latin typeface="Calibri" pitchFamily="34" charset="0"/>
                <a:ea typeface="Calibri" pitchFamily="34" charset="-122"/>
                <a:cs typeface="Calibri" pitchFamily="34" charset="-120"/>
              </a:rPr>
              <a:t>Support bulk processing of large source data volume through a custom SQL connector.</a:t>
            </a:r>
            <a:endParaRPr lang="en-US" sz="1000" dirty="0"/>
          </a:p>
          <a:p>
            <a:pPr>
              <a:spcAft>
                <a:spcPts val="400"/>
              </a:spcAft>
            </a:pPr>
            <a:r>
              <a:rPr lang="en-US" sz="1000" dirty="0">
                <a:solidFill>
                  <a:srgbClr val="1A1A1A"/>
                </a:solidFill>
                <a:latin typeface="Calibri" pitchFamily="34" charset="0"/>
                <a:ea typeface="Calibri" pitchFamily="34" charset="-122"/>
                <a:cs typeface="Calibri" pitchFamily="34" charset="-120"/>
              </a:rPr>
              <a:t>Apply transformation, mapping, and reconciliation logic before creating or updating Ping AIC objects.</a:t>
            </a:r>
            <a:endParaRPr lang="en-US" sz="1000" dirty="0"/>
          </a:p>
        </p:txBody>
      </p:sp>
      <p:sp>
        <p:nvSpPr>
          <p:cNvPr id="8" name="Text 6"/>
          <p:cNvSpPr txBox="1"/>
          <p:nvPr/>
        </p:nvSpPr>
        <p:spPr>
          <a:xfrm>
            <a:off x="6181344" y="1609344"/>
            <a:ext cx="5669280" cy="1188720"/>
          </a:xfrm>
          <a:prstGeom prst="rect">
            <a:avLst/>
          </a:prstGeom>
          <a:noFill/>
          <a:ln/>
        </p:spPr>
        <p:txBody>
          <a:bodyPr wrap="square" lIns="25400" tIns="25400" rIns="25400" bIns="25400" rtlCol="0" anchor="t"/>
          <a:lstStyle/>
          <a:p>
            <a:pPr>
              <a:spcAft>
                <a:spcPts val="400"/>
              </a:spcAft>
            </a:pPr>
            <a:r>
              <a:rPr lang="en-US" sz="1000" dirty="0">
                <a:solidFill>
                  <a:srgbClr val="1A1A1A"/>
                </a:solidFill>
                <a:latin typeface="Calibri" pitchFamily="34" charset="0"/>
                <a:ea typeface="Calibri" pitchFamily="34" charset="-122"/>
                <a:cs typeface="Calibri" pitchFamily="34" charset="-120"/>
              </a:rPr>
              <a:t>Provide repeatable processing with batching, error handling, restart, and reconciliation evidence.</a:t>
            </a:r>
            <a:endParaRPr lang="en-US" sz="1000" dirty="0"/>
          </a:p>
          <a:p>
            <a:pPr>
              <a:spcAft>
                <a:spcPts val="400"/>
              </a:spcAft>
            </a:pPr>
            <a:r>
              <a:rPr lang="en-US" sz="1000" dirty="0">
                <a:solidFill>
                  <a:srgbClr val="1A1A1A"/>
                </a:solidFill>
                <a:latin typeface="Calibri" pitchFamily="34" charset="0"/>
                <a:ea typeface="Calibri" pitchFamily="34" charset="-122"/>
                <a:cs typeface="Calibri" pitchFamily="34" charset="-120"/>
              </a:rPr>
              <a:t>Complete the coexistence period and establish Ping AIC as the approved target platform.</a:t>
            </a:r>
            <a:endParaRPr lang="en-US" sz="1000" dirty="0"/>
          </a:p>
          <a:p>
            <a:pPr>
              <a:spcAft>
                <a:spcPts val="400"/>
              </a:spcAft>
            </a:pPr>
            <a:r>
              <a:rPr lang="en-US" sz="1000" dirty="0">
                <a:solidFill>
                  <a:srgbClr val="1A1A1A"/>
                </a:solidFill>
                <a:latin typeface="Calibri" pitchFamily="34" charset="0"/>
                <a:ea typeface="Calibri" pitchFamily="34" charset="-122"/>
                <a:cs typeface="Calibri" pitchFamily="34" charset="-120"/>
              </a:rPr>
              <a:t>Retain agreed continuity, backup, export, retention, and future exit controls.</a:t>
            </a:r>
            <a:endParaRPr lang="en-US" sz="1000" dirty="0"/>
          </a:p>
        </p:txBody>
      </p:sp>
      <p:sp>
        <p:nvSpPr>
          <p:cNvPr id="9" name="Shape 7"/>
          <p:cNvSpPr/>
          <p:nvPr/>
        </p:nvSpPr>
        <p:spPr>
          <a:xfrm>
            <a:off x="329184" y="2871216"/>
            <a:ext cx="11521440" cy="676656"/>
          </a:xfrm>
          <a:prstGeom prst="rect">
            <a:avLst/>
          </a:prstGeom>
          <a:solidFill>
            <a:srgbClr val="FFF0F0"/>
          </a:solidFill>
          <a:ln w="12700">
            <a:solidFill>
              <a:srgbClr val="A6192E"/>
            </a:solidFill>
            <a:prstDash val="solid"/>
          </a:ln>
        </p:spPr>
      </p:sp>
      <p:sp>
        <p:nvSpPr>
          <p:cNvPr id="10" name="Text 8"/>
          <p:cNvSpPr txBox="1"/>
          <p:nvPr/>
        </p:nvSpPr>
        <p:spPr>
          <a:xfrm>
            <a:off x="475488" y="2907792"/>
            <a:ext cx="11283696" cy="603504"/>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Success Outcome:  </a:t>
            </a:r>
            <a:r>
              <a:rPr lang="en-US" sz="1000" dirty="0">
                <a:solidFill>
                  <a:srgbClr val="1A1A1A"/>
                </a:solidFill>
                <a:latin typeface="Calibri" pitchFamily="34" charset="0"/>
                <a:ea typeface="Calibri" pitchFamily="34" charset="-122"/>
                <a:cs typeface="Calibri" pitchFamily="34" charset="-120"/>
              </a:rPr>
              <a:t>The migration completes accurately and within agreed performance limits. Relationships are preserved, exceptions are traceable, and temporary coexistence components can be removed after approved cutover.</a:t>
            </a:r>
            <a:endParaRPr lang="en-US" sz="1000" dirty="0"/>
          </a:p>
        </p:txBody>
      </p:sp>
      <p:sp>
        <p:nvSpPr>
          <p:cNvPr id="11" name="Shape 9"/>
          <p:cNvSpPr/>
          <p:nvPr/>
        </p:nvSpPr>
        <p:spPr>
          <a:xfrm>
            <a:off x="329184" y="3657600"/>
            <a:ext cx="11521440" cy="2249424"/>
          </a:xfrm>
          <a:prstGeom prst="rect">
            <a:avLst/>
          </a:prstGeom>
          <a:solidFill>
            <a:srgbClr val="F4F4F4"/>
          </a:solidFill>
          <a:ln w="10160">
            <a:solidFill>
              <a:srgbClr val="C8C8C8"/>
            </a:solidFill>
            <a:prstDash val="solid"/>
          </a:ln>
        </p:spPr>
      </p:sp>
      <p:sp>
        <p:nvSpPr>
          <p:cNvPr id="12" name="Text 10"/>
          <p:cNvSpPr txBox="1"/>
          <p:nvPr/>
        </p:nvSpPr>
        <p:spPr>
          <a:xfrm>
            <a:off x="475488" y="3712464"/>
            <a:ext cx="5486400" cy="256032"/>
          </a:xfrm>
          <a:prstGeom prst="rect">
            <a:avLst/>
          </a:prstGeom>
          <a:noFill/>
          <a:ln/>
        </p:spPr>
        <p:txBody>
          <a:bodyPr wrap="square" rtlCol="0" anchor="ctr"/>
          <a:lstStyle/>
          <a:p>
            <a:pPr marL="0" indent="0">
              <a:buNone/>
            </a:pPr>
            <a:r>
              <a:rPr lang="en-US" sz="1100" b="1" dirty="0">
                <a:solidFill>
                  <a:srgbClr val="7A1322"/>
                </a:solidFill>
                <a:latin typeface="Calibri" pitchFamily="34" charset="0"/>
                <a:ea typeface="Calibri" pitchFamily="34" charset="-122"/>
                <a:cs typeface="Calibri" pitchFamily="34" charset="-120"/>
              </a:rPr>
              <a:t>Key Constraints &amp; Design Principles</a:t>
            </a:r>
            <a:endParaRPr lang="en-US" sz="1100" dirty="0"/>
          </a:p>
        </p:txBody>
      </p:sp>
      <p:sp>
        <p:nvSpPr>
          <p:cNvPr id="13" name="Shape 11"/>
          <p:cNvSpPr/>
          <p:nvPr/>
        </p:nvSpPr>
        <p:spPr>
          <a:xfrm>
            <a:off x="420624" y="4023360"/>
            <a:ext cx="2761488" cy="1755648"/>
          </a:xfrm>
          <a:prstGeom prst="rect">
            <a:avLst/>
          </a:prstGeom>
          <a:solidFill>
            <a:srgbClr val="FFFFFF"/>
          </a:solidFill>
          <a:ln w="6350">
            <a:solidFill>
              <a:srgbClr val="C8C8C8"/>
            </a:solidFill>
            <a:prstDash val="solid"/>
          </a:ln>
        </p:spPr>
      </p:sp>
      <p:sp>
        <p:nvSpPr>
          <p:cNvPr id="14" name="Text 12"/>
          <p:cNvSpPr txBox="1"/>
          <p:nvPr/>
        </p:nvSpPr>
        <p:spPr>
          <a:xfrm>
            <a:off x="475488" y="4078224"/>
            <a:ext cx="2651760" cy="256032"/>
          </a:xfrm>
          <a:prstGeom prst="rect">
            <a:avLst/>
          </a:prstGeom>
          <a:noFill/>
          <a:ln/>
        </p:spPr>
        <p:txBody>
          <a:bodyPr wrap="square" rtlCol="0" anchor="ctr"/>
          <a:lstStyle/>
          <a:p>
            <a:pPr marL="0" indent="0">
              <a:buNone/>
            </a:pPr>
            <a:r>
              <a:rPr lang="en-US" sz="950" b="1" dirty="0">
                <a:solidFill>
                  <a:srgbClr val="7A1322"/>
                </a:solidFill>
                <a:latin typeface="Calibri" pitchFamily="34" charset="0"/>
                <a:ea typeface="Calibri" pitchFamily="34" charset="-122"/>
                <a:cs typeface="Calibri" pitchFamily="34" charset="-120"/>
              </a:rPr>
              <a:t>Bulk-first design</a:t>
            </a:r>
            <a:endParaRPr lang="en-US" sz="950" dirty="0"/>
          </a:p>
        </p:txBody>
      </p:sp>
      <p:sp>
        <p:nvSpPr>
          <p:cNvPr id="15" name="Text 13"/>
          <p:cNvSpPr txBox="1"/>
          <p:nvPr/>
        </p:nvSpPr>
        <p:spPr>
          <a:xfrm>
            <a:off x="475488" y="4370832"/>
            <a:ext cx="2651760" cy="1335024"/>
          </a:xfrm>
          <a:prstGeom prst="rect">
            <a:avLst/>
          </a:prstGeom>
          <a:noFill/>
          <a:ln/>
        </p:spPr>
        <p:txBody>
          <a:bodyPr wrap="square" rtlCol="0" anchor="ctr"/>
          <a:lstStyle/>
          <a:p>
            <a:pPr marL="0" indent="0">
              <a:buNone/>
            </a:pPr>
            <a:r>
              <a:rPr lang="en-US" sz="900" dirty="0">
                <a:solidFill>
                  <a:srgbClr val="1A1A1A"/>
                </a:solidFill>
                <a:latin typeface="Calibri" pitchFamily="34" charset="0"/>
                <a:ea typeface="Calibri" pitchFamily="34" charset="-122"/>
                <a:cs typeface="Calibri" pitchFamily="34" charset="-120"/>
              </a:rPr>
              <a:t>All migration processing must be batch-oriented — no record-by-record API loops.</a:t>
            </a:r>
            <a:endParaRPr lang="en-US" sz="900" dirty="0"/>
          </a:p>
        </p:txBody>
      </p:sp>
      <p:sp>
        <p:nvSpPr>
          <p:cNvPr id="16" name="Shape 14"/>
          <p:cNvSpPr/>
          <p:nvPr/>
        </p:nvSpPr>
        <p:spPr>
          <a:xfrm>
            <a:off x="3200400" y="4023360"/>
            <a:ext cx="2761488" cy="1755648"/>
          </a:xfrm>
          <a:prstGeom prst="rect">
            <a:avLst/>
          </a:prstGeom>
          <a:solidFill>
            <a:srgbClr val="FFFFFF"/>
          </a:solidFill>
          <a:ln w="6350">
            <a:solidFill>
              <a:srgbClr val="C8C8C8"/>
            </a:solidFill>
            <a:prstDash val="solid"/>
          </a:ln>
        </p:spPr>
      </p:sp>
      <p:sp>
        <p:nvSpPr>
          <p:cNvPr id="17" name="Text 15"/>
          <p:cNvSpPr txBox="1"/>
          <p:nvPr/>
        </p:nvSpPr>
        <p:spPr>
          <a:xfrm>
            <a:off x="3255264" y="4078224"/>
            <a:ext cx="2651760" cy="256032"/>
          </a:xfrm>
          <a:prstGeom prst="rect">
            <a:avLst/>
          </a:prstGeom>
          <a:noFill/>
          <a:ln/>
        </p:spPr>
        <p:txBody>
          <a:bodyPr wrap="square" rtlCol="0" anchor="ctr"/>
          <a:lstStyle/>
          <a:p>
            <a:pPr marL="0" indent="0">
              <a:buNone/>
            </a:pPr>
            <a:r>
              <a:rPr lang="en-US" sz="950" b="1" dirty="0">
                <a:solidFill>
                  <a:srgbClr val="7A1322"/>
                </a:solidFill>
                <a:latin typeface="Calibri" pitchFamily="34" charset="0"/>
                <a:ea typeface="Calibri" pitchFamily="34" charset="-122"/>
                <a:cs typeface="Calibri" pitchFamily="34" charset="-120"/>
              </a:rPr>
              <a:t>Shared transformation ownership</a:t>
            </a:r>
            <a:endParaRPr lang="en-US" sz="950" dirty="0"/>
          </a:p>
        </p:txBody>
      </p:sp>
      <p:sp>
        <p:nvSpPr>
          <p:cNvPr id="18" name="Text 16"/>
          <p:cNvSpPr txBox="1"/>
          <p:nvPr/>
        </p:nvSpPr>
        <p:spPr>
          <a:xfrm>
            <a:off x="3255264" y="4370832"/>
            <a:ext cx="2651760" cy="1335024"/>
          </a:xfrm>
          <a:prstGeom prst="rect">
            <a:avLst/>
          </a:prstGeom>
          <a:noFill/>
          <a:ln/>
        </p:spPr>
        <p:txBody>
          <a:bodyPr wrap="square" rtlCol="0" anchor="ctr"/>
          <a:lstStyle/>
          <a:p>
            <a:pPr marL="0" indent="0">
              <a:buNone/>
            </a:pPr>
            <a:r>
              <a:rPr lang="en-US" sz="900" dirty="0">
                <a:solidFill>
                  <a:srgbClr val="1A1A1A"/>
                </a:solidFill>
                <a:latin typeface="Calibri" pitchFamily="34" charset="0"/>
                <a:ea typeface="Calibri" pitchFamily="34" charset="-122"/>
                <a:cs typeface="Calibri" pitchFamily="34" charset="-120"/>
              </a:rPr>
              <a:t>Transformation logic is split between Oracle (joins/shaping) and Ping AIC (mapping/reconciliation) in both options.</a:t>
            </a:r>
            <a:endParaRPr lang="en-US" sz="900" dirty="0"/>
          </a:p>
        </p:txBody>
      </p:sp>
      <p:sp>
        <p:nvSpPr>
          <p:cNvPr id="19" name="Shape 17"/>
          <p:cNvSpPr/>
          <p:nvPr/>
        </p:nvSpPr>
        <p:spPr>
          <a:xfrm>
            <a:off x="5980176" y="4023360"/>
            <a:ext cx="2761488" cy="1755648"/>
          </a:xfrm>
          <a:prstGeom prst="rect">
            <a:avLst/>
          </a:prstGeom>
          <a:solidFill>
            <a:srgbClr val="FFFFFF"/>
          </a:solidFill>
          <a:ln w="6350">
            <a:solidFill>
              <a:srgbClr val="C8C8C8"/>
            </a:solidFill>
            <a:prstDash val="solid"/>
          </a:ln>
        </p:spPr>
      </p:sp>
      <p:sp>
        <p:nvSpPr>
          <p:cNvPr id="20" name="Text 18"/>
          <p:cNvSpPr txBox="1"/>
          <p:nvPr/>
        </p:nvSpPr>
        <p:spPr>
          <a:xfrm>
            <a:off x="6035040" y="4078224"/>
            <a:ext cx="2651760" cy="256032"/>
          </a:xfrm>
          <a:prstGeom prst="rect">
            <a:avLst/>
          </a:prstGeom>
          <a:noFill/>
          <a:ln/>
        </p:spPr>
        <p:txBody>
          <a:bodyPr wrap="square" rtlCol="0" anchor="ctr"/>
          <a:lstStyle/>
          <a:p>
            <a:pPr marL="0" indent="0">
              <a:buNone/>
            </a:pPr>
            <a:r>
              <a:rPr lang="en-US" sz="950" b="1" dirty="0">
                <a:solidFill>
                  <a:srgbClr val="7A1322"/>
                </a:solidFill>
                <a:latin typeface="Calibri" pitchFamily="34" charset="0"/>
                <a:ea typeface="Calibri" pitchFamily="34" charset="-122"/>
                <a:cs typeface="Calibri" pitchFamily="34" charset="-120"/>
              </a:rPr>
              <a:t>Reversibility</a:t>
            </a:r>
            <a:endParaRPr lang="en-US" sz="950" dirty="0"/>
          </a:p>
        </p:txBody>
      </p:sp>
      <p:sp>
        <p:nvSpPr>
          <p:cNvPr id="21" name="Text 19"/>
          <p:cNvSpPr txBox="1"/>
          <p:nvPr/>
        </p:nvSpPr>
        <p:spPr>
          <a:xfrm>
            <a:off x="6035040" y="4370832"/>
            <a:ext cx="2651760" cy="1335024"/>
          </a:xfrm>
          <a:prstGeom prst="rect">
            <a:avLst/>
          </a:prstGeom>
          <a:noFill/>
          <a:ln/>
        </p:spPr>
        <p:txBody>
          <a:bodyPr wrap="square" rtlCol="0" anchor="ctr"/>
          <a:lstStyle/>
          <a:p>
            <a:pPr marL="0" indent="0">
              <a:buNone/>
            </a:pPr>
            <a:r>
              <a:rPr lang="en-US" sz="900" dirty="0">
                <a:solidFill>
                  <a:srgbClr val="1A1A1A"/>
                </a:solidFill>
                <a:latin typeface="Calibri" pitchFamily="34" charset="0"/>
                <a:ea typeface="Calibri" pitchFamily="34" charset="-122"/>
                <a:cs typeface="Calibri" pitchFamily="34" charset="-120"/>
              </a:rPr>
              <a:t>Batches must be restartable; rejected records must be replayable without full re-run.</a:t>
            </a:r>
            <a:endParaRPr lang="en-US" sz="900" dirty="0"/>
          </a:p>
        </p:txBody>
      </p:sp>
      <p:sp>
        <p:nvSpPr>
          <p:cNvPr id="22" name="Shape 20"/>
          <p:cNvSpPr/>
          <p:nvPr/>
        </p:nvSpPr>
        <p:spPr>
          <a:xfrm>
            <a:off x="8759952" y="4023360"/>
            <a:ext cx="2761488" cy="1755648"/>
          </a:xfrm>
          <a:prstGeom prst="rect">
            <a:avLst/>
          </a:prstGeom>
          <a:solidFill>
            <a:srgbClr val="FFFFFF"/>
          </a:solidFill>
          <a:ln w="6350">
            <a:solidFill>
              <a:srgbClr val="C8C8C8"/>
            </a:solidFill>
            <a:prstDash val="solid"/>
          </a:ln>
        </p:spPr>
      </p:sp>
      <p:sp>
        <p:nvSpPr>
          <p:cNvPr id="23" name="Text 21"/>
          <p:cNvSpPr txBox="1"/>
          <p:nvPr/>
        </p:nvSpPr>
        <p:spPr>
          <a:xfrm>
            <a:off x="8814816" y="4078224"/>
            <a:ext cx="2651760" cy="256032"/>
          </a:xfrm>
          <a:prstGeom prst="rect">
            <a:avLst/>
          </a:prstGeom>
          <a:noFill/>
          <a:ln/>
        </p:spPr>
        <p:txBody>
          <a:bodyPr wrap="square" rtlCol="0" anchor="ctr"/>
          <a:lstStyle/>
          <a:p>
            <a:pPr marL="0" indent="0">
              <a:buNone/>
            </a:pPr>
            <a:r>
              <a:rPr lang="en-US" sz="950" b="1" dirty="0">
                <a:solidFill>
                  <a:srgbClr val="7A1322"/>
                </a:solidFill>
                <a:latin typeface="Calibri" pitchFamily="34" charset="0"/>
                <a:ea typeface="Calibri" pitchFamily="34" charset="-122"/>
                <a:cs typeface="Calibri" pitchFamily="34" charset="-120"/>
              </a:rPr>
              <a:t>Coexistence</a:t>
            </a:r>
            <a:endParaRPr lang="en-US" sz="950" dirty="0"/>
          </a:p>
        </p:txBody>
      </p:sp>
      <p:sp>
        <p:nvSpPr>
          <p:cNvPr id="24" name="Text 22"/>
          <p:cNvSpPr txBox="1"/>
          <p:nvPr/>
        </p:nvSpPr>
        <p:spPr>
          <a:xfrm>
            <a:off x="8814816" y="4370832"/>
            <a:ext cx="2651760" cy="1335024"/>
          </a:xfrm>
          <a:prstGeom prst="rect">
            <a:avLst/>
          </a:prstGeom>
          <a:noFill/>
          <a:ln/>
        </p:spPr>
        <p:txBody>
          <a:bodyPr wrap="square" rtlCol="0" anchor="ctr"/>
          <a:lstStyle/>
          <a:p>
            <a:pPr marL="0" indent="0">
              <a:buNone/>
            </a:pPr>
            <a:r>
              <a:rPr lang="en-US" sz="900" dirty="0">
                <a:solidFill>
                  <a:srgbClr val="1A1A1A"/>
                </a:solidFill>
                <a:latin typeface="Calibri" pitchFamily="34" charset="0"/>
                <a:ea typeface="Calibri" pitchFamily="34" charset="-122"/>
                <a:cs typeface="Calibri" pitchFamily="34" charset="-120"/>
              </a:rPr>
              <a:t>WCA/legacy systems remain operational during migration; cutover is gated by reconciliation sign-off.</a:t>
            </a:r>
            <a:endParaRPr lang="en-US" sz="900" dirty="0"/>
          </a:p>
        </p:txBody>
      </p:sp>
      <p:sp>
        <p:nvSpPr>
          <p:cNvPr id="25" name="Text 23"/>
          <p:cNvSpPr txBox="1"/>
          <p:nvPr/>
        </p:nvSpPr>
        <p:spPr>
          <a:xfrm>
            <a:off x="329184" y="6675120"/>
            <a:ext cx="8229600" cy="128016"/>
          </a:xfrm>
          <a:prstGeom prst="rect">
            <a:avLst/>
          </a:prstGeom>
          <a:noFill/>
          <a:ln/>
        </p:spPr>
        <p:txBody>
          <a:bodyPr wrap="square" rtlCol="0" anchor="ctr"/>
          <a:lstStyle/>
          <a:p>
            <a:pPr marL="0" indent="0">
              <a:buNone/>
            </a:pPr>
            <a:r>
              <a:rPr lang="en-US" sz="700" i="1" dirty="0">
                <a:solidFill>
                  <a:srgbClr val="C8C8C8"/>
                </a:solidFill>
                <a:latin typeface="Calibri" pitchFamily="34" charset="0"/>
                <a:ea typeface="Calibri" pitchFamily="34" charset="-122"/>
                <a:cs typeface="Calibri" pitchFamily="34" charset="-120"/>
              </a:rPr>
              <a:t>MUFG / Ping AIC Oracle Migration — Objective and Options</a:t>
            </a:r>
            <a:endParaRPr lang="en-US" sz="700" dirty="0"/>
          </a:p>
        </p:txBody>
      </p:sp>
      <p:sp>
        <p:nvSpPr>
          <p:cNvPr id="26" name="Text 24"/>
          <p:cNvSpPr txBox="1"/>
          <p:nvPr/>
        </p:nvSpPr>
        <p:spPr>
          <a:xfrm>
            <a:off x="8686800" y="6675120"/>
            <a:ext cx="3163824" cy="128016"/>
          </a:xfrm>
          <a:prstGeom prst="rect">
            <a:avLst/>
          </a:prstGeom>
          <a:noFill/>
          <a:ln/>
        </p:spPr>
        <p:txBody>
          <a:bodyPr wrap="square" rtlCol="0" anchor="ctr"/>
          <a:lstStyle/>
          <a:p>
            <a:pPr marL="0" indent="0" algn="r">
              <a:buNone/>
            </a:pPr>
            <a:r>
              <a:rPr lang="en-US" sz="700" i="1" dirty="0">
                <a:solidFill>
                  <a:srgbClr val="C8C8C8"/>
                </a:solidFill>
                <a:latin typeface="Calibri" pitchFamily="34" charset="0"/>
                <a:ea typeface="Calibri" pitchFamily="34" charset="-122"/>
                <a:cs typeface="Calibri" pitchFamily="34" charset="-120"/>
              </a:rPr>
              <a:t>Slide 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29184" y="91440"/>
            <a:ext cx="11521440" cy="438912"/>
          </a:xfrm>
          <a:prstGeom prst="rect">
            <a:avLst/>
          </a:prstGeom>
          <a:noFill/>
          <a:ln/>
        </p:spPr>
        <p:txBody>
          <a:bodyPr wrap="square" rtlCol="0" anchor="ctr"/>
          <a:lstStyle/>
          <a:p>
            <a:pPr marL="0" indent="0" algn="l">
              <a:buNone/>
            </a:pPr>
            <a:r>
              <a:rPr lang="en-US" sz="2400" b="1" dirty="0">
                <a:solidFill>
                  <a:srgbClr val="7A1322"/>
                </a:solidFill>
                <a:latin typeface="Calibri" pitchFamily="34" charset="0"/>
                <a:ea typeface="Calibri" pitchFamily="34" charset="-122"/>
                <a:cs typeface="Calibri" pitchFamily="34" charset="-120"/>
              </a:rPr>
              <a:t>2. Migration Architecture Overview</a:t>
            </a:r>
            <a:endParaRPr lang="en-US" sz="2400" dirty="0"/>
          </a:p>
        </p:txBody>
      </p:sp>
      <p:sp>
        <p:nvSpPr>
          <p:cNvPr id="3" name="Text 1"/>
          <p:cNvSpPr txBox="1"/>
          <p:nvPr/>
        </p:nvSpPr>
        <p:spPr>
          <a:xfrm>
            <a:off x="329184" y="512064"/>
            <a:ext cx="11521440" cy="201168"/>
          </a:xfrm>
          <a:prstGeom prst="rect">
            <a:avLst/>
          </a:prstGeom>
          <a:noFill/>
          <a:ln/>
        </p:spPr>
        <p:txBody>
          <a:bodyPr wrap="square" rtlCol="0" anchor="ctr"/>
          <a:lstStyle/>
          <a:p>
            <a:pPr marL="0" indent="0" algn="l">
              <a:buNone/>
            </a:pPr>
            <a:r>
              <a:rPr lang="en-US" sz="1000" i="1" dirty="0">
                <a:solidFill>
                  <a:srgbClr val="6B6B6B"/>
                </a:solidFill>
                <a:latin typeface="Calibri" pitchFamily="34" charset="0"/>
                <a:ea typeface="Calibri" pitchFamily="34" charset="-122"/>
                <a:cs typeface="Calibri" pitchFamily="34" charset="-120"/>
              </a:rPr>
              <a:t>Common flow for both options — the options differ only in how Oracle exposes data and where transformation executes</a:t>
            </a:r>
            <a:endParaRPr lang="en-US" sz="1000" dirty="0"/>
          </a:p>
        </p:txBody>
      </p:sp>
      <p:sp>
        <p:nvSpPr>
          <p:cNvPr id="4" name="Shape 2"/>
          <p:cNvSpPr/>
          <p:nvPr/>
        </p:nvSpPr>
        <p:spPr>
          <a:xfrm>
            <a:off x="256032" y="1005840"/>
            <a:ext cx="11686032" cy="548640"/>
          </a:xfrm>
          <a:prstGeom prst="rect">
            <a:avLst/>
          </a:prstGeom>
          <a:solidFill>
            <a:srgbClr val="FFFBE6"/>
          </a:solidFill>
          <a:ln w="10160">
            <a:solidFill>
              <a:srgbClr val="C8A800"/>
            </a:solidFill>
            <a:prstDash val="solid"/>
          </a:ln>
        </p:spPr>
      </p:sp>
      <p:sp>
        <p:nvSpPr>
          <p:cNvPr id="5" name="Text 3"/>
          <p:cNvSpPr txBox="1"/>
          <p:nvPr/>
        </p:nvSpPr>
        <p:spPr>
          <a:xfrm>
            <a:off x="402336" y="1042416"/>
            <a:ext cx="11448288" cy="475488"/>
          </a:xfrm>
          <a:prstGeom prst="rect">
            <a:avLst/>
          </a:prstGeom>
          <a:noFill/>
          <a:ln/>
        </p:spPr>
        <p:txBody>
          <a:bodyPr wrap="square" rtlCol="0" anchor="ctr"/>
          <a:lstStyle/>
          <a:p>
            <a:pPr marL="0" indent="0">
              <a:buNone/>
            </a:pPr>
            <a:r>
              <a:rPr lang="en-US" sz="900" b="1" dirty="0">
                <a:solidFill>
                  <a:srgbClr val="7A5800"/>
                </a:solidFill>
                <a:latin typeface="Calibri" pitchFamily="34" charset="0"/>
                <a:ea typeface="Calibri" pitchFamily="34" charset="-122"/>
                <a:cs typeface="Calibri" pitchFamily="34" charset="-120"/>
              </a:rPr>
              <a:t>Transformation ownership split (both options):  </a:t>
            </a:r>
            <a:r>
              <a:rPr lang="en-US" sz="850" dirty="0">
                <a:solidFill>
                  <a:srgbClr val="1A1A1A"/>
                </a:solidFill>
                <a:latin typeface="Calibri" pitchFamily="34" charset="0"/>
                <a:ea typeface="Calibri" pitchFamily="34" charset="-122"/>
                <a:cs typeface="Calibri" pitchFamily="34" charset="-120"/>
              </a:rPr>
              <a:t>Option 1 — Oracle stored procedure handles complex joins &amp; shaping; Groovy scripts in connector handle field mapping; Ping AIC handles reconciliation.    Option 2 — Oracle view shapes the data; no Groovy connector scripts; Ping AIC handles full JSON parsing, mapping &amp; reconciliation.</a:t>
            </a:r>
            <a:endParaRPr lang="en-US" sz="900" dirty="0"/>
          </a:p>
        </p:txBody>
      </p:sp>
      <p:sp>
        <p:nvSpPr>
          <p:cNvPr id="6" name="Shape 4"/>
          <p:cNvSpPr/>
          <p:nvPr/>
        </p:nvSpPr>
        <p:spPr>
          <a:xfrm>
            <a:off x="256032" y="1664208"/>
            <a:ext cx="11686032" cy="475488"/>
          </a:xfrm>
          <a:prstGeom prst="rect">
            <a:avLst/>
          </a:prstGeom>
          <a:solidFill>
            <a:srgbClr val="1E1E2E"/>
          </a:solidFill>
          <a:ln w="12700">
            <a:solidFill>
              <a:srgbClr val="1E1E2E"/>
            </a:solidFill>
            <a:prstDash val="solid"/>
          </a:ln>
        </p:spPr>
      </p:sp>
      <p:sp>
        <p:nvSpPr>
          <p:cNvPr id="7" name="Text 5"/>
          <p:cNvSpPr txBox="1"/>
          <p:nvPr/>
        </p:nvSpPr>
        <p:spPr>
          <a:xfrm>
            <a:off x="329184" y="1664208"/>
            <a:ext cx="11539728" cy="475488"/>
          </a:xfrm>
          <a:prstGeom prst="rect">
            <a:avLst/>
          </a:prstGeom>
          <a:noFill/>
          <a:ln/>
        </p:spPr>
        <p:txBody>
          <a:bodyPr wrap="square" rtlCol="0" anchor="ctr"/>
          <a:lstStyle/>
          <a:p>
            <a:pPr marL="0" indent="0" algn="ctr">
              <a:buNone/>
            </a:pPr>
            <a:r>
              <a:rPr lang="en-US" sz="900" dirty="0">
                <a:solidFill>
                  <a:srgbClr val="C8C8C8"/>
                </a:solidFill>
                <a:latin typeface="Calibri" pitchFamily="34" charset="0"/>
                <a:ea typeface="Calibri" pitchFamily="34" charset="-122"/>
                <a:cs typeface="Calibri" pitchFamily="34" charset="-120"/>
              </a:rPr>
              <a:t>Governance &amp; Controls  ·  Audit logging  ·  Rollback / re-run capability  ·  Post-migration validation  ·  Exit &amp; decommission controls</a:t>
            </a:r>
            <a:endParaRPr lang="en-US" sz="900" dirty="0"/>
          </a:p>
        </p:txBody>
      </p:sp>
      <p:sp>
        <p:nvSpPr>
          <p:cNvPr id="8" name="Text 6"/>
          <p:cNvSpPr txBox="1"/>
          <p:nvPr/>
        </p:nvSpPr>
        <p:spPr>
          <a:xfrm>
            <a:off x="256032" y="2231136"/>
            <a:ext cx="11686032" cy="256032"/>
          </a:xfrm>
          <a:prstGeom prst="rect">
            <a:avLst/>
          </a:prstGeom>
          <a:noFill/>
          <a:ln/>
        </p:spPr>
        <p:txBody>
          <a:bodyPr wrap="square" rtlCol="0" anchor="ctr"/>
          <a:lstStyle/>
          <a:p>
            <a:pPr marL="0" indent="0" algn="ctr">
              <a:buNone/>
            </a:pPr>
            <a:r>
              <a:rPr lang="en-US" sz="800" i="1" dirty="0">
                <a:solidFill>
                  <a:srgbClr val="6B6B6B"/>
                </a:solidFill>
                <a:latin typeface="Calibri" pitchFamily="34" charset="0"/>
                <a:ea typeface="Calibri" pitchFamily="34" charset="-122"/>
                <a:cs typeface="Calibri" pitchFamily="34" charset="-120"/>
              </a:rPr>
              <a:t>Oracle DB / Ping AIC  =  integration endpoints     Custom SQL Connector  =  Ping IDM SQL connector (custom or out-of-box)     Coexistence Layer  =  WCA legacy platform, remains live until cutover</a:t>
            </a:r>
            <a:endParaRPr lang="en-US" sz="800" dirty="0"/>
          </a:p>
        </p:txBody>
      </p:sp>
      <p:sp>
        <p:nvSpPr>
          <p:cNvPr id="9" name="Text 7"/>
          <p:cNvSpPr txBox="1"/>
          <p:nvPr/>
        </p:nvSpPr>
        <p:spPr>
          <a:xfrm>
            <a:off x="256032" y="2596896"/>
            <a:ext cx="7315200" cy="256032"/>
          </a:xfrm>
          <a:prstGeom prst="rect">
            <a:avLst/>
          </a:prstGeom>
          <a:noFill/>
          <a:ln/>
        </p:spPr>
        <p:txBody>
          <a:bodyPr wrap="square" rtlCol="0" anchor="ctr"/>
          <a:lstStyle/>
          <a:p>
            <a:pPr marL="0" indent="0">
              <a:buNone/>
            </a:pPr>
            <a:r>
              <a:rPr lang="en-US" sz="1100" b="1" dirty="0">
                <a:solidFill>
                  <a:srgbClr val="7A1322"/>
                </a:solidFill>
                <a:latin typeface="Calibri" pitchFamily="34" charset="0"/>
                <a:ea typeface="Calibri" pitchFamily="34" charset="-122"/>
                <a:cs typeface="Calibri" pitchFamily="34" charset="-120"/>
              </a:rPr>
              <a:t>How the two options differ</a:t>
            </a:r>
            <a:endParaRPr lang="en-US" sz="1100" dirty="0"/>
          </a:p>
        </p:txBody>
      </p:sp>
      <p:sp>
        <p:nvSpPr>
          <p:cNvPr id="10" name="Shape 8"/>
          <p:cNvSpPr/>
          <p:nvPr/>
        </p:nvSpPr>
        <p:spPr>
          <a:xfrm>
            <a:off x="256032" y="2871216"/>
            <a:ext cx="5669280" cy="2304288"/>
          </a:xfrm>
          <a:prstGeom prst="rect">
            <a:avLst/>
          </a:prstGeom>
          <a:solidFill>
            <a:srgbClr val="F4F4F4"/>
          </a:solidFill>
          <a:ln w="10160">
            <a:solidFill>
              <a:srgbClr val="C8C8C8"/>
            </a:solidFill>
            <a:prstDash val="solid"/>
          </a:ln>
        </p:spPr>
      </p:sp>
      <p:sp>
        <p:nvSpPr>
          <p:cNvPr id="11" name="Text 9"/>
          <p:cNvSpPr txBox="1"/>
          <p:nvPr/>
        </p:nvSpPr>
        <p:spPr>
          <a:xfrm>
            <a:off x="384048" y="2926080"/>
            <a:ext cx="5468112" cy="256032"/>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Option 1 — Oracle Stored Procedure</a:t>
            </a:r>
            <a:endParaRPr lang="en-US" sz="1000" dirty="0"/>
          </a:p>
        </p:txBody>
      </p:sp>
      <p:sp>
        <p:nvSpPr>
          <p:cNvPr id="12" name="Text 10"/>
          <p:cNvSpPr txBox="1"/>
          <p:nvPr/>
        </p:nvSpPr>
        <p:spPr>
          <a:xfrm>
            <a:off x="384048" y="3218688"/>
            <a:ext cx="5468112" cy="3246120"/>
          </a:xfrm>
          <a:prstGeom prst="rect">
            <a:avLst/>
          </a:prstGeom>
          <a:noFill/>
          <a:ln/>
        </p:spPr>
        <p:txBody>
          <a:bodyPr wrap="square" lIns="0" tIns="0" rIns="0" bIns="0" rtlCol="0" anchor="t"/>
          <a:lstStyle/>
          <a:p>
            <a:pPr>
              <a:spcAft>
                <a:spcPts val="1000"/>
              </a:spcAft>
            </a:pPr>
            <a:r>
              <a:rPr lang="en-US" sz="1000" dirty="0">
                <a:solidFill>
                  <a:srgbClr val="1A1A1A"/>
                </a:solidFill>
                <a:latin typeface="Calibri" pitchFamily="34" charset="0"/>
                <a:ea typeface="Calibri" pitchFamily="34" charset="-122"/>
                <a:cs typeface="Calibri" pitchFamily="34" charset="-120"/>
              </a:rPr>
              <a:t>Oracle stored procedure encapsulates bulk joins and complex transformation logic.</a:t>
            </a:r>
            <a:endParaRPr lang="en-US" sz="1000" dirty="0"/>
          </a:p>
          <a:p>
            <a:pPr>
              <a:spcAft>
                <a:spcPts val="1000"/>
              </a:spcAft>
            </a:pPr>
            <a:r>
              <a:rPr lang="en-US" sz="1000" dirty="0">
                <a:solidFill>
                  <a:srgbClr val="1A1A1A"/>
                </a:solidFill>
                <a:latin typeface="Calibri" pitchFamily="34" charset="0"/>
                <a:ea typeface="Calibri" pitchFamily="34" charset="-122"/>
                <a:cs typeface="Calibri" pitchFamily="34" charset="-120"/>
              </a:rPr>
              <a:t>Custom SQL connector with Groovy scripts bridges Oracle output to Ping AIC.</a:t>
            </a:r>
            <a:endParaRPr lang="en-US" sz="1000" dirty="0"/>
          </a:p>
          <a:p>
            <a:pPr>
              <a:spcAft>
                <a:spcPts val="1000"/>
              </a:spcAft>
            </a:pPr>
            <a:r>
              <a:rPr lang="en-US" sz="1000" dirty="0">
                <a:solidFill>
                  <a:srgbClr val="1A1A1A"/>
                </a:solidFill>
                <a:latin typeface="Calibri" pitchFamily="34" charset="0"/>
                <a:ea typeface="Calibri" pitchFamily="34" charset="-122"/>
                <a:cs typeface="Calibri" pitchFamily="34" charset="-120"/>
              </a:rPr>
              <a:t>Groovy files must be written, tested, and maintained throughout migration.</a:t>
            </a:r>
            <a:endParaRPr lang="en-US" sz="1000" dirty="0"/>
          </a:p>
          <a:p>
            <a:pPr>
              <a:spcAft>
                <a:spcPts val="1000"/>
              </a:spcAft>
            </a:pPr>
            <a:r>
              <a:rPr lang="en-US" sz="1000" dirty="0">
                <a:solidFill>
                  <a:srgbClr val="1A1A1A"/>
                </a:solidFill>
                <a:latin typeface="Calibri" pitchFamily="34" charset="0"/>
                <a:ea typeface="Calibri" pitchFamily="34" charset="-122"/>
                <a:cs typeface="Calibri" pitchFamily="34" charset="-120"/>
              </a:rPr>
              <a:t>Higher Oracle DB effort; lighter AIC-side scripting.</a:t>
            </a:r>
            <a:endParaRPr lang="en-US" sz="1000" dirty="0"/>
          </a:p>
        </p:txBody>
      </p:sp>
      <p:sp>
        <p:nvSpPr>
          <p:cNvPr id="13" name="Shape 11"/>
          <p:cNvSpPr/>
          <p:nvPr/>
        </p:nvSpPr>
        <p:spPr>
          <a:xfrm>
            <a:off x="6053328" y="2871216"/>
            <a:ext cx="5888736" cy="2304288"/>
          </a:xfrm>
          <a:prstGeom prst="rect">
            <a:avLst/>
          </a:prstGeom>
          <a:solidFill>
            <a:srgbClr val="F4F4F4"/>
          </a:solidFill>
          <a:ln w="10160">
            <a:solidFill>
              <a:srgbClr val="C8C8C8"/>
            </a:solidFill>
            <a:prstDash val="solid"/>
          </a:ln>
        </p:spPr>
      </p:sp>
      <p:sp>
        <p:nvSpPr>
          <p:cNvPr id="14" name="Text 12"/>
          <p:cNvSpPr txBox="1"/>
          <p:nvPr/>
        </p:nvSpPr>
        <p:spPr>
          <a:xfrm>
            <a:off x="6181344" y="2926080"/>
            <a:ext cx="5687568" cy="256032"/>
          </a:xfrm>
          <a:prstGeom prst="rect">
            <a:avLst/>
          </a:prstGeom>
          <a:noFill/>
          <a:ln/>
        </p:spPr>
        <p:txBody>
          <a:bodyPr wrap="square" rtlCol="0" anchor="ctr"/>
          <a:lstStyle/>
          <a:p>
            <a:pPr marL="0" indent="0">
              <a:buNone/>
            </a:pPr>
            <a:r>
              <a:rPr lang="en-US" sz="1000" b="1" dirty="0">
                <a:solidFill>
                  <a:srgbClr val="1A5E30"/>
                </a:solidFill>
                <a:latin typeface="Calibri" pitchFamily="34" charset="0"/>
                <a:ea typeface="Calibri" pitchFamily="34" charset="-122"/>
                <a:cs typeface="Calibri" pitchFamily="34" charset="-120"/>
              </a:rPr>
              <a:t>Option 2 — Oracle View + Out-of-Box Connector  ★ Preferred</a:t>
            </a:r>
            <a:endParaRPr lang="en-US" sz="1000" dirty="0"/>
          </a:p>
        </p:txBody>
      </p:sp>
      <p:sp>
        <p:nvSpPr>
          <p:cNvPr id="15" name="Text 13"/>
          <p:cNvSpPr txBox="1"/>
          <p:nvPr/>
        </p:nvSpPr>
        <p:spPr>
          <a:xfrm>
            <a:off x="6181344" y="3218688"/>
            <a:ext cx="5687568" cy="3246120"/>
          </a:xfrm>
          <a:prstGeom prst="rect">
            <a:avLst/>
          </a:prstGeom>
          <a:noFill/>
          <a:ln/>
        </p:spPr>
        <p:txBody>
          <a:bodyPr wrap="square" lIns="0" tIns="0" rIns="0" bIns="0" rtlCol="0" anchor="t"/>
          <a:lstStyle/>
          <a:p>
            <a:pPr>
              <a:spcAft>
                <a:spcPts val="1000"/>
              </a:spcAft>
            </a:pPr>
            <a:r>
              <a:rPr lang="en-US" sz="1000" dirty="0">
                <a:solidFill>
                  <a:srgbClr val="1A1A1A"/>
                </a:solidFill>
                <a:latin typeface="Calibri" pitchFamily="34" charset="0"/>
                <a:ea typeface="Calibri" pitchFamily="34" charset="-122"/>
                <a:cs typeface="Calibri" pitchFamily="34" charset="-120"/>
              </a:rPr>
              <a:t>Oracle view exposes a simpler, flatter dataset — no stored procedure required.</a:t>
            </a:r>
            <a:endParaRPr lang="en-US" sz="1000" dirty="0"/>
          </a:p>
          <a:p>
            <a:pPr>
              <a:spcAft>
                <a:spcPts val="1000"/>
              </a:spcAft>
            </a:pPr>
            <a:r>
              <a:rPr lang="en-US" sz="1000" dirty="0">
                <a:solidFill>
                  <a:srgbClr val="1A1A1A"/>
                </a:solidFill>
                <a:latin typeface="Calibri" pitchFamily="34" charset="0"/>
                <a:ea typeface="Calibri" pitchFamily="34" charset="-122"/>
                <a:cs typeface="Calibri" pitchFamily="34" charset="-120"/>
              </a:rPr>
              <a:t>Out-of-box Ping IDM SQL connector — no custom build, no Groovy connector scripts.</a:t>
            </a:r>
            <a:endParaRPr lang="en-US" sz="1000" dirty="0"/>
          </a:p>
          <a:p>
            <a:pPr>
              <a:spcAft>
                <a:spcPts val="1000"/>
              </a:spcAft>
            </a:pPr>
            <a:r>
              <a:rPr lang="en-US" sz="1000" dirty="0">
                <a:solidFill>
                  <a:srgbClr val="1A1A1A"/>
                </a:solidFill>
                <a:latin typeface="Calibri" pitchFamily="34" charset="0"/>
                <a:ea typeface="Calibri" pitchFamily="34" charset="-122"/>
                <a:cs typeface="Calibri" pitchFamily="34" charset="-120"/>
              </a:rPr>
              <a:t>Full transformation (JSON parsing, mapping, reconciliation) consolidated in Ping AIC.</a:t>
            </a:r>
            <a:endParaRPr lang="en-US" sz="1000" dirty="0"/>
          </a:p>
          <a:p>
            <a:pPr>
              <a:spcAft>
                <a:spcPts val="1000"/>
              </a:spcAft>
            </a:pPr>
            <a:r>
              <a:rPr lang="en-US" sz="1000" dirty="0">
                <a:solidFill>
                  <a:srgbClr val="1A1A1A"/>
                </a:solidFill>
                <a:latin typeface="Calibri" pitchFamily="34" charset="0"/>
                <a:ea typeface="Calibri" pitchFamily="34" charset="-122"/>
                <a:cs typeface="Calibri" pitchFamily="34" charset="-120"/>
              </a:rPr>
              <a:t>Lower Oracle effort; higher AIC scripting scope — validated end-to-end before go-live.</a:t>
            </a:r>
            <a:endParaRPr lang="en-US" sz="1000" dirty="0"/>
          </a:p>
        </p:txBody>
      </p:sp>
      <p:sp>
        <p:nvSpPr>
          <p:cNvPr id="16" name="Shape 14"/>
          <p:cNvSpPr/>
          <p:nvPr/>
        </p:nvSpPr>
        <p:spPr>
          <a:xfrm>
            <a:off x="256032" y="5285232"/>
            <a:ext cx="11686032" cy="1005840"/>
          </a:xfrm>
          <a:prstGeom prst="rect">
            <a:avLst/>
          </a:prstGeom>
          <a:solidFill>
            <a:srgbClr val="E8F5E9"/>
          </a:solidFill>
          <a:ln w="15240">
            <a:solidFill>
              <a:srgbClr val="2E7D32"/>
            </a:solidFill>
            <a:prstDash val="solid"/>
          </a:ln>
        </p:spPr>
      </p:sp>
      <p:sp>
        <p:nvSpPr>
          <p:cNvPr id="17" name="Text 15"/>
          <p:cNvSpPr txBox="1"/>
          <p:nvPr/>
        </p:nvSpPr>
        <p:spPr>
          <a:xfrm>
            <a:off x="402336" y="5340096"/>
            <a:ext cx="11375136" cy="237744"/>
          </a:xfrm>
          <a:prstGeom prst="rect">
            <a:avLst/>
          </a:prstGeom>
          <a:noFill/>
          <a:ln/>
        </p:spPr>
        <p:txBody>
          <a:bodyPr wrap="square" rtlCol="0" anchor="ctr"/>
          <a:lstStyle/>
          <a:p>
            <a:pPr marL="0" indent="0">
              <a:buNone/>
            </a:pPr>
            <a:r>
              <a:rPr lang="en-US" sz="1050" b="1" dirty="0">
                <a:solidFill>
                  <a:srgbClr val="1A5E30"/>
                </a:solidFill>
                <a:latin typeface="Calibri" pitchFamily="34" charset="0"/>
                <a:ea typeface="Calibri" pitchFamily="34" charset="-122"/>
                <a:cs typeface="Calibri" pitchFamily="34" charset="-120"/>
              </a:rPr>
              <a:t>★  Recommended: Option 2 — Oracle View + Out-of-Box Connector</a:t>
            </a:r>
            <a:endParaRPr lang="en-US" sz="1050" dirty="0"/>
          </a:p>
        </p:txBody>
      </p:sp>
      <p:sp>
        <p:nvSpPr>
          <p:cNvPr id="18" name="Text 16"/>
          <p:cNvSpPr txBox="1"/>
          <p:nvPr/>
        </p:nvSpPr>
        <p:spPr>
          <a:xfrm>
            <a:off x="402336" y="5596128"/>
            <a:ext cx="11375136" cy="640080"/>
          </a:xfrm>
          <a:prstGeom prst="rect">
            <a:avLst/>
          </a:prstGeom>
          <a:noFill/>
          <a:ln/>
        </p:spPr>
        <p:txBody>
          <a:bodyPr wrap="square" rtlCol="0" anchor="ctr"/>
          <a:lstStyle/>
          <a:p>
            <a:pPr marL="0" indent="0">
              <a:buNone/>
            </a:pPr>
            <a:r>
              <a:rPr lang="en-US" sz="950" dirty="0">
                <a:solidFill>
                  <a:srgbClr val="1A1A1A"/>
                </a:solidFill>
                <a:latin typeface="Calibri" pitchFamily="34" charset="0"/>
                <a:ea typeface="Calibri" pitchFamily="34" charset="-122"/>
                <a:cs typeface="Calibri" pitchFamily="34" charset="-120"/>
              </a:rPr>
              <a:t>Option 2 reduces Oracle development effort, eliminates Groovy connector maintenance, and consolidates transformation accountability within Ping AIC. It is the preferred direction subject to end-to-end performance validation at production data volume.</a:t>
            </a:r>
            <a:endParaRPr lang="en-US" sz="950" dirty="0"/>
          </a:p>
        </p:txBody>
      </p:sp>
      <p:sp>
        <p:nvSpPr>
          <p:cNvPr id="19" name="Text 17"/>
          <p:cNvSpPr txBox="1"/>
          <p:nvPr/>
        </p:nvSpPr>
        <p:spPr>
          <a:xfrm>
            <a:off x="329184" y="6675120"/>
            <a:ext cx="8229600" cy="128016"/>
          </a:xfrm>
          <a:prstGeom prst="rect">
            <a:avLst/>
          </a:prstGeom>
          <a:noFill/>
          <a:ln/>
        </p:spPr>
        <p:txBody>
          <a:bodyPr wrap="square" rtlCol="0" anchor="ctr"/>
          <a:lstStyle/>
          <a:p>
            <a:pPr marL="0" indent="0">
              <a:buNone/>
            </a:pPr>
            <a:r>
              <a:rPr lang="en-US" sz="700" i="1" dirty="0">
                <a:solidFill>
                  <a:srgbClr val="C8C8C8"/>
                </a:solidFill>
                <a:latin typeface="Calibri" pitchFamily="34" charset="0"/>
                <a:ea typeface="Calibri" pitchFamily="34" charset="-122"/>
                <a:cs typeface="Calibri" pitchFamily="34" charset="-120"/>
              </a:rPr>
              <a:t>MUFG / Ping AIC Oracle Migration — Objective and Options</a:t>
            </a:r>
            <a:endParaRPr lang="en-US" sz="700" dirty="0"/>
          </a:p>
        </p:txBody>
      </p:sp>
      <p:sp>
        <p:nvSpPr>
          <p:cNvPr id="20" name="Text 18"/>
          <p:cNvSpPr txBox="1"/>
          <p:nvPr/>
        </p:nvSpPr>
        <p:spPr>
          <a:xfrm>
            <a:off x="8686800" y="6675120"/>
            <a:ext cx="3163824" cy="128016"/>
          </a:xfrm>
          <a:prstGeom prst="rect">
            <a:avLst/>
          </a:prstGeom>
          <a:noFill/>
          <a:ln/>
        </p:spPr>
        <p:txBody>
          <a:bodyPr wrap="square" rtlCol="0" anchor="ctr"/>
          <a:lstStyle/>
          <a:p>
            <a:pPr marL="0" indent="0" algn="r">
              <a:buNone/>
            </a:pPr>
            <a:r>
              <a:rPr lang="en-US" sz="700" i="1" dirty="0">
                <a:solidFill>
                  <a:srgbClr val="C8C8C8"/>
                </a:solidFill>
                <a:latin typeface="Calibri" pitchFamily="34" charset="0"/>
                <a:ea typeface="Calibri" pitchFamily="34" charset="-122"/>
                <a:cs typeface="Calibri" pitchFamily="34" charset="-120"/>
              </a:rPr>
              <a:t>Slide 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29184" y="91440"/>
            <a:ext cx="11521440" cy="438912"/>
          </a:xfrm>
          <a:prstGeom prst="rect">
            <a:avLst/>
          </a:prstGeom>
          <a:noFill/>
          <a:ln/>
        </p:spPr>
        <p:txBody>
          <a:bodyPr wrap="square" rtlCol="0" anchor="ctr"/>
          <a:lstStyle/>
          <a:p>
            <a:pPr marL="0" indent="0" algn="l">
              <a:buNone/>
            </a:pPr>
            <a:r>
              <a:rPr lang="en-US" sz="2400" b="1" dirty="0">
                <a:solidFill>
                  <a:srgbClr val="7A1322"/>
                </a:solidFill>
                <a:latin typeface="Calibri" pitchFamily="34" charset="0"/>
                <a:ea typeface="Calibri" pitchFamily="34" charset="-122"/>
                <a:cs typeface="Calibri" pitchFamily="34" charset="-120"/>
              </a:rPr>
              <a:t>3. Implementation Options — Overview</a:t>
            </a:r>
            <a:endParaRPr lang="en-US" sz="2400" dirty="0"/>
          </a:p>
        </p:txBody>
      </p:sp>
      <p:sp>
        <p:nvSpPr>
          <p:cNvPr id="3" name="Text 1"/>
          <p:cNvSpPr txBox="1"/>
          <p:nvPr/>
        </p:nvSpPr>
        <p:spPr>
          <a:xfrm>
            <a:off x="329184" y="512064"/>
            <a:ext cx="11521440" cy="201168"/>
          </a:xfrm>
          <a:prstGeom prst="rect">
            <a:avLst/>
          </a:prstGeom>
          <a:noFill/>
          <a:ln/>
        </p:spPr>
        <p:txBody>
          <a:bodyPr wrap="square" rtlCol="0" anchor="ctr"/>
          <a:lstStyle/>
          <a:p>
            <a:pPr marL="0" indent="0" algn="l">
              <a:buNone/>
            </a:pPr>
            <a:r>
              <a:rPr lang="en-US" sz="1000" i="1" dirty="0">
                <a:solidFill>
                  <a:srgbClr val="6B6B6B"/>
                </a:solidFill>
                <a:latin typeface="Calibri" pitchFamily="34" charset="0"/>
                <a:ea typeface="Calibri" pitchFamily="34" charset="-122"/>
                <a:cs typeface="Calibri" pitchFamily="34" charset="-120"/>
              </a:rPr>
              <a:t>Both options share the same connector and Ping AIC target; they differ in Oracle interface complexity and where transformation lives</a:t>
            </a:r>
            <a:endParaRPr lang="en-US" sz="1000" dirty="0"/>
          </a:p>
        </p:txBody>
      </p:sp>
      <p:sp>
        <p:nvSpPr>
          <p:cNvPr id="4" name="Shape 2"/>
          <p:cNvSpPr/>
          <p:nvPr/>
        </p:nvSpPr>
        <p:spPr>
          <a:xfrm>
            <a:off x="329184" y="932688"/>
            <a:ext cx="2194560" cy="365760"/>
          </a:xfrm>
          <a:prstGeom prst="rect">
            <a:avLst/>
          </a:prstGeom>
          <a:solidFill>
            <a:srgbClr val="1E1E2E"/>
          </a:solidFill>
          <a:ln w="5080">
            <a:solidFill>
              <a:srgbClr val="1E1E2E"/>
            </a:solidFill>
            <a:prstDash val="solid"/>
          </a:ln>
        </p:spPr>
      </p:sp>
      <p:sp>
        <p:nvSpPr>
          <p:cNvPr id="5" name="Text 3"/>
          <p:cNvSpPr txBox="1"/>
          <p:nvPr/>
        </p:nvSpPr>
        <p:spPr>
          <a:xfrm>
            <a:off x="384048" y="932688"/>
            <a:ext cx="210312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p>
        </p:txBody>
      </p:sp>
      <p:sp>
        <p:nvSpPr>
          <p:cNvPr id="6" name="Shape 4"/>
          <p:cNvSpPr/>
          <p:nvPr/>
        </p:nvSpPr>
        <p:spPr>
          <a:xfrm>
            <a:off x="2523744" y="932688"/>
            <a:ext cx="4572000" cy="365760"/>
          </a:xfrm>
          <a:prstGeom prst="rect">
            <a:avLst/>
          </a:prstGeom>
          <a:solidFill>
            <a:srgbClr val="1E1E2E"/>
          </a:solidFill>
          <a:ln w="5080">
            <a:solidFill>
              <a:srgbClr val="1E1E2E"/>
            </a:solidFill>
            <a:prstDash val="solid"/>
          </a:ln>
        </p:spPr>
      </p:sp>
      <p:sp>
        <p:nvSpPr>
          <p:cNvPr id="7" name="Text 5"/>
          <p:cNvSpPr txBox="1"/>
          <p:nvPr/>
        </p:nvSpPr>
        <p:spPr>
          <a:xfrm>
            <a:off x="2578608" y="932688"/>
            <a:ext cx="44805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Option 1: Oracle Stored Procedure</a:t>
            </a:r>
            <a:endParaRPr lang="en-US" sz="1000" dirty="0"/>
          </a:p>
        </p:txBody>
      </p:sp>
      <p:sp>
        <p:nvSpPr>
          <p:cNvPr id="8" name="Shape 6"/>
          <p:cNvSpPr/>
          <p:nvPr/>
        </p:nvSpPr>
        <p:spPr>
          <a:xfrm>
            <a:off x="7095744" y="932688"/>
            <a:ext cx="4754880" cy="365760"/>
          </a:xfrm>
          <a:prstGeom prst="rect">
            <a:avLst/>
          </a:prstGeom>
          <a:solidFill>
            <a:srgbClr val="1E1E2E"/>
          </a:solidFill>
          <a:ln w="5080">
            <a:solidFill>
              <a:srgbClr val="1E1E2E"/>
            </a:solidFill>
            <a:prstDash val="solid"/>
          </a:ln>
        </p:spPr>
      </p:sp>
      <p:sp>
        <p:nvSpPr>
          <p:cNvPr id="9" name="Text 7"/>
          <p:cNvSpPr txBox="1"/>
          <p:nvPr/>
        </p:nvSpPr>
        <p:spPr>
          <a:xfrm>
            <a:off x="7150608" y="932688"/>
            <a:ext cx="466344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Option 2: Oracle View + Out-of-Box Connector</a:t>
            </a:r>
            <a:endParaRPr lang="en-US" sz="1000" dirty="0"/>
          </a:p>
        </p:txBody>
      </p:sp>
      <p:sp>
        <p:nvSpPr>
          <p:cNvPr id="10" name="Shape 8"/>
          <p:cNvSpPr/>
          <p:nvPr/>
        </p:nvSpPr>
        <p:spPr>
          <a:xfrm>
            <a:off x="329184" y="1298448"/>
            <a:ext cx="2194560" cy="530352"/>
          </a:xfrm>
          <a:prstGeom prst="rect">
            <a:avLst/>
          </a:prstGeom>
          <a:solidFill>
            <a:srgbClr val="FFFFFF"/>
          </a:solidFill>
          <a:ln w="6350">
            <a:solidFill>
              <a:srgbClr val="C8C8C8"/>
            </a:solidFill>
            <a:prstDash val="solid"/>
          </a:ln>
        </p:spPr>
      </p:sp>
      <p:sp>
        <p:nvSpPr>
          <p:cNvPr id="11" name="Text 9"/>
          <p:cNvSpPr txBox="1"/>
          <p:nvPr/>
        </p:nvSpPr>
        <p:spPr>
          <a:xfrm>
            <a:off x="411480" y="1344168"/>
            <a:ext cx="2048256" cy="457200"/>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Oracle interface</a:t>
            </a:r>
            <a:endParaRPr lang="en-US" sz="950" dirty="0"/>
          </a:p>
        </p:txBody>
      </p:sp>
      <p:sp>
        <p:nvSpPr>
          <p:cNvPr id="12" name="Shape 10"/>
          <p:cNvSpPr/>
          <p:nvPr/>
        </p:nvSpPr>
        <p:spPr>
          <a:xfrm>
            <a:off x="2523744" y="1298448"/>
            <a:ext cx="4572000" cy="530352"/>
          </a:xfrm>
          <a:prstGeom prst="rect">
            <a:avLst/>
          </a:prstGeom>
          <a:solidFill>
            <a:srgbClr val="FFFFFF"/>
          </a:solidFill>
          <a:ln w="6350">
            <a:solidFill>
              <a:srgbClr val="C8C8C8"/>
            </a:solidFill>
            <a:prstDash val="solid"/>
          </a:ln>
        </p:spPr>
      </p:sp>
      <p:sp>
        <p:nvSpPr>
          <p:cNvPr id="13" name="Text 11"/>
          <p:cNvSpPr txBox="1"/>
          <p:nvPr/>
        </p:nvSpPr>
        <p:spPr>
          <a:xfrm>
            <a:off x="2606040" y="1344168"/>
            <a:ext cx="442569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Bulk-oriented stored procedure with complex joins and transformation logic.</a:t>
            </a:r>
            <a:endParaRPr lang="en-US" sz="900" dirty="0"/>
          </a:p>
        </p:txBody>
      </p:sp>
      <p:sp>
        <p:nvSpPr>
          <p:cNvPr id="14" name="Shape 12"/>
          <p:cNvSpPr/>
          <p:nvPr/>
        </p:nvSpPr>
        <p:spPr>
          <a:xfrm>
            <a:off x="7095744" y="1298448"/>
            <a:ext cx="4754880" cy="530352"/>
          </a:xfrm>
          <a:prstGeom prst="rect">
            <a:avLst/>
          </a:prstGeom>
          <a:solidFill>
            <a:srgbClr val="FFFFFF"/>
          </a:solidFill>
          <a:ln w="6350">
            <a:solidFill>
              <a:srgbClr val="C8C8C8"/>
            </a:solidFill>
            <a:prstDash val="solid"/>
          </a:ln>
        </p:spPr>
      </p:sp>
      <p:sp>
        <p:nvSpPr>
          <p:cNvPr id="15" name="Text 13"/>
          <p:cNvSpPr txBox="1"/>
          <p:nvPr/>
        </p:nvSpPr>
        <p:spPr>
          <a:xfrm>
            <a:off x="7178040" y="1344168"/>
            <a:ext cx="460857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Oracle view — simpler interface, no stored procedure needed.</a:t>
            </a:r>
            <a:endParaRPr lang="en-US" sz="900" dirty="0"/>
          </a:p>
        </p:txBody>
      </p:sp>
      <p:sp>
        <p:nvSpPr>
          <p:cNvPr id="16" name="Shape 14"/>
          <p:cNvSpPr/>
          <p:nvPr/>
        </p:nvSpPr>
        <p:spPr>
          <a:xfrm>
            <a:off x="329184" y="1828800"/>
            <a:ext cx="2194560" cy="530352"/>
          </a:xfrm>
          <a:prstGeom prst="rect">
            <a:avLst/>
          </a:prstGeom>
          <a:solidFill>
            <a:srgbClr val="F4F4F4"/>
          </a:solidFill>
          <a:ln w="6350">
            <a:solidFill>
              <a:srgbClr val="C8C8C8"/>
            </a:solidFill>
            <a:prstDash val="solid"/>
          </a:ln>
        </p:spPr>
      </p:sp>
      <p:sp>
        <p:nvSpPr>
          <p:cNvPr id="17" name="Text 15"/>
          <p:cNvSpPr txBox="1"/>
          <p:nvPr/>
        </p:nvSpPr>
        <p:spPr>
          <a:xfrm>
            <a:off x="411480" y="1874520"/>
            <a:ext cx="2048256" cy="457200"/>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Connector type</a:t>
            </a:r>
            <a:endParaRPr lang="en-US" sz="950" dirty="0"/>
          </a:p>
        </p:txBody>
      </p:sp>
      <p:sp>
        <p:nvSpPr>
          <p:cNvPr id="18" name="Shape 16"/>
          <p:cNvSpPr/>
          <p:nvPr/>
        </p:nvSpPr>
        <p:spPr>
          <a:xfrm>
            <a:off x="2523744" y="1828800"/>
            <a:ext cx="4572000" cy="530352"/>
          </a:xfrm>
          <a:prstGeom prst="rect">
            <a:avLst/>
          </a:prstGeom>
          <a:solidFill>
            <a:srgbClr val="F4F4F4"/>
          </a:solidFill>
          <a:ln w="6350">
            <a:solidFill>
              <a:srgbClr val="C8C8C8"/>
            </a:solidFill>
            <a:prstDash val="solid"/>
          </a:ln>
        </p:spPr>
      </p:sp>
      <p:sp>
        <p:nvSpPr>
          <p:cNvPr id="19" name="Text 17"/>
          <p:cNvSpPr txBox="1"/>
          <p:nvPr/>
        </p:nvSpPr>
        <p:spPr>
          <a:xfrm>
            <a:off x="2606040" y="1874520"/>
            <a:ext cx="442569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Custom SQL connector with Groovy transformation scripts.</a:t>
            </a:r>
            <a:endParaRPr lang="en-US" sz="900" dirty="0"/>
          </a:p>
        </p:txBody>
      </p:sp>
      <p:sp>
        <p:nvSpPr>
          <p:cNvPr id="20" name="Shape 18"/>
          <p:cNvSpPr/>
          <p:nvPr/>
        </p:nvSpPr>
        <p:spPr>
          <a:xfrm>
            <a:off x="7095744" y="1828800"/>
            <a:ext cx="4754880" cy="530352"/>
          </a:xfrm>
          <a:prstGeom prst="rect">
            <a:avLst/>
          </a:prstGeom>
          <a:solidFill>
            <a:srgbClr val="F4F4F4"/>
          </a:solidFill>
          <a:ln w="6350">
            <a:solidFill>
              <a:srgbClr val="C8C8C8"/>
            </a:solidFill>
            <a:prstDash val="solid"/>
          </a:ln>
        </p:spPr>
      </p:sp>
      <p:sp>
        <p:nvSpPr>
          <p:cNvPr id="21" name="Text 19"/>
          <p:cNvSpPr txBox="1"/>
          <p:nvPr/>
        </p:nvSpPr>
        <p:spPr>
          <a:xfrm>
            <a:off x="7178040" y="1874520"/>
            <a:ext cx="460857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Out-of-box Ping IDM SQL connector — no custom connector build required.</a:t>
            </a:r>
            <a:endParaRPr lang="en-US" sz="900" dirty="0"/>
          </a:p>
        </p:txBody>
      </p:sp>
      <p:sp>
        <p:nvSpPr>
          <p:cNvPr id="22" name="Shape 20"/>
          <p:cNvSpPr/>
          <p:nvPr/>
        </p:nvSpPr>
        <p:spPr>
          <a:xfrm>
            <a:off x="329184" y="2359152"/>
            <a:ext cx="2194560" cy="530352"/>
          </a:xfrm>
          <a:prstGeom prst="rect">
            <a:avLst/>
          </a:prstGeom>
          <a:solidFill>
            <a:srgbClr val="FFFFFF"/>
          </a:solidFill>
          <a:ln w="6350">
            <a:solidFill>
              <a:srgbClr val="C8C8C8"/>
            </a:solidFill>
            <a:prstDash val="solid"/>
          </a:ln>
        </p:spPr>
      </p:sp>
      <p:sp>
        <p:nvSpPr>
          <p:cNvPr id="23" name="Text 21"/>
          <p:cNvSpPr txBox="1"/>
          <p:nvPr/>
        </p:nvSpPr>
        <p:spPr>
          <a:xfrm>
            <a:off x="411480" y="2404872"/>
            <a:ext cx="2048256" cy="457200"/>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Transformation location</a:t>
            </a:r>
            <a:endParaRPr lang="en-US" sz="950" dirty="0"/>
          </a:p>
        </p:txBody>
      </p:sp>
      <p:sp>
        <p:nvSpPr>
          <p:cNvPr id="24" name="Shape 22"/>
          <p:cNvSpPr/>
          <p:nvPr/>
        </p:nvSpPr>
        <p:spPr>
          <a:xfrm>
            <a:off x="2523744" y="2359152"/>
            <a:ext cx="4572000" cy="530352"/>
          </a:xfrm>
          <a:prstGeom prst="rect">
            <a:avLst/>
          </a:prstGeom>
          <a:solidFill>
            <a:srgbClr val="FFFFFF"/>
          </a:solidFill>
          <a:ln w="6350">
            <a:solidFill>
              <a:srgbClr val="C8C8C8"/>
            </a:solidFill>
            <a:prstDash val="solid"/>
          </a:ln>
        </p:spPr>
      </p:sp>
      <p:sp>
        <p:nvSpPr>
          <p:cNvPr id="25" name="Text 23"/>
          <p:cNvSpPr txBox="1"/>
          <p:nvPr/>
        </p:nvSpPr>
        <p:spPr>
          <a:xfrm>
            <a:off x="2606040" y="2404872"/>
            <a:ext cx="442569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Shared: Oracle procedure handles joins &amp; shaping; Ping AIC Groovy scripts handle mapping &amp; reconciliation.</a:t>
            </a:r>
            <a:endParaRPr lang="en-US" sz="900" dirty="0"/>
          </a:p>
        </p:txBody>
      </p:sp>
      <p:sp>
        <p:nvSpPr>
          <p:cNvPr id="26" name="Shape 24"/>
          <p:cNvSpPr/>
          <p:nvPr/>
        </p:nvSpPr>
        <p:spPr>
          <a:xfrm>
            <a:off x="7095744" y="2359152"/>
            <a:ext cx="4754880" cy="530352"/>
          </a:xfrm>
          <a:prstGeom prst="rect">
            <a:avLst/>
          </a:prstGeom>
          <a:solidFill>
            <a:srgbClr val="FFFFFF"/>
          </a:solidFill>
          <a:ln w="6350">
            <a:solidFill>
              <a:srgbClr val="C8C8C8"/>
            </a:solidFill>
            <a:prstDash val="solid"/>
          </a:ln>
        </p:spPr>
      </p:sp>
      <p:sp>
        <p:nvSpPr>
          <p:cNvPr id="27" name="Text 25"/>
          <p:cNvSpPr txBox="1"/>
          <p:nvPr/>
        </p:nvSpPr>
        <p:spPr>
          <a:xfrm>
            <a:off x="7178040" y="2404872"/>
            <a:ext cx="460857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Shared: Oracle view shapes the data; Ping AIC handles JSON parsing, mapping, and reconciliation.</a:t>
            </a:r>
            <a:endParaRPr lang="en-US" sz="900" dirty="0"/>
          </a:p>
        </p:txBody>
      </p:sp>
      <p:sp>
        <p:nvSpPr>
          <p:cNvPr id="28" name="Shape 26"/>
          <p:cNvSpPr/>
          <p:nvPr/>
        </p:nvSpPr>
        <p:spPr>
          <a:xfrm>
            <a:off x="329184" y="2889504"/>
            <a:ext cx="2194560" cy="530352"/>
          </a:xfrm>
          <a:prstGeom prst="rect">
            <a:avLst/>
          </a:prstGeom>
          <a:solidFill>
            <a:srgbClr val="F4F4F4"/>
          </a:solidFill>
          <a:ln w="6350">
            <a:solidFill>
              <a:srgbClr val="C8C8C8"/>
            </a:solidFill>
            <a:prstDash val="solid"/>
          </a:ln>
        </p:spPr>
      </p:sp>
      <p:sp>
        <p:nvSpPr>
          <p:cNvPr id="29" name="Text 27"/>
          <p:cNvSpPr txBox="1"/>
          <p:nvPr/>
        </p:nvSpPr>
        <p:spPr>
          <a:xfrm>
            <a:off x="411480" y="2935224"/>
            <a:ext cx="2048256" cy="457200"/>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Groovy / scripts</a:t>
            </a:r>
            <a:endParaRPr lang="en-US" sz="950" dirty="0"/>
          </a:p>
        </p:txBody>
      </p:sp>
      <p:sp>
        <p:nvSpPr>
          <p:cNvPr id="30" name="Shape 28"/>
          <p:cNvSpPr/>
          <p:nvPr/>
        </p:nvSpPr>
        <p:spPr>
          <a:xfrm>
            <a:off x="2523744" y="2889504"/>
            <a:ext cx="4572000" cy="530352"/>
          </a:xfrm>
          <a:prstGeom prst="rect">
            <a:avLst/>
          </a:prstGeom>
          <a:solidFill>
            <a:srgbClr val="F4F4F4"/>
          </a:solidFill>
          <a:ln w="6350">
            <a:solidFill>
              <a:srgbClr val="C8C8C8"/>
            </a:solidFill>
            <a:prstDash val="solid"/>
          </a:ln>
        </p:spPr>
      </p:sp>
      <p:sp>
        <p:nvSpPr>
          <p:cNvPr id="31" name="Text 29"/>
          <p:cNvSpPr txBox="1"/>
          <p:nvPr/>
        </p:nvSpPr>
        <p:spPr>
          <a:xfrm>
            <a:off x="2606040" y="2935224"/>
            <a:ext cx="442569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Groovy files must be written and maintained alongside the Oracle procedure.</a:t>
            </a:r>
            <a:endParaRPr lang="en-US" sz="900" dirty="0"/>
          </a:p>
        </p:txBody>
      </p:sp>
      <p:sp>
        <p:nvSpPr>
          <p:cNvPr id="32" name="Shape 30"/>
          <p:cNvSpPr/>
          <p:nvPr/>
        </p:nvSpPr>
        <p:spPr>
          <a:xfrm>
            <a:off x="7095744" y="2889504"/>
            <a:ext cx="4754880" cy="530352"/>
          </a:xfrm>
          <a:prstGeom prst="rect">
            <a:avLst/>
          </a:prstGeom>
          <a:solidFill>
            <a:srgbClr val="F4F4F4"/>
          </a:solidFill>
          <a:ln w="6350">
            <a:solidFill>
              <a:srgbClr val="C8C8C8"/>
            </a:solidFill>
            <a:prstDash val="solid"/>
          </a:ln>
        </p:spPr>
      </p:sp>
      <p:sp>
        <p:nvSpPr>
          <p:cNvPr id="33" name="Text 31"/>
          <p:cNvSpPr txBox="1"/>
          <p:nvPr/>
        </p:nvSpPr>
        <p:spPr>
          <a:xfrm>
            <a:off x="7178040" y="2935224"/>
            <a:ext cx="460857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Standard Ping AIC mapping scripts; no Groovy connector layer required.</a:t>
            </a:r>
            <a:endParaRPr lang="en-US" sz="900" dirty="0"/>
          </a:p>
        </p:txBody>
      </p:sp>
      <p:sp>
        <p:nvSpPr>
          <p:cNvPr id="34" name="Shape 32"/>
          <p:cNvSpPr/>
          <p:nvPr/>
        </p:nvSpPr>
        <p:spPr>
          <a:xfrm>
            <a:off x="329184" y="3419856"/>
            <a:ext cx="2194560" cy="530352"/>
          </a:xfrm>
          <a:prstGeom prst="rect">
            <a:avLst/>
          </a:prstGeom>
          <a:solidFill>
            <a:srgbClr val="FFFFFF"/>
          </a:solidFill>
          <a:ln w="6350">
            <a:solidFill>
              <a:srgbClr val="C8C8C8"/>
            </a:solidFill>
            <a:prstDash val="solid"/>
          </a:ln>
        </p:spPr>
      </p:sp>
      <p:sp>
        <p:nvSpPr>
          <p:cNvPr id="35" name="Text 33"/>
          <p:cNvSpPr txBox="1"/>
          <p:nvPr/>
        </p:nvSpPr>
        <p:spPr>
          <a:xfrm>
            <a:off x="411480" y="3465576"/>
            <a:ext cx="2048256" cy="457200"/>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MUFG DB effort</a:t>
            </a:r>
            <a:endParaRPr lang="en-US" sz="950" dirty="0"/>
          </a:p>
        </p:txBody>
      </p:sp>
      <p:sp>
        <p:nvSpPr>
          <p:cNvPr id="36" name="Shape 34"/>
          <p:cNvSpPr/>
          <p:nvPr/>
        </p:nvSpPr>
        <p:spPr>
          <a:xfrm>
            <a:off x="2523744" y="3419856"/>
            <a:ext cx="4572000" cy="530352"/>
          </a:xfrm>
          <a:prstGeom prst="rect">
            <a:avLst/>
          </a:prstGeom>
          <a:solidFill>
            <a:srgbClr val="FFFFFF"/>
          </a:solidFill>
          <a:ln w="6350">
            <a:solidFill>
              <a:srgbClr val="C8C8C8"/>
            </a:solidFill>
            <a:prstDash val="solid"/>
          </a:ln>
        </p:spPr>
      </p:sp>
      <p:sp>
        <p:nvSpPr>
          <p:cNvPr id="37" name="Text 35"/>
          <p:cNvSpPr txBox="1"/>
          <p:nvPr/>
        </p:nvSpPr>
        <p:spPr>
          <a:xfrm>
            <a:off x="2606040" y="3465576"/>
            <a:ext cx="442569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High — stored procedure development, testing, and release management.</a:t>
            </a:r>
            <a:endParaRPr lang="en-US" sz="900" dirty="0"/>
          </a:p>
        </p:txBody>
      </p:sp>
      <p:sp>
        <p:nvSpPr>
          <p:cNvPr id="38" name="Shape 36"/>
          <p:cNvSpPr/>
          <p:nvPr/>
        </p:nvSpPr>
        <p:spPr>
          <a:xfrm>
            <a:off x="7095744" y="3419856"/>
            <a:ext cx="4754880" cy="530352"/>
          </a:xfrm>
          <a:prstGeom prst="rect">
            <a:avLst/>
          </a:prstGeom>
          <a:solidFill>
            <a:srgbClr val="FFFFFF"/>
          </a:solidFill>
          <a:ln w="6350">
            <a:solidFill>
              <a:srgbClr val="C8C8C8"/>
            </a:solidFill>
            <a:prstDash val="solid"/>
          </a:ln>
        </p:spPr>
      </p:sp>
      <p:sp>
        <p:nvSpPr>
          <p:cNvPr id="39" name="Text 37"/>
          <p:cNvSpPr txBox="1"/>
          <p:nvPr/>
        </p:nvSpPr>
        <p:spPr>
          <a:xfrm>
            <a:off x="7178040" y="3465576"/>
            <a:ext cx="460857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Low to Medium — view design and query optimisation only.</a:t>
            </a:r>
            <a:endParaRPr lang="en-US" sz="900" dirty="0"/>
          </a:p>
        </p:txBody>
      </p:sp>
      <p:sp>
        <p:nvSpPr>
          <p:cNvPr id="40" name="Shape 38"/>
          <p:cNvSpPr/>
          <p:nvPr/>
        </p:nvSpPr>
        <p:spPr>
          <a:xfrm>
            <a:off x="329184" y="3950208"/>
            <a:ext cx="2194560" cy="530352"/>
          </a:xfrm>
          <a:prstGeom prst="rect">
            <a:avLst/>
          </a:prstGeom>
          <a:solidFill>
            <a:srgbClr val="F4F4F4"/>
          </a:solidFill>
          <a:ln w="6350">
            <a:solidFill>
              <a:srgbClr val="C8C8C8"/>
            </a:solidFill>
            <a:prstDash val="solid"/>
          </a:ln>
        </p:spPr>
      </p:sp>
      <p:sp>
        <p:nvSpPr>
          <p:cNvPr id="41" name="Text 39"/>
          <p:cNvSpPr txBox="1"/>
          <p:nvPr/>
        </p:nvSpPr>
        <p:spPr>
          <a:xfrm>
            <a:off x="411480" y="3995928"/>
            <a:ext cx="2048256" cy="457200"/>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AIC / connector effort</a:t>
            </a:r>
            <a:endParaRPr lang="en-US" sz="950" dirty="0"/>
          </a:p>
        </p:txBody>
      </p:sp>
      <p:sp>
        <p:nvSpPr>
          <p:cNvPr id="42" name="Shape 40"/>
          <p:cNvSpPr/>
          <p:nvPr/>
        </p:nvSpPr>
        <p:spPr>
          <a:xfrm>
            <a:off x="2523744" y="3950208"/>
            <a:ext cx="4572000" cy="530352"/>
          </a:xfrm>
          <a:prstGeom prst="rect">
            <a:avLst/>
          </a:prstGeom>
          <a:solidFill>
            <a:srgbClr val="F4F4F4"/>
          </a:solidFill>
          <a:ln w="6350">
            <a:solidFill>
              <a:srgbClr val="C8C8C8"/>
            </a:solidFill>
            <a:prstDash val="solid"/>
          </a:ln>
        </p:spPr>
      </p:sp>
      <p:sp>
        <p:nvSpPr>
          <p:cNvPr id="43" name="Text 41"/>
          <p:cNvSpPr txBox="1"/>
          <p:nvPr/>
        </p:nvSpPr>
        <p:spPr>
          <a:xfrm>
            <a:off x="2606040" y="3995928"/>
            <a:ext cx="442569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Lower — connector role is lightweight; AIC mapping is limited.</a:t>
            </a:r>
            <a:endParaRPr lang="en-US" sz="900" dirty="0"/>
          </a:p>
        </p:txBody>
      </p:sp>
      <p:sp>
        <p:nvSpPr>
          <p:cNvPr id="44" name="Shape 42"/>
          <p:cNvSpPr/>
          <p:nvPr/>
        </p:nvSpPr>
        <p:spPr>
          <a:xfrm>
            <a:off x="7095744" y="3950208"/>
            <a:ext cx="4754880" cy="530352"/>
          </a:xfrm>
          <a:prstGeom prst="rect">
            <a:avLst/>
          </a:prstGeom>
          <a:solidFill>
            <a:srgbClr val="F4F4F4"/>
          </a:solidFill>
          <a:ln w="6350">
            <a:solidFill>
              <a:srgbClr val="C8C8C8"/>
            </a:solidFill>
            <a:prstDash val="solid"/>
          </a:ln>
        </p:spPr>
      </p:sp>
      <p:sp>
        <p:nvSpPr>
          <p:cNvPr id="45" name="Text 43"/>
          <p:cNvSpPr txBox="1"/>
          <p:nvPr/>
        </p:nvSpPr>
        <p:spPr>
          <a:xfrm>
            <a:off x="7178040" y="3995928"/>
            <a:ext cx="460857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Higher — full transformation, JSON parsing, and reconciliation in AIC.</a:t>
            </a:r>
            <a:endParaRPr lang="en-US" sz="900" dirty="0"/>
          </a:p>
        </p:txBody>
      </p:sp>
      <p:sp>
        <p:nvSpPr>
          <p:cNvPr id="46" name="Shape 44"/>
          <p:cNvSpPr/>
          <p:nvPr/>
        </p:nvSpPr>
        <p:spPr>
          <a:xfrm>
            <a:off x="329184" y="4480560"/>
            <a:ext cx="2194560" cy="530352"/>
          </a:xfrm>
          <a:prstGeom prst="rect">
            <a:avLst/>
          </a:prstGeom>
          <a:solidFill>
            <a:srgbClr val="FFFFFF"/>
          </a:solidFill>
          <a:ln w="6350">
            <a:solidFill>
              <a:srgbClr val="C8C8C8"/>
            </a:solidFill>
            <a:prstDash val="solid"/>
          </a:ln>
        </p:spPr>
      </p:sp>
      <p:sp>
        <p:nvSpPr>
          <p:cNvPr id="47" name="Text 45"/>
          <p:cNvSpPr txBox="1"/>
          <p:nvPr/>
        </p:nvSpPr>
        <p:spPr>
          <a:xfrm>
            <a:off x="411480" y="4526280"/>
            <a:ext cx="2048256" cy="457200"/>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Troubleshooting scope</a:t>
            </a:r>
            <a:endParaRPr lang="en-US" sz="950" dirty="0"/>
          </a:p>
        </p:txBody>
      </p:sp>
      <p:sp>
        <p:nvSpPr>
          <p:cNvPr id="48" name="Shape 46"/>
          <p:cNvSpPr/>
          <p:nvPr/>
        </p:nvSpPr>
        <p:spPr>
          <a:xfrm>
            <a:off x="2523744" y="4480560"/>
            <a:ext cx="4572000" cy="530352"/>
          </a:xfrm>
          <a:prstGeom prst="rect">
            <a:avLst/>
          </a:prstGeom>
          <a:solidFill>
            <a:srgbClr val="FFFFFF"/>
          </a:solidFill>
          <a:ln w="6350">
            <a:solidFill>
              <a:srgbClr val="C8C8C8"/>
            </a:solidFill>
            <a:prstDash val="solid"/>
          </a:ln>
        </p:spPr>
      </p:sp>
      <p:sp>
        <p:nvSpPr>
          <p:cNvPr id="49" name="Text 47"/>
          <p:cNvSpPr txBox="1"/>
          <p:nvPr/>
        </p:nvSpPr>
        <p:spPr>
          <a:xfrm>
            <a:off x="2606040" y="4526280"/>
            <a:ext cx="442569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Oracle procedure + connector Groovy scripts + Ping AIC.</a:t>
            </a:r>
            <a:endParaRPr lang="en-US" sz="900" dirty="0"/>
          </a:p>
        </p:txBody>
      </p:sp>
      <p:sp>
        <p:nvSpPr>
          <p:cNvPr id="50" name="Shape 48"/>
          <p:cNvSpPr/>
          <p:nvPr/>
        </p:nvSpPr>
        <p:spPr>
          <a:xfrm>
            <a:off x="7095744" y="4480560"/>
            <a:ext cx="4754880" cy="530352"/>
          </a:xfrm>
          <a:prstGeom prst="rect">
            <a:avLst/>
          </a:prstGeom>
          <a:solidFill>
            <a:srgbClr val="FFFFFF"/>
          </a:solidFill>
          <a:ln w="6350">
            <a:solidFill>
              <a:srgbClr val="C8C8C8"/>
            </a:solidFill>
            <a:prstDash val="solid"/>
          </a:ln>
        </p:spPr>
      </p:sp>
      <p:sp>
        <p:nvSpPr>
          <p:cNvPr id="51" name="Text 49"/>
          <p:cNvSpPr txBox="1"/>
          <p:nvPr/>
        </p:nvSpPr>
        <p:spPr>
          <a:xfrm>
            <a:off x="7178040" y="4526280"/>
            <a:ext cx="460857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Oracle view SQL + Ping AIC mapping scripts — spans data transfer and AIC layers.</a:t>
            </a:r>
            <a:endParaRPr lang="en-US" sz="900" dirty="0"/>
          </a:p>
        </p:txBody>
      </p:sp>
      <p:sp>
        <p:nvSpPr>
          <p:cNvPr id="52" name="Shape 50"/>
          <p:cNvSpPr/>
          <p:nvPr/>
        </p:nvSpPr>
        <p:spPr>
          <a:xfrm>
            <a:off x="329184" y="5010912"/>
            <a:ext cx="2194560" cy="530352"/>
          </a:xfrm>
          <a:prstGeom prst="rect">
            <a:avLst/>
          </a:prstGeom>
          <a:solidFill>
            <a:srgbClr val="F4F4F4"/>
          </a:solidFill>
          <a:ln w="6350">
            <a:solidFill>
              <a:srgbClr val="C8C8C8"/>
            </a:solidFill>
            <a:prstDash val="solid"/>
          </a:ln>
        </p:spPr>
      </p:sp>
      <p:sp>
        <p:nvSpPr>
          <p:cNvPr id="53" name="Text 51"/>
          <p:cNvSpPr txBox="1"/>
          <p:nvPr/>
        </p:nvSpPr>
        <p:spPr>
          <a:xfrm>
            <a:off x="411480" y="5056632"/>
            <a:ext cx="2048256" cy="457200"/>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Key risk</a:t>
            </a:r>
            <a:endParaRPr lang="en-US" sz="950" dirty="0"/>
          </a:p>
        </p:txBody>
      </p:sp>
      <p:sp>
        <p:nvSpPr>
          <p:cNvPr id="54" name="Shape 52"/>
          <p:cNvSpPr/>
          <p:nvPr/>
        </p:nvSpPr>
        <p:spPr>
          <a:xfrm>
            <a:off x="2523744" y="5010912"/>
            <a:ext cx="4572000" cy="530352"/>
          </a:xfrm>
          <a:prstGeom prst="rect">
            <a:avLst/>
          </a:prstGeom>
          <a:solidFill>
            <a:srgbClr val="F4F4F4"/>
          </a:solidFill>
          <a:ln w="6350">
            <a:solidFill>
              <a:srgbClr val="C8C8C8"/>
            </a:solidFill>
            <a:prstDash val="solid"/>
          </a:ln>
        </p:spPr>
      </p:sp>
      <p:sp>
        <p:nvSpPr>
          <p:cNvPr id="55" name="Text 53"/>
          <p:cNvSpPr txBox="1"/>
          <p:nvPr/>
        </p:nvSpPr>
        <p:spPr>
          <a:xfrm>
            <a:off x="2606040" y="5056632"/>
            <a:ext cx="442569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Oracle procedure becomes a temporary artefact that must be retired post-migration.</a:t>
            </a:r>
            <a:endParaRPr lang="en-US" sz="900" dirty="0"/>
          </a:p>
        </p:txBody>
      </p:sp>
      <p:sp>
        <p:nvSpPr>
          <p:cNvPr id="56" name="Shape 54"/>
          <p:cNvSpPr/>
          <p:nvPr/>
        </p:nvSpPr>
        <p:spPr>
          <a:xfrm>
            <a:off x="7095744" y="5010912"/>
            <a:ext cx="4754880" cy="530352"/>
          </a:xfrm>
          <a:prstGeom prst="rect">
            <a:avLst/>
          </a:prstGeom>
          <a:solidFill>
            <a:srgbClr val="F4F4F4"/>
          </a:solidFill>
          <a:ln w="6350">
            <a:solidFill>
              <a:srgbClr val="C8C8C8"/>
            </a:solidFill>
            <a:prstDash val="solid"/>
          </a:ln>
        </p:spPr>
      </p:sp>
      <p:sp>
        <p:nvSpPr>
          <p:cNvPr id="57" name="Text 55"/>
          <p:cNvSpPr txBox="1"/>
          <p:nvPr/>
        </p:nvSpPr>
        <p:spPr>
          <a:xfrm>
            <a:off x="7178040" y="5056632"/>
            <a:ext cx="4608576" cy="457200"/>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AIC-side performance must be validated at production data volume end-to-end.</a:t>
            </a:r>
            <a:endParaRPr lang="en-US" sz="900" dirty="0"/>
          </a:p>
        </p:txBody>
      </p:sp>
      <p:sp>
        <p:nvSpPr>
          <p:cNvPr id="58" name="Text 56"/>
          <p:cNvSpPr txBox="1"/>
          <p:nvPr/>
        </p:nvSpPr>
        <p:spPr>
          <a:xfrm>
            <a:off x="329184" y="6675120"/>
            <a:ext cx="8229600" cy="128016"/>
          </a:xfrm>
          <a:prstGeom prst="rect">
            <a:avLst/>
          </a:prstGeom>
          <a:noFill/>
          <a:ln/>
        </p:spPr>
        <p:txBody>
          <a:bodyPr wrap="square" rtlCol="0" anchor="ctr"/>
          <a:lstStyle/>
          <a:p>
            <a:pPr marL="0" indent="0">
              <a:buNone/>
            </a:pPr>
            <a:r>
              <a:rPr lang="en-US" sz="700" i="1" dirty="0">
                <a:solidFill>
                  <a:srgbClr val="C8C8C8"/>
                </a:solidFill>
                <a:latin typeface="Calibri" pitchFamily="34" charset="0"/>
                <a:ea typeface="Calibri" pitchFamily="34" charset="-122"/>
                <a:cs typeface="Calibri" pitchFamily="34" charset="-120"/>
              </a:rPr>
              <a:t>MUFG / Ping AIC Oracle Migration — Objective and Options</a:t>
            </a:r>
            <a:endParaRPr lang="en-US" sz="700" dirty="0"/>
          </a:p>
        </p:txBody>
      </p:sp>
      <p:sp>
        <p:nvSpPr>
          <p:cNvPr id="59" name="Text 57"/>
          <p:cNvSpPr txBox="1"/>
          <p:nvPr/>
        </p:nvSpPr>
        <p:spPr>
          <a:xfrm>
            <a:off x="8686800" y="6675120"/>
            <a:ext cx="3163824" cy="128016"/>
          </a:xfrm>
          <a:prstGeom prst="rect">
            <a:avLst/>
          </a:prstGeom>
          <a:noFill/>
          <a:ln/>
        </p:spPr>
        <p:txBody>
          <a:bodyPr wrap="square" rtlCol="0" anchor="ctr"/>
          <a:lstStyle/>
          <a:p>
            <a:pPr marL="0" indent="0" algn="r">
              <a:buNone/>
            </a:pPr>
            <a:r>
              <a:rPr lang="en-US" sz="700" i="1" dirty="0">
                <a:solidFill>
                  <a:srgbClr val="C8C8C8"/>
                </a:solidFill>
                <a:latin typeface="Calibri" pitchFamily="34" charset="0"/>
                <a:ea typeface="Calibri" pitchFamily="34" charset="-122"/>
                <a:cs typeface="Calibri" pitchFamily="34" charset="-120"/>
              </a:rPr>
              <a:t>Slide 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29184" y="91440"/>
            <a:ext cx="11521440" cy="438912"/>
          </a:xfrm>
          <a:prstGeom prst="rect">
            <a:avLst/>
          </a:prstGeom>
          <a:noFill/>
          <a:ln/>
        </p:spPr>
        <p:txBody>
          <a:bodyPr wrap="square" rtlCol="0" anchor="ctr"/>
          <a:lstStyle/>
          <a:p>
            <a:pPr marL="0" indent="0" algn="l">
              <a:buNone/>
            </a:pPr>
            <a:r>
              <a:rPr lang="en-US" sz="2400" b="1" dirty="0">
                <a:solidFill>
                  <a:srgbClr val="7A1322"/>
                </a:solidFill>
                <a:latin typeface="Calibri" pitchFamily="34" charset="0"/>
                <a:ea typeface="Calibri" pitchFamily="34" charset="-122"/>
                <a:cs typeface="Calibri" pitchFamily="34" charset="-120"/>
              </a:rPr>
              <a:t>4. Option 1 — Oracle Stored Procedure</a:t>
            </a:r>
            <a:endParaRPr lang="en-US" sz="2400" dirty="0"/>
          </a:p>
        </p:txBody>
      </p:sp>
      <p:sp>
        <p:nvSpPr>
          <p:cNvPr id="3" name="Text 1"/>
          <p:cNvSpPr txBox="1"/>
          <p:nvPr/>
        </p:nvSpPr>
        <p:spPr>
          <a:xfrm>
            <a:off x="329184" y="512064"/>
            <a:ext cx="11521440" cy="201168"/>
          </a:xfrm>
          <a:prstGeom prst="rect">
            <a:avLst/>
          </a:prstGeom>
          <a:noFill/>
          <a:ln/>
        </p:spPr>
        <p:txBody>
          <a:bodyPr wrap="square" rtlCol="0" anchor="ctr"/>
          <a:lstStyle/>
          <a:p>
            <a:pPr marL="0" indent="0" algn="l">
              <a:buNone/>
            </a:pPr>
            <a:r>
              <a:rPr lang="en-US" sz="1000" i="1" dirty="0">
                <a:solidFill>
                  <a:srgbClr val="6B6B6B"/>
                </a:solidFill>
                <a:latin typeface="Calibri" pitchFamily="34" charset="0"/>
                <a:ea typeface="Calibri" pitchFamily="34" charset="-122"/>
                <a:cs typeface="Calibri" pitchFamily="34" charset="-120"/>
              </a:rPr>
              <a:t>MUFG authors a bulk procedure; connector Groovy scripts and Ping AIC handle mapping and reconciliation</a:t>
            </a:r>
            <a:endParaRPr lang="en-US" sz="1000" dirty="0"/>
          </a:p>
        </p:txBody>
      </p:sp>
      <p:sp>
        <p:nvSpPr>
          <p:cNvPr id="4" name="Shape 2"/>
          <p:cNvSpPr/>
          <p:nvPr/>
        </p:nvSpPr>
        <p:spPr>
          <a:xfrm>
            <a:off x="329184" y="969264"/>
            <a:ext cx="1463040" cy="603504"/>
          </a:xfrm>
          <a:prstGeom prst="rect">
            <a:avLst/>
          </a:prstGeom>
          <a:solidFill>
            <a:srgbClr val="F0E6E8"/>
          </a:solidFill>
          <a:ln w="13970">
            <a:solidFill>
              <a:srgbClr val="7A1322"/>
            </a:solidFill>
            <a:prstDash val="solid"/>
          </a:ln>
        </p:spPr>
      </p:sp>
      <p:sp>
        <p:nvSpPr>
          <p:cNvPr id="5" name="Text 3"/>
          <p:cNvSpPr txBox="1"/>
          <p:nvPr/>
        </p:nvSpPr>
        <p:spPr>
          <a:xfrm>
            <a:off x="384048" y="969264"/>
            <a:ext cx="1353312" cy="603504"/>
          </a:xfrm>
          <a:prstGeom prst="rect">
            <a:avLst/>
          </a:prstGeom>
          <a:noFill/>
          <a:ln/>
        </p:spPr>
        <p:txBody>
          <a:bodyPr wrap="square" rtlCol="0" anchor="ctr"/>
          <a:lstStyle/>
          <a:p>
            <a:pPr marL="0" indent="0" algn="ctr">
              <a:buNone/>
            </a:pPr>
            <a:r>
              <a:rPr lang="en-US" sz="800" b="1" dirty="0">
                <a:solidFill>
                  <a:srgbClr val="1A1A1A"/>
                </a:solidFill>
                <a:latin typeface="Calibri" pitchFamily="34" charset="0"/>
                <a:ea typeface="Calibri" pitchFamily="34" charset="-122"/>
                <a:cs typeface="Calibri" pitchFamily="34" charset="-120"/>
              </a:rPr>
              <a:t>Oracle DB</a:t>
            </a:r>
            <a:endParaRPr lang="en-US" sz="800" dirty="0"/>
          </a:p>
          <a:p>
            <a:pPr marL="0" indent="0" algn="ctr">
              <a:buNone/>
            </a:pPr>
            <a:r>
              <a:rPr lang="en-US" sz="800" b="1" dirty="0">
                <a:solidFill>
                  <a:srgbClr val="1A1A1A"/>
                </a:solidFill>
                <a:latin typeface="Calibri" pitchFamily="34" charset="0"/>
                <a:ea typeface="Calibri" pitchFamily="34" charset="-122"/>
                <a:cs typeface="Calibri" pitchFamily="34" charset="-120"/>
              </a:rPr>
              <a:t>+ Stored Procedure</a:t>
            </a:r>
            <a:endParaRPr lang="en-US" sz="800" dirty="0"/>
          </a:p>
        </p:txBody>
      </p:sp>
      <p:sp>
        <p:nvSpPr>
          <p:cNvPr id="6" name="Shape 4"/>
          <p:cNvSpPr/>
          <p:nvPr/>
        </p:nvSpPr>
        <p:spPr>
          <a:xfrm>
            <a:off x="1792224" y="1271016"/>
            <a:ext cx="438912" cy="0"/>
          </a:xfrm>
          <a:prstGeom prst="line">
            <a:avLst/>
          </a:prstGeom>
          <a:noFill/>
          <a:ln w="16510">
            <a:solidFill>
              <a:srgbClr val="000000"/>
            </a:solidFill>
            <a:prstDash val="solid"/>
          </a:ln>
        </p:spPr>
      </p:sp>
      <p:sp>
        <p:nvSpPr>
          <p:cNvPr id="7" name="Shape 5"/>
          <p:cNvSpPr/>
          <p:nvPr/>
        </p:nvSpPr>
        <p:spPr>
          <a:xfrm rot="5400000">
            <a:off x="2231136" y="1239012"/>
            <a:ext cx="91440" cy="64008"/>
          </a:xfrm>
          <a:prstGeom prst="triangle">
            <a:avLst/>
          </a:prstGeom>
          <a:solidFill>
            <a:srgbClr val="000000"/>
          </a:solidFill>
          <a:ln w="12700">
            <a:solidFill>
              <a:srgbClr val="000000"/>
            </a:solidFill>
            <a:prstDash val="solid"/>
          </a:ln>
        </p:spPr>
      </p:sp>
      <p:sp>
        <p:nvSpPr>
          <p:cNvPr id="8" name="Text 6"/>
          <p:cNvSpPr txBox="1"/>
          <p:nvPr/>
        </p:nvSpPr>
        <p:spPr>
          <a:xfrm>
            <a:off x="1737360" y="1005840"/>
            <a:ext cx="621792" cy="274320"/>
          </a:xfrm>
          <a:prstGeom prst="rect">
            <a:avLst/>
          </a:prstGeom>
          <a:noFill/>
          <a:ln/>
        </p:spPr>
        <p:txBody>
          <a:bodyPr wrap="square" rtlCol="0" anchor="ctr"/>
          <a:lstStyle/>
          <a:p>
            <a:pPr marL="0" indent="0" algn="ctr">
              <a:buNone/>
            </a:pPr>
            <a:r>
              <a:rPr lang="en-US" sz="700" i="1" dirty="0">
                <a:solidFill>
                  <a:srgbClr val="6B6B6B"/>
                </a:solidFill>
                <a:latin typeface="Calibri" pitchFamily="34" charset="0"/>
                <a:ea typeface="Calibri" pitchFamily="34" charset="-122"/>
                <a:cs typeface="Calibri" pitchFamily="34" charset="-120"/>
              </a:rPr>
              <a:t>SQL</a:t>
            </a:r>
            <a:endParaRPr lang="en-US" sz="700" dirty="0"/>
          </a:p>
          <a:p>
            <a:pPr marL="0" indent="0" algn="ctr">
              <a:buNone/>
            </a:pPr>
            <a:r>
              <a:rPr lang="en-US" sz="700" i="1" dirty="0">
                <a:solidFill>
                  <a:srgbClr val="6B6B6B"/>
                </a:solidFill>
                <a:latin typeface="Calibri" pitchFamily="34" charset="0"/>
                <a:ea typeface="Calibri" pitchFamily="34" charset="-122"/>
                <a:cs typeface="Calibri" pitchFamily="34" charset="-120"/>
              </a:rPr>
              <a:t>extract</a:t>
            </a:r>
            <a:endParaRPr lang="en-US" sz="700" dirty="0"/>
          </a:p>
        </p:txBody>
      </p:sp>
      <p:sp>
        <p:nvSpPr>
          <p:cNvPr id="9" name="Shape 7"/>
          <p:cNvSpPr/>
          <p:nvPr/>
        </p:nvSpPr>
        <p:spPr>
          <a:xfrm>
            <a:off x="2322576" y="969264"/>
            <a:ext cx="1463040" cy="603504"/>
          </a:xfrm>
          <a:prstGeom prst="rect">
            <a:avLst/>
          </a:prstGeom>
          <a:solidFill>
            <a:srgbClr val="F4F4F4"/>
          </a:solidFill>
          <a:ln w="13970">
            <a:solidFill>
              <a:srgbClr val="C8C8C8"/>
            </a:solidFill>
            <a:prstDash val="solid"/>
          </a:ln>
        </p:spPr>
      </p:sp>
      <p:sp>
        <p:nvSpPr>
          <p:cNvPr id="10" name="Text 8"/>
          <p:cNvSpPr txBox="1"/>
          <p:nvPr/>
        </p:nvSpPr>
        <p:spPr>
          <a:xfrm>
            <a:off x="2377440" y="969264"/>
            <a:ext cx="1353312" cy="603504"/>
          </a:xfrm>
          <a:prstGeom prst="rect">
            <a:avLst/>
          </a:prstGeom>
          <a:noFill/>
          <a:ln/>
        </p:spPr>
        <p:txBody>
          <a:bodyPr wrap="square" rtlCol="0" anchor="ctr"/>
          <a:lstStyle/>
          <a:p>
            <a:pPr marL="0" indent="0" algn="ctr">
              <a:buNone/>
            </a:pPr>
            <a:r>
              <a:rPr lang="en-US" sz="750" b="1" dirty="0">
                <a:solidFill>
                  <a:srgbClr val="1A1A1A"/>
                </a:solidFill>
                <a:latin typeface="Calibri" pitchFamily="34" charset="0"/>
                <a:ea typeface="Calibri" pitchFamily="34" charset="-122"/>
                <a:cs typeface="Calibri" pitchFamily="34" charset="-120"/>
              </a:rPr>
              <a:t>RCS</a:t>
            </a:r>
            <a:endParaRPr lang="en-US" sz="750" dirty="0"/>
          </a:p>
          <a:p>
            <a:pPr marL="0" indent="0" algn="ctr">
              <a:buNone/>
            </a:pPr>
            <a:r>
              <a:rPr lang="en-US" sz="750" b="1" dirty="0">
                <a:solidFill>
                  <a:srgbClr val="1A1A1A"/>
                </a:solidFill>
                <a:latin typeface="Calibri" pitchFamily="34" charset="0"/>
                <a:ea typeface="Calibri" pitchFamily="34" charset="-122"/>
                <a:cs typeface="Calibri" pitchFamily="34" charset="-120"/>
              </a:rPr>
              <a:t>(Remote Connector</a:t>
            </a:r>
            <a:endParaRPr lang="en-US" sz="750" dirty="0"/>
          </a:p>
          <a:p>
            <a:pPr marL="0" indent="0" algn="ctr">
              <a:buNone/>
            </a:pPr>
            <a:r>
              <a:rPr lang="en-US" sz="750" b="1" dirty="0">
                <a:solidFill>
                  <a:srgbClr val="1A1A1A"/>
                </a:solidFill>
                <a:latin typeface="Calibri" pitchFamily="34" charset="0"/>
                <a:ea typeface="Calibri" pitchFamily="34" charset="-122"/>
                <a:cs typeface="Calibri" pitchFamily="34" charset="-120"/>
              </a:rPr>
              <a:t>Server)</a:t>
            </a:r>
            <a:endParaRPr lang="en-US" sz="750" dirty="0"/>
          </a:p>
        </p:txBody>
      </p:sp>
      <p:sp>
        <p:nvSpPr>
          <p:cNvPr id="11" name="Shape 9"/>
          <p:cNvSpPr/>
          <p:nvPr/>
        </p:nvSpPr>
        <p:spPr>
          <a:xfrm>
            <a:off x="3785616" y="1271016"/>
            <a:ext cx="438912" cy="0"/>
          </a:xfrm>
          <a:prstGeom prst="line">
            <a:avLst/>
          </a:prstGeom>
          <a:noFill/>
          <a:ln w="16510">
            <a:solidFill>
              <a:srgbClr val="000000"/>
            </a:solidFill>
            <a:prstDash val="solid"/>
          </a:ln>
        </p:spPr>
      </p:sp>
      <p:sp>
        <p:nvSpPr>
          <p:cNvPr id="12" name="Shape 10"/>
          <p:cNvSpPr/>
          <p:nvPr/>
        </p:nvSpPr>
        <p:spPr>
          <a:xfrm rot="5400000">
            <a:off x="4224528" y="1239012"/>
            <a:ext cx="91440" cy="64008"/>
          </a:xfrm>
          <a:prstGeom prst="triangle">
            <a:avLst/>
          </a:prstGeom>
          <a:solidFill>
            <a:srgbClr val="000000"/>
          </a:solidFill>
          <a:ln w="12700">
            <a:solidFill>
              <a:srgbClr val="000000"/>
            </a:solidFill>
            <a:prstDash val="solid"/>
          </a:ln>
        </p:spPr>
      </p:sp>
      <p:sp>
        <p:nvSpPr>
          <p:cNvPr id="13" name="Text 11"/>
          <p:cNvSpPr txBox="1"/>
          <p:nvPr/>
        </p:nvSpPr>
        <p:spPr>
          <a:xfrm>
            <a:off x="3730752" y="1005840"/>
            <a:ext cx="640080" cy="274320"/>
          </a:xfrm>
          <a:prstGeom prst="rect">
            <a:avLst/>
          </a:prstGeom>
          <a:noFill/>
          <a:ln/>
        </p:spPr>
        <p:txBody>
          <a:bodyPr wrap="square" rtlCol="0" anchor="ctr"/>
          <a:lstStyle/>
          <a:p>
            <a:pPr marL="0" indent="0" algn="ctr">
              <a:buNone/>
            </a:pPr>
            <a:r>
              <a:rPr lang="en-US" sz="700" i="1" dirty="0">
                <a:solidFill>
                  <a:srgbClr val="6B6B6B"/>
                </a:solidFill>
                <a:latin typeface="Calibri" pitchFamily="34" charset="0"/>
                <a:ea typeface="Calibri" pitchFamily="34" charset="-122"/>
                <a:cs typeface="Calibri" pitchFamily="34" charset="-120"/>
              </a:rPr>
              <a:t>bulk</a:t>
            </a:r>
            <a:endParaRPr lang="en-US" sz="700" dirty="0"/>
          </a:p>
          <a:p>
            <a:pPr marL="0" indent="0" algn="ctr">
              <a:buNone/>
            </a:pPr>
            <a:r>
              <a:rPr lang="en-US" sz="700" i="1" dirty="0">
                <a:solidFill>
                  <a:srgbClr val="6B6B6B"/>
                </a:solidFill>
                <a:latin typeface="Calibri" pitchFamily="34" charset="0"/>
                <a:ea typeface="Calibri" pitchFamily="34" charset="-122"/>
                <a:cs typeface="Calibri" pitchFamily="34" charset="-120"/>
              </a:rPr>
              <a:t>result set</a:t>
            </a:r>
            <a:endParaRPr lang="en-US" sz="700" dirty="0"/>
          </a:p>
        </p:txBody>
      </p:sp>
      <p:sp>
        <p:nvSpPr>
          <p:cNvPr id="14" name="Shape 12"/>
          <p:cNvSpPr/>
          <p:nvPr/>
        </p:nvSpPr>
        <p:spPr>
          <a:xfrm>
            <a:off x="4315968" y="969264"/>
            <a:ext cx="1920240" cy="603504"/>
          </a:xfrm>
          <a:prstGeom prst="rect">
            <a:avLst/>
          </a:prstGeom>
          <a:solidFill>
            <a:srgbClr val="EAF2FB"/>
          </a:solidFill>
          <a:ln w="13970">
            <a:solidFill>
              <a:srgbClr val="2471A3"/>
            </a:solidFill>
            <a:prstDash val="solid"/>
          </a:ln>
        </p:spPr>
      </p:sp>
      <p:sp>
        <p:nvSpPr>
          <p:cNvPr id="15" name="Text 13"/>
          <p:cNvSpPr txBox="1"/>
          <p:nvPr/>
        </p:nvSpPr>
        <p:spPr>
          <a:xfrm>
            <a:off x="4370832" y="969264"/>
            <a:ext cx="1810512" cy="603504"/>
          </a:xfrm>
          <a:prstGeom prst="rect">
            <a:avLst/>
          </a:prstGeom>
          <a:noFill/>
          <a:ln/>
        </p:spPr>
        <p:txBody>
          <a:bodyPr wrap="square" rtlCol="0" anchor="ctr"/>
          <a:lstStyle/>
          <a:p>
            <a:pPr marL="0" indent="0" algn="ctr">
              <a:buNone/>
            </a:pPr>
            <a:r>
              <a:rPr lang="en-US" sz="800" b="1" dirty="0">
                <a:solidFill>
                  <a:srgbClr val="1A1A1A"/>
                </a:solidFill>
                <a:latin typeface="Calibri" pitchFamily="34" charset="0"/>
                <a:ea typeface="Calibri" pitchFamily="34" charset="-122"/>
                <a:cs typeface="Calibri" pitchFamily="34" charset="-120"/>
              </a:rPr>
              <a:t>Custom SQL Connector</a:t>
            </a:r>
            <a:endParaRPr lang="en-US" sz="800" dirty="0"/>
          </a:p>
          <a:p>
            <a:pPr marL="0" indent="0" algn="ctr">
              <a:buNone/>
            </a:pPr>
            <a:r>
              <a:rPr lang="en-US" sz="800" b="1" dirty="0">
                <a:solidFill>
                  <a:srgbClr val="1A1A1A"/>
                </a:solidFill>
                <a:latin typeface="Calibri" pitchFamily="34" charset="0"/>
                <a:ea typeface="Calibri" pitchFamily="34" charset="-122"/>
                <a:cs typeface="Calibri" pitchFamily="34" charset="-120"/>
              </a:rPr>
              <a:t>(Groovy scripts)</a:t>
            </a:r>
            <a:endParaRPr lang="en-US" sz="800" dirty="0"/>
          </a:p>
        </p:txBody>
      </p:sp>
      <p:sp>
        <p:nvSpPr>
          <p:cNvPr id="16" name="Shape 14"/>
          <p:cNvSpPr/>
          <p:nvPr/>
        </p:nvSpPr>
        <p:spPr>
          <a:xfrm>
            <a:off x="6236208" y="1271016"/>
            <a:ext cx="438912" cy="0"/>
          </a:xfrm>
          <a:prstGeom prst="line">
            <a:avLst/>
          </a:prstGeom>
          <a:noFill/>
          <a:ln w="16510">
            <a:solidFill>
              <a:srgbClr val="000000"/>
            </a:solidFill>
            <a:prstDash val="solid"/>
          </a:ln>
        </p:spPr>
      </p:sp>
      <p:sp>
        <p:nvSpPr>
          <p:cNvPr id="17" name="Shape 15"/>
          <p:cNvSpPr/>
          <p:nvPr/>
        </p:nvSpPr>
        <p:spPr>
          <a:xfrm rot="5400000">
            <a:off x="6675120" y="1239012"/>
            <a:ext cx="91440" cy="64008"/>
          </a:xfrm>
          <a:prstGeom prst="triangle">
            <a:avLst/>
          </a:prstGeom>
          <a:solidFill>
            <a:srgbClr val="000000"/>
          </a:solidFill>
          <a:ln w="12700">
            <a:solidFill>
              <a:srgbClr val="000000"/>
            </a:solidFill>
            <a:prstDash val="solid"/>
          </a:ln>
        </p:spPr>
      </p:sp>
      <p:sp>
        <p:nvSpPr>
          <p:cNvPr id="18" name="Text 16"/>
          <p:cNvSpPr txBox="1"/>
          <p:nvPr/>
        </p:nvSpPr>
        <p:spPr>
          <a:xfrm>
            <a:off x="6181344" y="694944"/>
            <a:ext cx="658368" cy="274320"/>
          </a:xfrm>
          <a:prstGeom prst="rect">
            <a:avLst/>
          </a:prstGeom>
          <a:noFill/>
          <a:ln/>
        </p:spPr>
        <p:txBody>
          <a:bodyPr wrap="square" rtlCol="0" anchor="ctr"/>
          <a:lstStyle/>
          <a:p>
            <a:pPr marL="0" indent="0" algn="ctr">
              <a:buNone/>
            </a:pPr>
            <a:r>
              <a:rPr lang="en-US" sz="700" i="1" dirty="0">
                <a:solidFill>
                  <a:srgbClr val="6B6B6B"/>
                </a:solidFill>
                <a:latin typeface="Calibri" pitchFamily="34" charset="0"/>
                <a:ea typeface="Calibri" pitchFamily="34" charset="-122"/>
                <a:cs typeface="Calibri" pitchFamily="34" charset="-120"/>
              </a:rPr>
              <a:t>mapped</a:t>
            </a:r>
            <a:endParaRPr lang="en-US" sz="700" dirty="0"/>
          </a:p>
          <a:p>
            <a:pPr marL="0" indent="0" algn="ctr">
              <a:buNone/>
            </a:pPr>
            <a:r>
              <a:rPr lang="en-US" sz="700" i="1" dirty="0">
                <a:solidFill>
                  <a:srgbClr val="6B6B6B"/>
                </a:solidFill>
                <a:latin typeface="Calibri" pitchFamily="34" charset="0"/>
                <a:ea typeface="Calibri" pitchFamily="34" charset="-122"/>
                <a:cs typeface="Calibri" pitchFamily="34" charset="-120"/>
              </a:rPr>
              <a:t>objects</a:t>
            </a:r>
            <a:endParaRPr lang="en-US" sz="700" dirty="0"/>
          </a:p>
        </p:txBody>
      </p:sp>
      <p:sp>
        <p:nvSpPr>
          <p:cNvPr id="19" name="Shape 17"/>
          <p:cNvSpPr/>
          <p:nvPr/>
        </p:nvSpPr>
        <p:spPr>
          <a:xfrm>
            <a:off x="6949440" y="969264"/>
            <a:ext cx="1645920" cy="603504"/>
          </a:xfrm>
          <a:prstGeom prst="rect">
            <a:avLst/>
          </a:prstGeom>
          <a:solidFill>
            <a:srgbClr val="F0E6E8"/>
          </a:solidFill>
          <a:ln w="13970">
            <a:solidFill>
              <a:srgbClr val="7A1322"/>
            </a:solidFill>
            <a:prstDash val="solid"/>
          </a:ln>
        </p:spPr>
      </p:sp>
      <p:sp>
        <p:nvSpPr>
          <p:cNvPr id="20" name="Text 18"/>
          <p:cNvSpPr txBox="1"/>
          <p:nvPr/>
        </p:nvSpPr>
        <p:spPr>
          <a:xfrm>
            <a:off x="7004304" y="969264"/>
            <a:ext cx="1536192" cy="603504"/>
          </a:xfrm>
          <a:prstGeom prst="rect">
            <a:avLst/>
          </a:prstGeom>
          <a:noFill/>
          <a:ln/>
        </p:spPr>
        <p:txBody>
          <a:bodyPr wrap="square" rtlCol="0" anchor="ctr"/>
          <a:lstStyle/>
          <a:p>
            <a:pPr marL="0" indent="0" algn="ctr">
              <a:buNone/>
            </a:pPr>
            <a:r>
              <a:rPr lang="en-US" sz="800" b="1" dirty="0">
                <a:solidFill>
                  <a:srgbClr val="1A1A1A"/>
                </a:solidFill>
                <a:latin typeface="Calibri" pitchFamily="34" charset="0"/>
                <a:ea typeface="Calibri" pitchFamily="34" charset="-122"/>
                <a:cs typeface="Calibri" pitchFamily="34" charset="-120"/>
              </a:rPr>
              <a:t>Ping AIC</a:t>
            </a:r>
            <a:endParaRPr lang="en-US" sz="800" dirty="0"/>
          </a:p>
          <a:p>
            <a:pPr marL="0" indent="0" algn="ctr">
              <a:buNone/>
            </a:pPr>
            <a:r>
              <a:rPr lang="en-US" sz="800" b="1" dirty="0">
                <a:solidFill>
                  <a:srgbClr val="1A1A1A"/>
                </a:solidFill>
                <a:latin typeface="Calibri" pitchFamily="34" charset="0"/>
                <a:ea typeface="Calibri" pitchFamily="34" charset="-122"/>
                <a:cs typeface="Calibri" pitchFamily="34" charset="-120"/>
              </a:rPr>
              <a:t>(reconciliation)</a:t>
            </a:r>
            <a:endParaRPr lang="en-US" sz="800" dirty="0"/>
          </a:p>
        </p:txBody>
      </p:sp>
      <p:sp>
        <p:nvSpPr>
          <p:cNvPr id="21" name="Shape 19"/>
          <p:cNvSpPr/>
          <p:nvPr/>
        </p:nvSpPr>
        <p:spPr>
          <a:xfrm>
            <a:off x="8975033" y="969264"/>
            <a:ext cx="2340864" cy="603504"/>
          </a:xfrm>
          <a:prstGeom prst="rect">
            <a:avLst/>
          </a:prstGeom>
          <a:solidFill>
            <a:srgbClr val="FFFBE6"/>
          </a:solidFill>
          <a:ln w="11430">
            <a:solidFill>
              <a:srgbClr val="C8A800"/>
            </a:solidFill>
            <a:prstDash val="solid"/>
          </a:ln>
        </p:spPr>
      </p:sp>
      <p:sp>
        <p:nvSpPr>
          <p:cNvPr id="22" name="Text 20"/>
          <p:cNvSpPr txBox="1"/>
          <p:nvPr/>
        </p:nvSpPr>
        <p:spPr>
          <a:xfrm>
            <a:off x="9175804" y="974433"/>
            <a:ext cx="3547872" cy="201168"/>
          </a:xfrm>
          <a:prstGeom prst="rect">
            <a:avLst/>
          </a:prstGeom>
          <a:noFill/>
          <a:ln/>
        </p:spPr>
        <p:txBody>
          <a:bodyPr wrap="square" rtlCol="0" anchor="ctr"/>
          <a:lstStyle/>
          <a:p>
            <a:pPr marL="0" indent="0">
              <a:buNone/>
            </a:pPr>
            <a:r>
              <a:rPr lang="en-US" sz="850" b="1" dirty="0">
                <a:solidFill>
                  <a:srgbClr val="7A5800"/>
                </a:solidFill>
                <a:latin typeface="Calibri" pitchFamily="34" charset="0"/>
                <a:ea typeface="Calibri" pitchFamily="34" charset="-122"/>
                <a:cs typeface="Calibri" pitchFamily="34" charset="-120"/>
              </a:rPr>
              <a:t>Groovy files required</a:t>
            </a:r>
            <a:endParaRPr lang="en-US" sz="850" dirty="0"/>
          </a:p>
        </p:txBody>
      </p:sp>
      <p:sp>
        <p:nvSpPr>
          <p:cNvPr id="23" name="Text 21"/>
          <p:cNvSpPr txBox="1"/>
          <p:nvPr/>
        </p:nvSpPr>
        <p:spPr>
          <a:xfrm>
            <a:off x="9076415" y="1207008"/>
            <a:ext cx="2413221" cy="219456"/>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Connector Groovy scripts must be written,</a:t>
            </a:r>
            <a:endParaRPr lang="en-US" sz="800" dirty="0"/>
          </a:p>
          <a:p>
            <a:pPr marL="0" indent="0">
              <a:buNone/>
            </a:pPr>
            <a:r>
              <a:rPr lang="en-US" sz="800" dirty="0">
                <a:solidFill>
                  <a:srgbClr val="1A1A1A"/>
                </a:solidFill>
                <a:latin typeface="Calibri" pitchFamily="34" charset="0"/>
                <a:ea typeface="Calibri" pitchFamily="34" charset="-122"/>
                <a:cs typeface="Calibri" pitchFamily="34" charset="-120"/>
              </a:rPr>
              <a:t>tested, and maintained throughout the</a:t>
            </a:r>
            <a:endParaRPr lang="en-US" sz="800" dirty="0"/>
          </a:p>
          <a:p>
            <a:pPr marL="0" indent="0">
              <a:buNone/>
            </a:pPr>
            <a:r>
              <a:rPr lang="en-US" sz="800" dirty="0">
                <a:solidFill>
                  <a:srgbClr val="1A1A1A"/>
                </a:solidFill>
                <a:latin typeface="Calibri" pitchFamily="34" charset="0"/>
                <a:ea typeface="Calibri" pitchFamily="34" charset="-122"/>
                <a:cs typeface="Calibri" pitchFamily="34" charset="-120"/>
              </a:rPr>
              <a:t>migration lifecycle alongside Oracle procedure.</a:t>
            </a:r>
            <a:endParaRPr lang="en-US" sz="800" dirty="0"/>
          </a:p>
        </p:txBody>
      </p:sp>
      <p:sp>
        <p:nvSpPr>
          <p:cNvPr id="24" name="Shape 22"/>
          <p:cNvSpPr/>
          <p:nvPr/>
        </p:nvSpPr>
        <p:spPr>
          <a:xfrm>
            <a:off x="329184" y="1773936"/>
            <a:ext cx="1828800" cy="329184"/>
          </a:xfrm>
          <a:prstGeom prst="rect">
            <a:avLst/>
          </a:prstGeom>
          <a:solidFill>
            <a:srgbClr val="1E1E2E"/>
          </a:solidFill>
          <a:ln w="5080">
            <a:solidFill>
              <a:srgbClr val="1E1E2E"/>
            </a:solidFill>
            <a:prstDash val="solid"/>
          </a:ln>
        </p:spPr>
      </p:sp>
      <p:sp>
        <p:nvSpPr>
          <p:cNvPr id="25" name="Text 23"/>
          <p:cNvSpPr txBox="1"/>
          <p:nvPr/>
        </p:nvSpPr>
        <p:spPr>
          <a:xfrm>
            <a:off x="384048" y="1773936"/>
            <a:ext cx="1737360" cy="329184"/>
          </a:xfrm>
          <a:prstGeom prst="rect">
            <a:avLst/>
          </a:prstGeom>
          <a:noFill/>
          <a:ln/>
        </p:spPr>
        <p:txBody>
          <a:bodyPr wrap="square" rtlCol="0" anchor="ctr"/>
          <a:lstStyle/>
          <a:p>
            <a:pPr marL="0" indent="0" algn="ctr">
              <a:buNone/>
            </a:pPr>
            <a:endParaRPr lang="en-US" sz="1000" dirty="0"/>
          </a:p>
        </p:txBody>
      </p:sp>
      <p:sp>
        <p:nvSpPr>
          <p:cNvPr id="26" name="Shape 24"/>
          <p:cNvSpPr/>
          <p:nvPr/>
        </p:nvSpPr>
        <p:spPr>
          <a:xfrm>
            <a:off x="2157984" y="1773936"/>
            <a:ext cx="9692640" cy="329184"/>
          </a:xfrm>
          <a:prstGeom prst="rect">
            <a:avLst/>
          </a:prstGeom>
          <a:solidFill>
            <a:srgbClr val="1E1E2E"/>
          </a:solidFill>
          <a:ln w="5080">
            <a:solidFill>
              <a:srgbClr val="1E1E2E"/>
            </a:solidFill>
            <a:prstDash val="solid"/>
          </a:ln>
        </p:spPr>
      </p:sp>
      <p:sp>
        <p:nvSpPr>
          <p:cNvPr id="27" name="Text 25"/>
          <p:cNvSpPr txBox="1"/>
          <p:nvPr/>
        </p:nvSpPr>
        <p:spPr>
          <a:xfrm>
            <a:off x="2212848" y="1773936"/>
            <a:ext cx="960120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Details</a:t>
            </a:r>
            <a:endParaRPr lang="en-US" sz="1000" dirty="0"/>
          </a:p>
        </p:txBody>
      </p:sp>
      <p:sp>
        <p:nvSpPr>
          <p:cNvPr id="28" name="Shape 26"/>
          <p:cNvSpPr/>
          <p:nvPr/>
        </p:nvSpPr>
        <p:spPr>
          <a:xfrm>
            <a:off x="329184" y="2103120"/>
            <a:ext cx="1828800" cy="822960"/>
          </a:xfrm>
          <a:prstGeom prst="rect">
            <a:avLst/>
          </a:prstGeom>
          <a:solidFill>
            <a:srgbClr val="FFFFFF"/>
          </a:solidFill>
          <a:ln w="6350">
            <a:solidFill>
              <a:srgbClr val="C8C8C8"/>
            </a:solidFill>
            <a:prstDash val="solid"/>
          </a:ln>
        </p:spPr>
      </p:sp>
      <p:sp>
        <p:nvSpPr>
          <p:cNvPr id="29" name="Text 27"/>
          <p:cNvSpPr txBox="1"/>
          <p:nvPr/>
        </p:nvSpPr>
        <p:spPr>
          <a:xfrm>
            <a:off x="420624" y="2103120"/>
            <a:ext cx="1682496" cy="822960"/>
          </a:xfrm>
          <a:prstGeom prst="rect">
            <a:avLst/>
          </a:prstGeom>
          <a:noFill/>
          <a:ln/>
        </p:spPr>
        <p:txBody>
          <a:bodyPr wrap="square" rtlCol="0" anchor="ctr"/>
          <a:lstStyle/>
          <a:p>
            <a:pPr marL="0" indent="0">
              <a:buNone/>
            </a:pPr>
            <a:r>
              <a:rPr lang="en-US" sz="1000" b="1" dirty="0">
                <a:solidFill>
                  <a:srgbClr val="1A5E30"/>
                </a:solidFill>
                <a:latin typeface="Calibri" pitchFamily="34" charset="0"/>
                <a:ea typeface="Calibri" pitchFamily="34" charset="-122"/>
                <a:cs typeface="Calibri" pitchFamily="34" charset="-120"/>
              </a:rPr>
              <a:t>Pros</a:t>
            </a:r>
            <a:endParaRPr lang="en-US" sz="1000" dirty="0"/>
          </a:p>
        </p:txBody>
      </p:sp>
      <p:sp>
        <p:nvSpPr>
          <p:cNvPr id="30" name="Shape 28"/>
          <p:cNvSpPr/>
          <p:nvPr/>
        </p:nvSpPr>
        <p:spPr>
          <a:xfrm>
            <a:off x="2157984" y="2103120"/>
            <a:ext cx="9692640" cy="822960"/>
          </a:xfrm>
          <a:prstGeom prst="rect">
            <a:avLst/>
          </a:prstGeom>
          <a:solidFill>
            <a:srgbClr val="FFFFFF"/>
          </a:solidFill>
          <a:ln w="6350">
            <a:solidFill>
              <a:srgbClr val="C8C8C8"/>
            </a:solidFill>
            <a:prstDash val="solid"/>
          </a:ln>
        </p:spPr>
      </p:sp>
      <p:sp>
        <p:nvSpPr>
          <p:cNvPr id="31" name="Text 29"/>
          <p:cNvSpPr txBox="1"/>
          <p:nvPr/>
        </p:nvSpPr>
        <p:spPr>
          <a:xfrm>
            <a:off x="2249424" y="2157984"/>
            <a:ext cx="9528048" cy="731520"/>
          </a:xfrm>
          <a:prstGeom prst="rect">
            <a:avLst/>
          </a:prstGeom>
          <a:noFill/>
          <a:ln/>
        </p:spPr>
        <p:txBody>
          <a:bodyPr wrap="square" lIns="0" tIns="0" rIns="0" bIns="0" rtlCol="0" anchor="t"/>
          <a:lstStyle/>
          <a:p>
            <a:pPr>
              <a:spcAft>
                <a:spcPts val="200"/>
              </a:spcAft>
            </a:pPr>
            <a:r>
              <a:rPr lang="en-US" sz="950" dirty="0">
                <a:solidFill>
                  <a:srgbClr val="1A1A1A"/>
                </a:solidFill>
                <a:latin typeface="Calibri" pitchFamily="34" charset="0"/>
                <a:ea typeface="Calibri" pitchFamily="34" charset="-122"/>
                <a:cs typeface="Calibri" pitchFamily="34" charset="-120"/>
              </a:rPr>
              <a:t>Complex Oracle joins and transformation logic stay close to the data source.</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Connector and AIC roles are lightweight — less AIC-side scripting complexity.</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Procedure output can be shaped exactly to connector expectations.</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SQL Explain Plan can validate bulk performance before migration runs.</a:t>
            </a:r>
            <a:endParaRPr lang="en-US" sz="950" dirty="0"/>
          </a:p>
        </p:txBody>
      </p:sp>
      <p:sp>
        <p:nvSpPr>
          <p:cNvPr id="32" name="Shape 30"/>
          <p:cNvSpPr/>
          <p:nvPr/>
        </p:nvSpPr>
        <p:spPr>
          <a:xfrm>
            <a:off x="329184" y="2926080"/>
            <a:ext cx="1828800" cy="982980"/>
          </a:xfrm>
          <a:prstGeom prst="rect">
            <a:avLst/>
          </a:prstGeom>
          <a:solidFill>
            <a:srgbClr val="F4F4F4"/>
          </a:solidFill>
          <a:ln w="6350">
            <a:solidFill>
              <a:srgbClr val="C8C8C8"/>
            </a:solidFill>
            <a:prstDash val="solid"/>
          </a:ln>
        </p:spPr>
      </p:sp>
      <p:sp>
        <p:nvSpPr>
          <p:cNvPr id="33" name="Text 31"/>
          <p:cNvSpPr txBox="1"/>
          <p:nvPr/>
        </p:nvSpPr>
        <p:spPr>
          <a:xfrm>
            <a:off x="420624" y="2926080"/>
            <a:ext cx="1682496" cy="982980"/>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Cons</a:t>
            </a:r>
            <a:endParaRPr lang="en-US" sz="1000" dirty="0"/>
          </a:p>
        </p:txBody>
      </p:sp>
      <p:sp>
        <p:nvSpPr>
          <p:cNvPr id="34" name="Shape 32"/>
          <p:cNvSpPr/>
          <p:nvPr/>
        </p:nvSpPr>
        <p:spPr>
          <a:xfrm>
            <a:off x="2157984" y="2926080"/>
            <a:ext cx="9692640" cy="982980"/>
          </a:xfrm>
          <a:prstGeom prst="rect">
            <a:avLst/>
          </a:prstGeom>
          <a:solidFill>
            <a:srgbClr val="F4F4F4"/>
          </a:solidFill>
          <a:ln w="6350">
            <a:solidFill>
              <a:srgbClr val="C8C8C8"/>
            </a:solidFill>
            <a:prstDash val="solid"/>
          </a:ln>
        </p:spPr>
      </p:sp>
      <p:sp>
        <p:nvSpPr>
          <p:cNvPr id="35" name="Text 33"/>
          <p:cNvSpPr txBox="1"/>
          <p:nvPr/>
        </p:nvSpPr>
        <p:spPr>
          <a:xfrm>
            <a:off x="2249424" y="2980944"/>
            <a:ext cx="9528048" cy="891540"/>
          </a:xfrm>
          <a:prstGeom prst="rect">
            <a:avLst/>
          </a:prstGeom>
          <a:noFill/>
          <a:ln/>
        </p:spPr>
        <p:txBody>
          <a:bodyPr wrap="square" lIns="0" tIns="0" rIns="0" bIns="0" rtlCol="0" anchor="t"/>
          <a:lstStyle/>
          <a:p>
            <a:pPr>
              <a:spcAft>
                <a:spcPts val="200"/>
              </a:spcAft>
            </a:pPr>
            <a:r>
              <a:rPr lang="en-US" sz="950" dirty="0">
                <a:solidFill>
                  <a:srgbClr val="1A1A1A"/>
                </a:solidFill>
                <a:latin typeface="Calibri" pitchFamily="34" charset="0"/>
                <a:ea typeface="Calibri" pitchFamily="34" charset="-122"/>
                <a:cs typeface="Calibri" pitchFamily="34" charset="-120"/>
              </a:rPr>
              <a:t>Requires MUFG DBA capacity for procedure development, testing, and deployment through release gates.</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Groovy connector scripts must be authored and maintained as a parallel artefact.</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Transformation is split — changes require coordination across Oracle procedure AND Ping AIC scripts.</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Stored procedure is temporary and must be formally retired post-migration.</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End-to-end performance testing still required at production volume.</a:t>
            </a:r>
            <a:endParaRPr lang="en-US" sz="950" dirty="0"/>
          </a:p>
        </p:txBody>
      </p:sp>
      <p:sp>
        <p:nvSpPr>
          <p:cNvPr id="36" name="Shape 34"/>
          <p:cNvSpPr/>
          <p:nvPr/>
        </p:nvSpPr>
        <p:spPr>
          <a:xfrm>
            <a:off x="329184" y="4073652"/>
            <a:ext cx="11521440" cy="475488"/>
          </a:xfrm>
          <a:prstGeom prst="rect">
            <a:avLst/>
          </a:prstGeom>
          <a:solidFill>
            <a:srgbClr val="F4F4F4"/>
          </a:solidFill>
          <a:ln w="10160">
            <a:solidFill>
              <a:srgbClr val="C8C8C8"/>
            </a:solidFill>
            <a:prstDash val="solid"/>
          </a:ln>
        </p:spPr>
      </p:sp>
      <p:sp>
        <p:nvSpPr>
          <p:cNvPr id="37" name="Text 35"/>
          <p:cNvSpPr txBox="1"/>
          <p:nvPr/>
        </p:nvSpPr>
        <p:spPr>
          <a:xfrm>
            <a:off x="475488" y="4110228"/>
            <a:ext cx="11301984" cy="402336"/>
          </a:xfrm>
          <a:prstGeom prst="rect">
            <a:avLst/>
          </a:prstGeom>
          <a:noFill/>
          <a:ln/>
        </p:spPr>
        <p:txBody>
          <a:bodyPr wrap="square" rtlCol="0" anchor="ctr"/>
          <a:lstStyle/>
          <a:p>
            <a:pPr marL="0" indent="0">
              <a:buNone/>
            </a:pPr>
            <a:r>
              <a:rPr lang="en-US" sz="950" b="1" dirty="0">
                <a:solidFill>
                  <a:srgbClr val="7A1322"/>
                </a:solidFill>
                <a:latin typeface="Calibri" pitchFamily="34" charset="0"/>
                <a:ea typeface="Calibri" pitchFamily="34" charset="-122"/>
                <a:cs typeface="Calibri" pitchFamily="34" charset="-120"/>
              </a:rPr>
              <a:t>Best when:  </a:t>
            </a:r>
            <a:r>
              <a:rPr lang="en-US" sz="950" dirty="0">
                <a:solidFill>
                  <a:srgbClr val="1A1A1A"/>
                </a:solidFill>
                <a:latin typeface="Calibri" pitchFamily="34" charset="0"/>
                <a:ea typeface="Calibri" pitchFamily="34" charset="-122"/>
                <a:cs typeface="Calibri" pitchFamily="34" charset="-120"/>
              </a:rPr>
              <a:t>MUFG prefers DB-side transformation ownership, DBA capacity is available, and the team is comfortable maintaining Groovy connector scripts alongside the Oracle procedure.</a:t>
            </a:r>
            <a:endParaRPr lang="en-US" sz="950" dirty="0"/>
          </a:p>
        </p:txBody>
      </p:sp>
      <p:sp>
        <p:nvSpPr>
          <p:cNvPr id="38" name="Text 36"/>
          <p:cNvSpPr txBox="1"/>
          <p:nvPr/>
        </p:nvSpPr>
        <p:spPr>
          <a:xfrm>
            <a:off x="329184" y="4640580"/>
            <a:ext cx="8229600" cy="219456"/>
          </a:xfrm>
          <a:prstGeom prst="rect">
            <a:avLst/>
          </a:prstGeom>
          <a:noFill/>
          <a:ln/>
        </p:spPr>
        <p:txBody>
          <a:bodyPr wrap="square" rtlCol="0" anchor="ctr"/>
          <a:lstStyle/>
          <a:p>
            <a:pPr marL="0" indent="0">
              <a:buNone/>
            </a:pPr>
            <a:r>
              <a:rPr lang="en-US" sz="950" b="1" dirty="0">
                <a:solidFill>
                  <a:srgbClr val="7A1322"/>
                </a:solidFill>
                <a:latin typeface="Calibri" pitchFamily="34" charset="0"/>
                <a:ea typeface="Calibri" pitchFamily="34" charset="-122"/>
                <a:cs typeface="Calibri" pitchFamily="34" charset="-120"/>
              </a:rPr>
              <a:t>Pre-requisites before Option 1 can begin:</a:t>
            </a:r>
            <a:endParaRPr lang="en-US" sz="950" dirty="0"/>
          </a:p>
        </p:txBody>
      </p:sp>
      <p:sp>
        <p:nvSpPr>
          <p:cNvPr id="39" name="Text 37"/>
          <p:cNvSpPr txBox="1"/>
          <p:nvPr/>
        </p:nvSpPr>
        <p:spPr>
          <a:xfrm>
            <a:off x="329184" y="4896612"/>
            <a:ext cx="11521440" cy="914400"/>
          </a:xfrm>
          <a:prstGeom prst="rect">
            <a:avLst/>
          </a:prstGeom>
          <a:noFill/>
          <a:ln/>
        </p:spPr>
        <p:txBody>
          <a:bodyPr wrap="square" lIns="25400" tIns="25400" rIns="25400" bIns="25400" rtlCol="0" anchor="t"/>
          <a:lstStyle/>
          <a:p>
            <a:pPr>
              <a:spcAft>
                <a:spcPts val="300"/>
              </a:spcAft>
            </a:pPr>
            <a:r>
              <a:rPr lang="en-US" sz="950" dirty="0">
                <a:solidFill>
                  <a:srgbClr val="1A1A1A"/>
                </a:solidFill>
                <a:latin typeface="Calibri" pitchFamily="34" charset="0"/>
                <a:ea typeface="Calibri" pitchFamily="34" charset="-122"/>
                <a:cs typeface="Calibri" pitchFamily="34" charset="-120"/>
              </a:rPr>
              <a:t>MUFG DBA team available and allocated for procedure development, unit testing, and release management.</a:t>
            </a:r>
            <a:endParaRPr lang="en-US" sz="950" dirty="0"/>
          </a:p>
          <a:p>
            <a:pPr>
              <a:spcAft>
                <a:spcPts val="300"/>
              </a:spcAft>
            </a:pPr>
            <a:r>
              <a:rPr lang="en-US" sz="950" dirty="0">
                <a:solidFill>
                  <a:srgbClr val="1A1A1A"/>
                </a:solidFill>
                <a:latin typeface="Calibri" pitchFamily="34" charset="0"/>
                <a:ea typeface="Calibri" pitchFamily="34" charset="-122"/>
                <a:cs typeface="Calibri" pitchFamily="34" charset="-120"/>
              </a:rPr>
              <a:t>Groovy connector script scope defined: object types covered, field mapping rules agreed, and test data available.</a:t>
            </a:r>
            <a:endParaRPr lang="en-US" sz="950" dirty="0"/>
          </a:p>
          <a:p>
            <a:pPr>
              <a:spcAft>
                <a:spcPts val="300"/>
              </a:spcAft>
            </a:pPr>
            <a:r>
              <a:rPr lang="en-US" sz="950" dirty="0">
                <a:solidFill>
                  <a:srgbClr val="1A1A1A"/>
                </a:solidFill>
                <a:latin typeface="Calibri" pitchFamily="34" charset="0"/>
                <a:ea typeface="Calibri" pitchFamily="34" charset="-122"/>
                <a:cs typeface="Calibri" pitchFamily="34" charset="-120"/>
              </a:rPr>
              <a:t>Performance baseline: SQL Explain Plan reviewed for bulk result set at production data volume before connector build.</a:t>
            </a:r>
            <a:endParaRPr lang="en-US" sz="950" dirty="0"/>
          </a:p>
          <a:p>
            <a:pPr>
              <a:spcAft>
                <a:spcPts val="300"/>
              </a:spcAft>
            </a:pPr>
            <a:r>
              <a:rPr lang="en-US" sz="950" dirty="0">
                <a:solidFill>
                  <a:srgbClr val="1A1A1A"/>
                </a:solidFill>
                <a:latin typeface="Calibri" pitchFamily="34" charset="0"/>
                <a:ea typeface="Calibri" pitchFamily="34" charset="-122"/>
                <a:cs typeface="Calibri" pitchFamily="34" charset="-120"/>
              </a:rPr>
              <a:t>Transformation ownership boundaries documented: clear split between Oracle procedure scope and Ping AIC mapping scope.</a:t>
            </a:r>
            <a:endParaRPr lang="en-US" sz="950" dirty="0"/>
          </a:p>
        </p:txBody>
      </p:sp>
      <p:sp>
        <p:nvSpPr>
          <p:cNvPr id="40" name="Text 38"/>
          <p:cNvSpPr txBox="1"/>
          <p:nvPr/>
        </p:nvSpPr>
        <p:spPr>
          <a:xfrm>
            <a:off x="329184" y="6675120"/>
            <a:ext cx="8229600" cy="128016"/>
          </a:xfrm>
          <a:prstGeom prst="rect">
            <a:avLst/>
          </a:prstGeom>
          <a:noFill/>
          <a:ln/>
        </p:spPr>
        <p:txBody>
          <a:bodyPr wrap="square" rtlCol="0" anchor="ctr"/>
          <a:lstStyle/>
          <a:p>
            <a:pPr marL="0" indent="0">
              <a:buNone/>
            </a:pPr>
            <a:r>
              <a:rPr lang="en-US" sz="700" i="1" dirty="0">
                <a:solidFill>
                  <a:srgbClr val="C8C8C8"/>
                </a:solidFill>
                <a:latin typeface="Calibri" pitchFamily="34" charset="0"/>
                <a:ea typeface="Calibri" pitchFamily="34" charset="-122"/>
                <a:cs typeface="Calibri" pitchFamily="34" charset="-120"/>
              </a:rPr>
              <a:t>MUFG / Ping AIC Oracle Migration — Objective and Options</a:t>
            </a:r>
            <a:endParaRPr lang="en-US" sz="700" dirty="0"/>
          </a:p>
        </p:txBody>
      </p:sp>
      <p:sp>
        <p:nvSpPr>
          <p:cNvPr id="41" name="Text 39"/>
          <p:cNvSpPr txBox="1"/>
          <p:nvPr/>
        </p:nvSpPr>
        <p:spPr>
          <a:xfrm>
            <a:off x="8686800" y="6675120"/>
            <a:ext cx="3163824" cy="128016"/>
          </a:xfrm>
          <a:prstGeom prst="rect">
            <a:avLst/>
          </a:prstGeom>
          <a:noFill/>
          <a:ln/>
        </p:spPr>
        <p:txBody>
          <a:bodyPr wrap="square" rtlCol="0" anchor="ctr"/>
          <a:lstStyle/>
          <a:p>
            <a:pPr marL="0" indent="0" algn="r">
              <a:buNone/>
            </a:pPr>
            <a:r>
              <a:rPr lang="en-US" sz="700" i="1" dirty="0">
                <a:solidFill>
                  <a:srgbClr val="C8C8C8"/>
                </a:solidFill>
                <a:latin typeface="Calibri" pitchFamily="34" charset="0"/>
                <a:ea typeface="Calibri" pitchFamily="34" charset="-122"/>
                <a:cs typeface="Calibri" pitchFamily="34" charset="-120"/>
              </a:rPr>
              <a:t>Slide 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29184" y="91440"/>
            <a:ext cx="11521440" cy="438912"/>
          </a:xfrm>
          <a:prstGeom prst="rect">
            <a:avLst/>
          </a:prstGeom>
          <a:noFill/>
          <a:ln/>
        </p:spPr>
        <p:txBody>
          <a:bodyPr wrap="square" rtlCol="0" anchor="ctr"/>
          <a:lstStyle/>
          <a:p>
            <a:pPr marL="0" indent="0" algn="l">
              <a:buNone/>
            </a:pPr>
            <a:r>
              <a:rPr lang="en-US" sz="2400" b="1" dirty="0">
                <a:solidFill>
                  <a:srgbClr val="7A1322"/>
                </a:solidFill>
                <a:latin typeface="Calibri" pitchFamily="34" charset="0"/>
                <a:ea typeface="Calibri" pitchFamily="34" charset="-122"/>
                <a:cs typeface="Calibri" pitchFamily="34" charset="-120"/>
              </a:rPr>
              <a:t>5. Option 2 — Oracle View with Out-of-Box Connector</a:t>
            </a:r>
            <a:endParaRPr lang="en-US" sz="2400" dirty="0"/>
          </a:p>
        </p:txBody>
      </p:sp>
      <p:sp>
        <p:nvSpPr>
          <p:cNvPr id="3" name="Text 1"/>
          <p:cNvSpPr txBox="1"/>
          <p:nvPr/>
        </p:nvSpPr>
        <p:spPr>
          <a:xfrm>
            <a:off x="329184" y="446468"/>
            <a:ext cx="11521440" cy="201168"/>
          </a:xfrm>
          <a:prstGeom prst="rect">
            <a:avLst/>
          </a:prstGeom>
          <a:noFill/>
          <a:ln/>
        </p:spPr>
        <p:txBody>
          <a:bodyPr wrap="square" rtlCol="0" anchor="ctr"/>
          <a:lstStyle/>
          <a:p>
            <a:pPr marL="0" indent="0" algn="l">
              <a:buNone/>
            </a:pPr>
            <a:r>
              <a:rPr lang="en-US" sz="1000" i="1" dirty="0">
                <a:solidFill>
                  <a:srgbClr val="6B6B6B"/>
                </a:solidFill>
                <a:latin typeface="Calibri" pitchFamily="34" charset="0"/>
                <a:ea typeface="Calibri" pitchFamily="34" charset="-122"/>
                <a:cs typeface="Calibri" pitchFamily="34" charset="-120"/>
              </a:rPr>
              <a:t>MUFG exposes an Oracle view; Ping IDM out-of-box SQL connector retrieves data; AIC handles full transformation</a:t>
            </a:r>
            <a:endParaRPr lang="en-US" sz="1000" dirty="0"/>
          </a:p>
        </p:txBody>
      </p:sp>
      <p:sp>
        <p:nvSpPr>
          <p:cNvPr id="4" name="Shape 2"/>
          <p:cNvSpPr/>
          <p:nvPr/>
        </p:nvSpPr>
        <p:spPr>
          <a:xfrm>
            <a:off x="329184" y="969264"/>
            <a:ext cx="1463040" cy="603504"/>
          </a:xfrm>
          <a:prstGeom prst="rect">
            <a:avLst/>
          </a:prstGeom>
          <a:solidFill>
            <a:srgbClr val="F0E6E8"/>
          </a:solidFill>
          <a:ln w="13970">
            <a:solidFill>
              <a:srgbClr val="7A1322"/>
            </a:solidFill>
            <a:prstDash val="solid"/>
          </a:ln>
        </p:spPr>
      </p:sp>
      <p:sp>
        <p:nvSpPr>
          <p:cNvPr id="5" name="Text 3"/>
          <p:cNvSpPr txBox="1"/>
          <p:nvPr/>
        </p:nvSpPr>
        <p:spPr>
          <a:xfrm>
            <a:off x="384048" y="969264"/>
            <a:ext cx="1353312" cy="603504"/>
          </a:xfrm>
          <a:prstGeom prst="rect">
            <a:avLst/>
          </a:prstGeom>
          <a:noFill/>
          <a:ln/>
        </p:spPr>
        <p:txBody>
          <a:bodyPr wrap="square" rtlCol="0" anchor="ctr"/>
          <a:lstStyle/>
          <a:p>
            <a:pPr marL="0" indent="0" algn="ctr">
              <a:buNone/>
            </a:pPr>
            <a:r>
              <a:rPr lang="en-US" sz="800" b="1" dirty="0">
                <a:solidFill>
                  <a:srgbClr val="1A1A1A"/>
                </a:solidFill>
                <a:latin typeface="Calibri" pitchFamily="34" charset="0"/>
                <a:ea typeface="Calibri" pitchFamily="34" charset="-122"/>
                <a:cs typeface="Calibri" pitchFamily="34" charset="-120"/>
              </a:rPr>
              <a:t>Oracle DB</a:t>
            </a:r>
            <a:endParaRPr lang="en-US" sz="800" dirty="0"/>
          </a:p>
          <a:p>
            <a:pPr marL="0" indent="0" algn="ctr">
              <a:buNone/>
            </a:pPr>
            <a:r>
              <a:rPr lang="en-US" sz="800" b="1" dirty="0">
                <a:solidFill>
                  <a:srgbClr val="1A1A1A"/>
                </a:solidFill>
                <a:latin typeface="Calibri" pitchFamily="34" charset="0"/>
                <a:ea typeface="Calibri" pitchFamily="34" charset="-122"/>
                <a:cs typeface="Calibri" pitchFamily="34" charset="-120"/>
              </a:rPr>
              <a:t>+ View</a:t>
            </a:r>
            <a:endParaRPr lang="en-US" sz="800" dirty="0"/>
          </a:p>
        </p:txBody>
      </p:sp>
      <p:sp>
        <p:nvSpPr>
          <p:cNvPr id="6" name="Shape 4"/>
          <p:cNvSpPr/>
          <p:nvPr/>
        </p:nvSpPr>
        <p:spPr>
          <a:xfrm>
            <a:off x="1792224" y="1271016"/>
            <a:ext cx="438912" cy="0"/>
          </a:xfrm>
          <a:prstGeom prst="line">
            <a:avLst/>
          </a:prstGeom>
          <a:noFill/>
          <a:ln w="16510">
            <a:solidFill>
              <a:srgbClr val="000000"/>
            </a:solidFill>
            <a:prstDash val="solid"/>
          </a:ln>
        </p:spPr>
      </p:sp>
      <p:sp>
        <p:nvSpPr>
          <p:cNvPr id="7" name="Shape 5"/>
          <p:cNvSpPr/>
          <p:nvPr/>
        </p:nvSpPr>
        <p:spPr>
          <a:xfrm rot="5400000">
            <a:off x="2231136" y="1239012"/>
            <a:ext cx="91440" cy="64008"/>
          </a:xfrm>
          <a:prstGeom prst="triangle">
            <a:avLst/>
          </a:prstGeom>
          <a:solidFill>
            <a:srgbClr val="000000"/>
          </a:solidFill>
          <a:ln w="12700">
            <a:solidFill>
              <a:srgbClr val="000000"/>
            </a:solidFill>
            <a:prstDash val="solid"/>
          </a:ln>
        </p:spPr>
      </p:sp>
      <p:sp>
        <p:nvSpPr>
          <p:cNvPr id="8" name="Text 6"/>
          <p:cNvSpPr txBox="1"/>
          <p:nvPr/>
        </p:nvSpPr>
        <p:spPr>
          <a:xfrm>
            <a:off x="1737360" y="1005840"/>
            <a:ext cx="621792" cy="274320"/>
          </a:xfrm>
          <a:prstGeom prst="rect">
            <a:avLst/>
          </a:prstGeom>
          <a:noFill/>
          <a:ln/>
        </p:spPr>
        <p:txBody>
          <a:bodyPr wrap="square" rtlCol="0" anchor="ctr"/>
          <a:lstStyle/>
          <a:p>
            <a:pPr marL="0" indent="0" algn="ctr">
              <a:buNone/>
            </a:pPr>
            <a:r>
              <a:rPr lang="en-US" sz="700" i="1" dirty="0">
                <a:solidFill>
                  <a:srgbClr val="6B6B6B"/>
                </a:solidFill>
                <a:latin typeface="Calibri" pitchFamily="34" charset="0"/>
                <a:ea typeface="Calibri" pitchFamily="34" charset="-122"/>
                <a:cs typeface="Calibri" pitchFamily="34" charset="-120"/>
              </a:rPr>
              <a:t>view</a:t>
            </a:r>
            <a:endParaRPr lang="en-US" sz="700" dirty="0"/>
          </a:p>
          <a:p>
            <a:pPr marL="0" indent="0" algn="ctr">
              <a:buNone/>
            </a:pPr>
            <a:r>
              <a:rPr lang="en-US" sz="700" i="1" dirty="0">
                <a:solidFill>
                  <a:srgbClr val="6B6B6B"/>
                </a:solidFill>
                <a:latin typeface="Calibri" pitchFamily="34" charset="0"/>
                <a:ea typeface="Calibri" pitchFamily="34" charset="-122"/>
                <a:cs typeface="Calibri" pitchFamily="34" charset="-120"/>
              </a:rPr>
              <a:t>output</a:t>
            </a:r>
            <a:endParaRPr lang="en-US" sz="700" dirty="0"/>
          </a:p>
        </p:txBody>
      </p:sp>
      <p:sp>
        <p:nvSpPr>
          <p:cNvPr id="9" name="Shape 7"/>
          <p:cNvSpPr/>
          <p:nvPr/>
        </p:nvSpPr>
        <p:spPr>
          <a:xfrm>
            <a:off x="2322576" y="969264"/>
            <a:ext cx="1463040" cy="603504"/>
          </a:xfrm>
          <a:prstGeom prst="rect">
            <a:avLst/>
          </a:prstGeom>
          <a:solidFill>
            <a:srgbClr val="F4F4F4"/>
          </a:solidFill>
          <a:ln w="13970">
            <a:solidFill>
              <a:srgbClr val="C8C8C8"/>
            </a:solidFill>
            <a:prstDash val="solid"/>
          </a:ln>
        </p:spPr>
      </p:sp>
      <p:sp>
        <p:nvSpPr>
          <p:cNvPr id="10" name="Text 8"/>
          <p:cNvSpPr txBox="1"/>
          <p:nvPr/>
        </p:nvSpPr>
        <p:spPr>
          <a:xfrm>
            <a:off x="2377440" y="969264"/>
            <a:ext cx="1353312" cy="603504"/>
          </a:xfrm>
          <a:prstGeom prst="rect">
            <a:avLst/>
          </a:prstGeom>
          <a:noFill/>
          <a:ln/>
        </p:spPr>
        <p:txBody>
          <a:bodyPr wrap="square" rtlCol="0" anchor="ctr"/>
          <a:lstStyle/>
          <a:p>
            <a:pPr marL="0" indent="0" algn="ctr">
              <a:buNone/>
            </a:pPr>
            <a:r>
              <a:rPr lang="en-US" sz="750" b="1" dirty="0">
                <a:solidFill>
                  <a:srgbClr val="1A1A1A"/>
                </a:solidFill>
                <a:latin typeface="Calibri" pitchFamily="34" charset="0"/>
                <a:ea typeface="Calibri" pitchFamily="34" charset="-122"/>
                <a:cs typeface="Calibri" pitchFamily="34" charset="-120"/>
              </a:rPr>
              <a:t>RCS</a:t>
            </a:r>
            <a:endParaRPr lang="en-US" sz="750" dirty="0"/>
          </a:p>
          <a:p>
            <a:pPr marL="0" indent="0" algn="ctr">
              <a:buNone/>
            </a:pPr>
            <a:r>
              <a:rPr lang="en-US" sz="750" b="1" dirty="0">
                <a:solidFill>
                  <a:srgbClr val="1A1A1A"/>
                </a:solidFill>
                <a:latin typeface="Calibri" pitchFamily="34" charset="0"/>
                <a:ea typeface="Calibri" pitchFamily="34" charset="-122"/>
                <a:cs typeface="Calibri" pitchFamily="34" charset="-120"/>
              </a:rPr>
              <a:t>(Remote Connector</a:t>
            </a:r>
            <a:endParaRPr lang="en-US" sz="750" dirty="0"/>
          </a:p>
          <a:p>
            <a:pPr marL="0" indent="0" algn="ctr">
              <a:buNone/>
            </a:pPr>
            <a:r>
              <a:rPr lang="en-US" sz="750" b="1" dirty="0">
                <a:solidFill>
                  <a:srgbClr val="1A1A1A"/>
                </a:solidFill>
                <a:latin typeface="Calibri" pitchFamily="34" charset="0"/>
                <a:ea typeface="Calibri" pitchFamily="34" charset="-122"/>
                <a:cs typeface="Calibri" pitchFamily="34" charset="-120"/>
              </a:rPr>
              <a:t>Server)</a:t>
            </a:r>
            <a:endParaRPr lang="en-US" sz="750" dirty="0"/>
          </a:p>
        </p:txBody>
      </p:sp>
      <p:sp>
        <p:nvSpPr>
          <p:cNvPr id="11" name="Shape 9"/>
          <p:cNvSpPr/>
          <p:nvPr/>
        </p:nvSpPr>
        <p:spPr>
          <a:xfrm>
            <a:off x="3785616" y="1271016"/>
            <a:ext cx="438912" cy="0"/>
          </a:xfrm>
          <a:prstGeom prst="line">
            <a:avLst/>
          </a:prstGeom>
          <a:noFill/>
          <a:ln w="16510">
            <a:solidFill>
              <a:srgbClr val="000000"/>
            </a:solidFill>
            <a:prstDash val="solid"/>
          </a:ln>
        </p:spPr>
      </p:sp>
      <p:sp>
        <p:nvSpPr>
          <p:cNvPr id="12" name="Shape 10"/>
          <p:cNvSpPr/>
          <p:nvPr/>
        </p:nvSpPr>
        <p:spPr>
          <a:xfrm rot="5400000">
            <a:off x="4224528" y="1239012"/>
            <a:ext cx="91440" cy="64008"/>
          </a:xfrm>
          <a:prstGeom prst="triangle">
            <a:avLst/>
          </a:prstGeom>
          <a:solidFill>
            <a:srgbClr val="000000"/>
          </a:solidFill>
          <a:ln w="12700">
            <a:solidFill>
              <a:srgbClr val="000000"/>
            </a:solidFill>
            <a:prstDash val="solid"/>
          </a:ln>
        </p:spPr>
      </p:sp>
      <p:sp>
        <p:nvSpPr>
          <p:cNvPr id="13" name="Text 11"/>
          <p:cNvSpPr txBox="1"/>
          <p:nvPr/>
        </p:nvSpPr>
        <p:spPr>
          <a:xfrm>
            <a:off x="3730752" y="1005840"/>
            <a:ext cx="640080" cy="274320"/>
          </a:xfrm>
          <a:prstGeom prst="rect">
            <a:avLst/>
          </a:prstGeom>
          <a:noFill/>
          <a:ln/>
        </p:spPr>
        <p:txBody>
          <a:bodyPr wrap="square" rtlCol="0" anchor="ctr"/>
          <a:lstStyle/>
          <a:p>
            <a:pPr marL="0" indent="0" algn="ctr">
              <a:buNone/>
            </a:pPr>
            <a:r>
              <a:rPr lang="en-US" sz="700" i="1" dirty="0">
                <a:solidFill>
                  <a:srgbClr val="6B6B6B"/>
                </a:solidFill>
                <a:latin typeface="Calibri" pitchFamily="34" charset="0"/>
                <a:ea typeface="Calibri" pitchFamily="34" charset="-122"/>
                <a:cs typeface="Calibri" pitchFamily="34" charset="-120"/>
              </a:rPr>
              <a:t>bulk</a:t>
            </a:r>
            <a:endParaRPr lang="en-US" sz="700" dirty="0"/>
          </a:p>
          <a:p>
            <a:pPr marL="0" indent="0" algn="ctr">
              <a:buNone/>
            </a:pPr>
            <a:r>
              <a:rPr lang="en-US" sz="700" i="1" dirty="0">
                <a:solidFill>
                  <a:srgbClr val="6B6B6B"/>
                </a:solidFill>
                <a:latin typeface="Calibri" pitchFamily="34" charset="0"/>
                <a:ea typeface="Calibri" pitchFamily="34" charset="-122"/>
                <a:cs typeface="Calibri" pitchFamily="34" charset="-120"/>
              </a:rPr>
              <a:t>rows</a:t>
            </a:r>
            <a:endParaRPr lang="en-US" sz="700" dirty="0"/>
          </a:p>
        </p:txBody>
      </p:sp>
      <p:sp>
        <p:nvSpPr>
          <p:cNvPr id="14" name="Shape 12"/>
          <p:cNvSpPr/>
          <p:nvPr/>
        </p:nvSpPr>
        <p:spPr>
          <a:xfrm>
            <a:off x="4315968" y="969264"/>
            <a:ext cx="2103120" cy="603504"/>
          </a:xfrm>
          <a:prstGeom prst="rect">
            <a:avLst/>
          </a:prstGeom>
          <a:solidFill>
            <a:srgbClr val="EAF2FB"/>
          </a:solidFill>
          <a:ln w="13970">
            <a:solidFill>
              <a:srgbClr val="2471A3"/>
            </a:solidFill>
            <a:prstDash val="solid"/>
          </a:ln>
        </p:spPr>
      </p:sp>
      <p:sp>
        <p:nvSpPr>
          <p:cNvPr id="15" name="Text 13"/>
          <p:cNvSpPr txBox="1"/>
          <p:nvPr/>
        </p:nvSpPr>
        <p:spPr>
          <a:xfrm>
            <a:off x="4370832" y="969264"/>
            <a:ext cx="1993392" cy="603504"/>
          </a:xfrm>
          <a:prstGeom prst="rect">
            <a:avLst/>
          </a:prstGeom>
          <a:noFill/>
          <a:ln/>
        </p:spPr>
        <p:txBody>
          <a:bodyPr wrap="square" rtlCol="0" anchor="ctr"/>
          <a:lstStyle/>
          <a:p>
            <a:pPr marL="0" indent="0" algn="ctr">
              <a:buNone/>
            </a:pPr>
            <a:r>
              <a:rPr lang="en-US" sz="800" b="1" dirty="0">
                <a:solidFill>
                  <a:srgbClr val="1A1A1A"/>
                </a:solidFill>
                <a:latin typeface="Calibri" pitchFamily="34" charset="0"/>
                <a:ea typeface="Calibri" pitchFamily="34" charset="-122"/>
                <a:cs typeface="Calibri" pitchFamily="34" charset="-120"/>
              </a:rPr>
              <a:t>Out-of-Box SQL Connector</a:t>
            </a:r>
            <a:endParaRPr lang="en-US" sz="800" dirty="0"/>
          </a:p>
          <a:p>
            <a:pPr marL="0" indent="0" algn="ctr">
              <a:buNone/>
            </a:pPr>
            <a:r>
              <a:rPr lang="en-US" sz="800" b="1" dirty="0">
                <a:solidFill>
                  <a:srgbClr val="1A1A1A"/>
                </a:solidFill>
                <a:latin typeface="Calibri" pitchFamily="34" charset="0"/>
                <a:ea typeface="Calibri" pitchFamily="34" charset="-122"/>
                <a:cs typeface="Calibri" pitchFamily="34" charset="-120"/>
              </a:rPr>
              <a:t>(Ping IDM native)</a:t>
            </a:r>
            <a:endParaRPr lang="en-US" sz="800" dirty="0"/>
          </a:p>
        </p:txBody>
      </p:sp>
      <p:sp>
        <p:nvSpPr>
          <p:cNvPr id="16" name="Shape 14"/>
          <p:cNvSpPr/>
          <p:nvPr/>
        </p:nvSpPr>
        <p:spPr>
          <a:xfrm>
            <a:off x="6488661" y="1271016"/>
            <a:ext cx="438912" cy="0"/>
          </a:xfrm>
          <a:prstGeom prst="line">
            <a:avLst/>
          </a:prstGeom>
          <a:noFill/>
          <a:ln w="16510">
            <a:solidFill>
              <a:srgbClr val="000000"/>
            </a:solidFill>
            <a:prstDash val="solid"/>
          </a:ln>
        </p:spPr>
      </p:sp>
      <p:sp>
        <p:nvSpPr>
          <p:cNvPr id="17" name="Shape 15"/>
          <p:cNvSpPr/>
          <p:nvPr/>
        </p:nvSpPr>
        <p:spPr>
          <a:xfrm rot="5400000">
            <a:off x="6858000" y="1239012"/>
            <a:ext cx="91440" cy="64008"/>
          </a:xfrm>
          <a:prstGeom prst="triangle">
            <a:avLst/>
          </a:prstGeom>
          <a:solidFill>
            <a:srgbClr val="000000"/>
          </a:solidFill>
          <a:ln w="12700">
            <a:solidFill>
              <a:srgbClr val="000000"/>
            </a:solidFill>
            <a:prstDash val="solid"/>
          </a:ln>
        </p:spPr>
      </p:sp>
      <p:sp>
        <p:nvSpPr>
          <p:cNvPr id="18" name="Text 16"/>
          <p:cNvSpPr txBox="1"/>
          <p:nvPr/>
        </p:nvSpPr>
        <p:spPr>
          <a:xfrm>
            <a:off x="6364224" y="963297"/>
            <a:ext cx="658368" cy="274320"/>
          </a:xfrm>
          <a:prstGeom prst="rect">
            <a:avLst/>
          </a:prstGeom>
          <a:noFill/>
          <a:ln/>
        </p:spPr>
        <p:txBody>
          <a:bodyPr wrap="square" rtlCol="0" anchor="ctr"/>
          <a:lstStyle/>
          <a:p>
            <a:pPr marL="0" indent="0" algn="ctr">
              <a:buNone/>
            </a:pPr>
            <a:r>
              <a:rPr lang="en-US" sz="700" i="1" dirty="0">
                <a:solidFill>
                  <a:srgbClr val="6B6B6B"/>
                </a:solidFill>
                <a:latin typeface="Calibri" pitchFamily="34" charset="0"/>
                <a:ea typeface="Calibri" pitchFamily="34" charset="-122"/>
                <a:cs typeface="Calibri" pitchFamily="34" charset="-120"/>
              </a:rPr>
              <a:t>parsed &amp;</a:t>
            </a:r>
            <a:endParaRPr lang="en-US" sz="700" dirty="0"/>
          </a:p>
          <a:p>
            <a:pPr marL="0" indent="0" algn="ctr">
              <a:buNone/>
            </a:pPr>
            <a:r>
              <a:rPr lang="en-US" sz="700" i="1" dirty="0">
                <a:solidFill>
                  <a:srgbClr val="6B6B6B"/>
                </a:solidFill>
                <a:latin typeface="Calibri" pitchFamily="34" charset="0"/>
                <a:ea typeface="Calibri" pitchFamily="34" charset="-122"/>
                <a:cs typeface="Calibri" pitchFamily="34" charset="-120"/>
              </a:rPr>
              <a:t>mapped</a:t>
            </a:r>
            <a:endParaRPr lang="en-US" sz="700" dirty="0"/>
          </a:p>
        </p:txBody>
      </p:sp>
      <p:sp>
        <p:nvSpPr>
          <p:cNvPr id="19" name="Shape 17"/>
          <p:cNvSpPr/>
          <p:nvPr/>
        </p:nvSpPr>
        <p:spPr>
          <a:xfrm>
            <a:off x="7132320" y="969264"/>
            <a:ext cx="1737360" cy="603504"/>
          </a:xfrm>
          <a:prstGeom prst="rect">
            <a:avLst/>
          </a:prstGeom>
          <a:solidFill>
            <a:srgbClr val="F0E6E8"/>
          </a:solidFill>
          <a:ln w="13970">
            <a:solidFill>
              <a:srgbClr val="7A1322"/>
            </a:solidFill>
            <a:prstDash val="solid"/>
          </a:ln>
        </p:spPr>
      </p:sp>
      <p:sp>
        <p:nvSpPr>
          <p:cNvPr id="20" name="Text 18"/>
          <p:cNvSpPr txBox="1"/>
          <p:nvPr/>
        </p:nvSpPr>
        <p:spPr>
          <a:xfrm>
            <a:off x="6988404" y="969264"/>
            <a:ext cx="1627632" cy="603504"/>
          </a:xfrm>
          <a:prstGeom prst="rect">
            <a:avLst/>
          </a:prstGeom>
          <a:noFill/>
          <a:ln/>
        </p:spPr>
        <p:txBody>
          <a:bodyPr wrap="square" rtlCol="0" anchor="ctr"/>
          <a:lstStyle/>
          <a:p>
            <a:pPr marL="0" indent="0" algn="ctr">
              <a:buNone/>
            </a:pPr>
            <a:r>
              <a:rPr lang="en-US" sz="800" b="1" dirty="0">
                <a:solidFill>
                  <a:srgbClr val="1A1A1A"/>
                </a:solidFill>
                <a:latin typeface="Calibri" pitchFamily="34" charset="0"/>
                <a:ea typeface="Calibri" pitchFamily="34" charset="-122"/>
                <a:cs typeface="Calibri" pitchFamily="34" charset="-120"/>
              </a:rPr>
              <a:t>Ping AIC</a:t>
            </a:r>
            <a:endParaRPr lang="en-US" sz="800" dirty="0"/>
          </a:p>
          <a:p>
            <a:pPr marL="0" indent="0" algn="ctr">
              <a:buNone/>
            </a:pPr>
            <a:r>
              <a:rPr lang="en-US" sz="800" b="1" dirty="0">
                <a:solidFill>
                  <a:srgbClr val="1A1A1A"/>
                </a:solidFill>
                <a:latin typeface="Calibri" pitchFamily="34" charset="0"/>
                <a:ea typeface="Calibri" pitchFamily="34" charset="-122"/>
                <a:cs typeface="Calibri" pitchFamily="34" charset="-120"/>
              </a:rPr>
              <a:t>(full transform &amp; recon)</a:t>
            </a:r>
            <a:endParaRPr lang="en-US" sz="800" dirty="0"/>
          </a:p>
        </p:txBody>
      </p:sp>
      <p:sp>
        <p:nvSpPr>
          <p:cNvPr id="21" name="Shape 19"/>
          <p:cNvSpPr/>
          <p:nvPr/>
        </p:nvSpPr>
        <p:spPr>
          <a:xfrm>
            <a:off x="9462052" y="969264"/>
            <a:ext cx="2480012" cy="603504"/>
          </a:xfrm>
          <a:prstGeom prst="rect">
            <a:avLst/>
          </a:prstGeom>
          <a:solidFill>
            <a:srgbClr val="E8F5E9"/>
          </a:solidFill>
          <a:ln w="11430">
            <a:solidFill>
              <a:srgbClr val="2E7D32"/>
            </a:solidFill>
            <a:prstDash val="solid"/>
          </a:ln>
        </p:spPr>
      </p:sp>
      <p:sp>
        <p:nvSpPr>
          <p:cNvPr id="22" name="Text 20"/>
          <p:cNvSpPr txBox="1"/>
          <p:nvPr/>
        </p:nvSpPr>
        <p:spPr>
          <a:xfrm>
            <a:off x="9662816" y="994311"/>
            <a:ext cx="3090672" cy="201168"/>
          </a:xfrm>
          <a:prstGeom prst="rect">
            <a:avLst/>
          </a:prstGeom>
          <a:noFill/>
          <a:ln/>
        </p:spPr>
        <p:txBody>
          <a:bodyPr wrap="square" rtlCol="0" anchor="ctr"/>
          <a:lstStyle/>
          <a:p>
            <a:pPr marL="0" indent="0">
              <a:buNone/>
            </a:pPr>
            <a:r>
              <a:rPr lang="en-US" sz="850" b="1" dirty="0">
                <a:solidFill>
                  <a:srgbClr val="1A5E30"/>
                </a:solidFill>
                <a:latin typeface="Calibri" pitchFamily="34" charset="0"/>
                <a:ea typeface="Calibri" pitchFamily="34" charset="-122"/>
                <a:cs typeface="Calibri" pitchFamily="34" charset="-120"/>
              </a:rPr>
              <a:t>No custom connector build</a:t>
            </a:r>
            <a:endParaRPr lang="en-US" sz="850" dirty="0"/>
          </a:p>
        </p:txBody>
      </p:sp>
      <p:sp>
        <p:nvSpPr>
          <p:cNvPr id="23" name="Text 21"/>
          <p:cNvSpPr txBox="1"/>
          <p:nvPr/>
        </p:nvSpPr>
        <p:spPr>
          <a:xfrm>
            <a:off x="9612734" y="1207008"/>
            <a:ext cx="2683560" cy="347472"/>
          </a:xfrm>
          <a:prstGeom prst="rect">
            <a:avLst/>
          </a:prstGeom>
          <a:noFill/>
          <a:ln/>
        </p:spPr>
        <p:txBody>
          <a:bodyPr wrap="square" rtlCol="0" anchor="ctr"/>
          <a:lstStyle/>
          <a:p>
            <a:pPr marL="0" indent="0">
              <a:buNone/>
            </a:pPr>
            <a:r>
              <a:rPr lang="en-US" sz="800" dirty="0">
                <a:solidFill>
                  <a:srgbClr val="1A1A1A"/>
                </a:solidFill>
                <a:latin typeface="Calibri" pitchFamily="34" charset="0"/>
                <a:ea typeface="Calibri" pitchFamily="34" charset="-122"/>
                <a:cs typeface="Calibri" pitchFamily="34" charset="-120"/>
              </a:rPr>
              <a:t>Ping IDM out-of-box SQL connector is used</a:t>
            </a:r>
            <a:endParaRPr lang="en-US" sz="800" dirty="0"/>
          </a:p>
          <a:p>
            <a:pPr marL="0" indent="0">
              <a:buNone/>
            </a:pPr>
            <a:r>
              <a:rPr lang="en-US" sz="800" dirty="0">
                <a:solidFill>
                  <a:srgbClr val="1A1A1A"/>
                </a:solidFill>
                <a:latin typeface="Calibri" pitchFamily="34" charset="0"/>
                <a:ea typeface="Calibri" pitchFamily="34" charset="-122"/>
                <a:cs typeface="Calibri" pitchFamily="34" charset="-120"/>
              </a:rPr>
              <a:t>directly — no Groovy connector scripts.</a:t>
            </a:r>
            <a:endParaRPr lang="en-US" sz="800" dirty="0"/>
          </a:p>
          <a:p>
            <a:pPr marL="0" indent="0">
              <a:buNone/>
            </a:pPr>
            <a:r>
              <a:rPr lang="en-US" sz="800" dirty="0">
                <a:solidFill>
                  <a:srgbClr val="1A1A1A"/>
                </a:solidFill>
                <a:latin typeface="Calibri" pitchFamily="34" charset="0"/>
                <a:ea typeface="Calibri" pitchFamily="34" charset="-122"/>
                <a:cs typeface="Calibri" pitchFamily="34" charset="-120"/>
              </a:rPr>
              <a:t>Transformation handled entirely in Ping AIC.</a:t>
            </a:r>
            <a:endParaRPr lang="en-US" sz="800" dirty="0"/>
          </a:p>
        </p:txBody>
      </p:sp>
      <p:sp>
        <p:nvSpPr>
          <p:cNvPr id="24" name="Shape 22"/>
          <p:cNvSpPr/>
          <p:nvPr/>
        </p:nvSpPr>
        <p:spPr>
          <a:xfrm>
            <a:off x="329184" y="1773936"/>
            <a:ext cx="1828800" cy="329184"/>
          </a:xfrm>
          <a:prstGeom prst="rect">
            <a:avLst/>
          </a:prstGeom>
          <a:solidFill>
            <a:srgbClr val="1E1E2E"/>
          </a:solidFill>
          <a:ln w="5080">
            <a:solidFill>
              <a:srgbClr val="1E1E2E"/>
            </a:solidFill>
            <a:prstDash val="solid"/>
          </a:ln>
        </p:spPr>
      </p:sp>
      <p:sp>
        <p:nvSpPr>
          <p:cNvPr id="25" name="Text 23"/>
          <p:cNvSpPr txBox="1"/>
          <p:nvPr/>
        </p:nvSpPr>
        <p:spPr>
          <a:xfrm>
            <a:off x="384048" y="1773936"/>
            <a:ext cx="1737360" cy="329184"/>
          </a:xfrm>
          <a:prstGeom prst="rect">
            <a:avLst/>
          </a:prstGeom>
          <a:noFill/>
          <a:ln/>
        </p:spPr>
        <p:txBody>
          <a:bodyPr wrap="square" rtlCol="0" anchor="ctr"/>
          <a:lstStyle/>
          <a:p>
            <a:pPr marL="0" indent="0" algn="ctr">
              <a:buNone/>
            </a:pPr>
            <a:endParaRPr lang="en-US" sz="1000" dirty="0"/>
          </a:p>
        </p:txBody>
      </p:sp>
      <p:sp>
        <p:nvSpPr>
          <p:cNvPr id="26" name="Shape 24"/>
          <p:cNvSpPr/>
          <p:nvPr/>
        </p:nvSpPr>
        <p:spPr>
          <a:xfrm>
            <a:off x="2157984" y="1773936"/>
            <a:ext cx="9692640" cy="329184"/>
          </a:xfrm>
          <a:prstGeom prst="rect">
            <a:avLst/>
          </a:prstGeom>
          <a:solidFill>
            <a:srgbClr val="1E1E2E"/>
          </a:solidFill>
          <a:ln w="5080">
            <a:solidFill>
              <a:srgbClr val="1E1E2E"/>
            </a:solidFill>
            <a:prstDash val="solid"/>
          </a:ln>
        </p:spPr>
      </p:sp>
      <p:sp>
        <p:nvSpPr>
          <p:cNvPr id="27" name="Text 25"/>
          <p:cNvSpPr txBox="1"/>
          <p:nvPr/>
        </p:nvSpPr>
        <p:spPr>
          <a:xfrm>
            <a:off x="2212848" y="1773936"/>
            <a:ext cx="960120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Details</a:t>
            </a:r>
            <a:endParaRPr lang="en-US" sz="1000" dirty="0"/>
          </a:p>
        </p:txBody>
      </p:sp>
      <p:sp>
        <p:nvSpPr>
          <p:cNvPr id="28" name="Shape 26"/>
          <p:cNvSpPr/>
          <p:nvPr/>
        </p:nvSpPr>
        <p:spPr>
          <a:xfrm>
            <a:off x="329184" y="2103120"/>
            <a:ext cx="1828800" cy="982980"/>
          </a:xfrm>
          <a:prstGeom prst="rect">
            <a:avLst/>
          </a:prstGeom>
          <a:solidFill>
            <a:srgbClr val="FFFFFF"/>
          </a:solidFill>
          <a:ln w="6350">
            <a:solidFill>
              <a:srgbClr val="C8C8C8"/>
            </a:solidFill>
            <a:prstDash val="solid"/>
          </a:ln>
        </p:spPr>
      </p:sp>
      <p:sp>
        <p:nvSpPr>
          <p:cNvPr id="29" name="Text 27"/>
          <p:cNvSpPr txBox="1"/>
          <p:nvPr/>
        </p:nvSpPr>
        <p:spPr>
          <a:xfrm>
            <a:off x="420624" y="2103120"/>
            <a:ext cx="1682496" cy="982980"/>
          </a:xfrm>
          <a:prstGeom prst="rect">
            <a:avLst/>
          </a:prstGeom>
          <a:noFill/>
          <a:ln/>
        </p:spPr>
        <p:txBody>
          <a:bodyPr wrap="square" rtlCol="0" anchor="ctr"/>
          <a:lstStyle/>
          <a:p>
            <a:pPr marL="0" indent="0">
              <a:buNone/>
            </a:pPr>
            <a:r>
              <a:rPr lang="en-US" sz="1000" b="1" dirty="0">
                <a:solidFill>
                  <a:srgbClr val="1A5E30"/>
                </a:solidFill>
                <a:latin typeface="Calibri" pitchFamily="34" charset="0"/>
                <a:ea typeface="Calibri" pitchFamily="34" charset="-122"/>
                <a:cs typeface="Calibri" pitchFamily="34" charset="-120"/>
              </a:rPr>
              <a:t>Pros</a:t>
            </a:r>
            <a:endParaRPr lang="en-US" sz="1000" dirty="0"/>
          </a:p>
        </p:txBody>
      </p:sp>
      <p:sp>
        <p:nvSpPr>
          <p:cNvPr id="30" name="Shape 28"/>
          <p:cNvSpPr/>
          <p:nvPr/>
        </p:nvSpPr>
        <p:spPr>
          <a:xfrm>
            <a:off x="2157984" y="2103120"/>
            <a:ext cx="9692640" cy="982980"/>
          </a:xfrm>
          <a:prstGeom prst="rect">
            <a:avLst/>
          </a:prstGeom>
          <a:solidFill>
            <a:srgbClr val="FFFFFF"/>
          </a:solidFill>
          <a:ln w="6350">
            <a:solidFill>
              <a:srgbClr val="C8C8C8"/>
            </a:solidFill>
            <a:prstDash val="solid"/>
          </a:ln>
        </p:spPr>
      </p:sp>
      <p:sp>
        <p:nvSpPr>
          <p:cNvPr id="31" name="Text 29"/>
          <p:cNvSpPr txBox="1"/>
          <p:nvPr/>
        </p:nvSpPr>
        <p:spPr>
          <a:xfrm>
            <a:off x="2249424" y="2157984"/>
            <a:ext cx="9528048" cy="891540"/>
          </a:xfrm>
          <a:prstGeom prst="rect">
            <a:avLst/>
          </a:prstGeom>
          <a:noFill/>
          <a:ln/>
        </p:spPr>
        <p:txBody>
          <a:bodyPr wrap="square" lIns="0" tIns="0" rIns="0" bIns="0" rtlCol="0" anchor="t"/>
          <a:lstStyle/>
          <a:p>
            <a:pPr>
              <a:spcAft>
                <a:spcPts val="200"/>
              </a:spcAft>
            </a:pPr>
            <a:r>
              <a:rPr lang="en-US" sz="950" dirty="0">
                <a:solidFill>
                  <a:srgbClr val="1A1A1A"/>
                </a:solidFill>
                <a:latin typeface="Calibri" pitchFamily="34" charset="0"/>
                <a:ea typeface="Calibri" pitchFamily="34" charset="-122"/>
                <a:cs typeface="Calibri" pitchFamily="34" charset="-120"/>
              </a:rPr>
              <a:t>No custom connector development — out-of-box Ping IDM SQL connector reduces build and maintenance effort.</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Simpler Oracle interface — view design is lighter than a stored procedure with complex joins.</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Oracle query performance can be reviewed independently using Explain Plan.</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Transformation ownership is consolidated within Ping AIC — single team accountability.</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May be suitable for temporary coexistence if the complete process meets agreed acceptance criteria.</a:t>
            </a:r>
            <a:endParaRPr lang="en-US" sz="950" dirty="0"/>
          </a:p>
        </p:txBody>
      </p:sp>
      <p:sp>
        <p:nvSpPr>
          <p:cNvPr id="32" name="Shape 30"/>
          <p:cNvSpPr/>
          <p:nvPr/>
        </p:nvSpPr>
        <p:spPr>
          <a:xfrm>
            <a:off x="329184" y="3086100"/>
            <a:ext cx="1828800" cy="822960"/>
          </a:xfrm>
          <a:prstGeom prst="rect">
            <a:avLst/>
          </a:prstGeom>
          <a:solidFill>
            <a:srgbClr val="F4F4F4"/>
          </a:solidFill>
          <a:ln w="6350">
            <a:solidFill>
              <a:srgbClr val="C8C8C8"/>
            </a:solidFill>
            <a:prstDash val="solid"/>
          </a:ln>
        </p:spPr>
      </p:sp>
      <p:sp>
        <p:nvSpPr>
          <p:cNvPr id="33" name="Text 31"/>
          <p:cNvSpPr txBox="1"/>
          <p:nvPr/>
        </p:nvSpPr>
        <p:spPr>
          <a:xfrm>
            <a:off x="420624" y="3086100"/>
            <a:ext cx="1682496" cy="822960"/>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Cons</a:t>
            </a:r>
            <a:endParaRPr lang="en-US" sz="1000" dirty="0"/>
          </a:p>
        </p:txBody>
      </p:sp>
      <p:sp>
        <p:nvSpPr>
          <p:cNvPr id="34" name="Shape 32"/>
          <p:cNvSpPr/>
          <p:nvPr/>
        </p:nvSpPr>
        <p:spPr>
          <a:xfrm>
            <a:off x="2157984" y="3086100"/>
            <a:ext cx="9692640" cy="822960"/>
          </a:xfrm>
          <a:prstGeom prst="rect">
            <a:avLst/>
          </a:prstGeom>
          <a:solidFill>
            <a:srgbClr val="F4F4F4"/>
          </a:solidFill>
          <a:ln w="6350">
            <a:solidFill>
              <a:srgbClr val="C8C8C8"/>
            </a:solidFill>
            <a:prstDash val="solid"/>
          </a:ln>
        </p:spPr>
      </p:sp>
      <p:sp>
        <p:nvSpPr>
          <p:cNvPr id="35" name="Text 33"/>
          <p:cNvSpPr txBox="1"/>
          <p:nvPr/>
        </p:nvSpPr>
        <p:spPr>
          <a:xfrm>
            <a:off x="2249424" y="3140964"/>
            <a:ext cx="9528048" cy="731520"/>
          </a:xfrm>
          <a:prstGeom prst="rect">
            <a:avLst/>
          </a:prstGeom>
          <a:noFill/>
          <a:ln/>
        </p:spPr>
        <p:txBody>
          <a:bodyPr wrap="square" lIns="0" tIns="0" rIns="0" bIns="0" rtlCol="0" anchor="t"/>
          <a:lstStyle/>
          <a:p>
            <a:pPr>
              <a:spcAft>
                <a:spcPts val="200"/>
              </a:spcAft>
            </a:pPr>
            <a:r>
              <a:rPr lang="en-US" sz="950" dirty="0">
                <a:solidFill>
                  <a:srgbClr val="1A1A1A"/>
                </a:solidFill>
                <a:latin typeface="Calibri" pitchFamily="34" charset="0"/>
                <a:ea typeface="Calibri" pitchFamily="34" charset="-122"/>
                <a:cs typeface="Calibri" pitchFamily="34" charset="-120"/>
              </a:rPr>
              <a:t>Full JSON parsing, transformation, mapping, and reconciliation workload moves to Ping AIC — increases AIC scripting complexity.</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Good SQL view performance does not confirm complete migration performance; end-to-end testing is mandatory.</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Troubleshooting spans Oracle view SQL, data transfer, and Ping AIC mapping scripts.</a:t>
            </a:r>
            <a:endParaRPr lang="en-US" sz="950" dirty="0"/>
          </a:p>
          <a:p>
            <a:pPr>
              <a:spcAft>
                <a:spcPts val="200"/>
              </a:spcAft>
            </a:pPr>
            <a:r>
              <a:rPr lang="en-US" sz="950" dirty="0">
                <a:solidFill>
                  <a:srgbClr val="1A1A1A"/>
                </a:solidFill>
                <a:latin typeface="Calibri" pitchFamily="34" charset="0"/>
                <a:ea typeface="Calibri" pitchFamily="34" charset="-122"/>
                <a:cs typeface="Calibri" pitchFamily="34" charset="-120"/>
              </a:rPr>
              <a:t>AIC connector configuration and mapping scripts must handle all object types and relationship resolution.</a:t>
            </a:r>
            <a:endParaRPr lang="en-US" sz="950" dirty="0"/>
          </a:p>
        </p:txBody>
      </p:sp>
      <p:sp>
        <p:nvSpPr>
          <p:cNvPr id="36" name="Shape 34"/>
          <p:cNvSpPr/>
          <p:nvPr/>
        </p:nvSpPr>
        <p:spPr>
          <a:xfrm>
            <a:off x="329184" y="4073652"/>
            <a:ext cx="11521440" cy="475488"/>
          </a:xfrm>
          <a:prstGeom prst="rect">
            <a:avLst/>
          </a:prstGeom>
          <a:solidFill>
            <a:srgbClr val="E8F5E9"/>
          </a:solidFill>
          <a:ln w="12700">
            <a:solidFill>
              <a:srgbClr val="2E7D32"/>
            </a:solidFill>
            <a:prstDash val="solid"/>
          </a:ln>
        </p:spPr>
      </p:sp>
      <p:sp>
        <p:nvSpPr>
          <p:cNvPr id="37" name="Text 35"/>
          <p:cNvSpPr txBox="1"/>
          <p:nvPr/>
        </p:nvSpPr>
        <p:spPr>
          <a:xfrm>
            <a:off x="475488" y="4110228"/>
            <a:ext cx="11301984" cy="402336"/>
          </a:xfrm>
          <a:prstGeom prst="rect">
            <a:avLst/>
          </a:prstGeom>
          <a:noFill/>
          <a:ln/>
        </p:spPr>
        <p:txBody>
          <a:bodyPr wrap="square" rtlCol="0" anchor="ctr"/>
          <a:lstStyle/>
          <a:p>
            <a:pPr marL="0" indent="0">
              <a:buNone/>
            </a:pPr>
            <a:r>
              <a:rPr lang="en-US" sz="950" b="1" dirty="0">
                <a:solidFill>
                  <a:srgbClr val="1A5E30"/>
                </a:solidFill>
                <a:latin typeface="Calibri" pitchFamily="34" charset="0"/>
                <a:ea typeface="Calibri" pitchFamily="34" charset="-122"/>
                <a:cs typeface="Calibri" pitchFamily="34" charset="-120"/>
              </a:rPr>
              <a:t>Best when:  </a:t>
            </a:r>
            <a:r>
              <a:rPr lang="en-US" sz="950" dirty="0">
                <a:solidFill>
                  <a:srgbClr val="1A1A1A"/>
                </a:solidFill>
                <a:latin typeface="Calibri" pitchFamily="34" charset="0"/>
                <a:ea typeface="Calibri" pitchFamily="34" charset="-122"/>
                <a:cs typeface="Calibri" pitchFamily="34" charset="-120"/>
              </a:rPr>
              <a:t>MUFG prefers minimal Oracle change effort, the team can accept higher AIC-side transformation complexity, and end-to-end connector performance is validated at production volume.</a:t>
            </a:r>
            <a:endParaRPr lang="en-US" sz="950" dirty="0"/>
          </a:p>
        </p:txBody>
      </p:sp>
      <p:sp>
        <p:nvSpPr>
          <p:cNvPr id="38" name="Text 36"/>
          <p:cNvSpPr txBox="1"/>
          <p:nvPr/>
        </p:nvSpPr>
        <p:spPr>
          <a:xfrm>
            <a:off x="329184" y="4640580"/>
            <a:ext cx="8229600" cy="219456"/>
          </a:xfrm>
          <a:prstGeom prst="rect">
            <a:avLst/>
          </a:prstGeom>
          <a:noFill/>
          <a:ln/>
        </p:spPr>
        <p:txBody>
          <a:bodyPr wrap="square" rtlCol="0" anchor="ctr"/>
          <a:lstStyle/>
          <a:p>
            <a:pPr marL="0" indent="0">
              <a:buNone/>
            </a:pPr>
            <a:r>
              <a:rPr lang="en-US" sz="950" b="1" dirty="0">
                <a:solidFill>
                  <a:srgbClr val="1A5E30"/>
                </a:solidFill>
                <a:latin typeface="Calibri" pitchFamily="34" charset="0"/>
                <a:ea typeface="Calibri" pitchFamily="34" charset="-122"/>
                <a:cs typeface="Calibri" pitchFamily="34" charset="-120"/>
              </a:rPr>
              <a:t>Pre-requisites before Option 2 can begin:</a:t>
            </a:r>
            <a:endParaRPr lang="en-US" sz="950" dirty="0"/>
          </a:p>
        </p:txBody>
      </p:sp>
      <p:sp>
        <p:nvSpPr>
          <p:cNvPr id="39" name="Text 37"/>
          <p:cNvSpPr txBox="1"/>
          <p:nvPr/>
        </p:nvSpPr>
        <p:spPr>
          <a:xfrm>
            <a:off x="329184" y="4896612"/>
            <a:ext cx="11521440" cy="914400"/>
          </a:xfrm>
          <a:prstGeom prst="rect">
            <a:avLst/>
          </a:prstGeom>
          <a:noFill/>
          <a:ln/>
        </p:spPr>
        <p:txBody>
          <a:bodyPr wrap="square" lIns="25400" tIns="25400" rIns="25400" bIns="25400" rtlCol="0" anchor="t"/>
          <a:lstStyle/>
          <a:p>
            <a:pPr>
              <a:spcAft>
                <a:spcPts val="300"/>
              </a:spcAft>
            </a:pPr>
            <a:r>
              <a:rPr lang="en-US" sz="950" dirty="0">
                <a:solidFill>
                  <a:srgbClr val="1A1A1A"/>
                </a:solidFill>
                <a:latin typeface="Calibri" pitchFamily="34" charset="0"/>
                <a:ea typeface="Calibri" pitchFamily="34" charset="-122"/>
                <a:cs typeface="Calibri" pitchFamily="34" charset="-120"/>
              </a:rPr>
              <a:t>Oracle view design agreed with MUFG DB team: confirm all required joins, object types, and relationship fields are exposed.</a:t>
            </a:r>
            <a:endParaRPr lang="en-US" sz="950" dirty="0"/>
          </a:p>
          <a:p>
            <a:pPr>
              <a:spcAft>
                <a:spcPts val="300"/>
              </a:spcAft>
            </a:pPr>
            <a:r>
              <a:rPr lang="en-US" sz="950" dirty="0">
                <a:solidFill>
                  <a:srgbClr val="1A1A1A"/>
                </a:solidFill>
                <a:latin typeface="Calibri" pitchFamily="34" charset="0"/>
                <a:ea typeface="Calibri" pitchFamily="34" charset="-122"/>
                <a:cs typeface="Calibri" pitchFamily="34" charset="-120"/>
              </a:rPr>
              <a:t>Out-of-box Ping IDM SQL connector configuration scope confirmed — no custom connector build, Groovy scripts not required.</a:t>
            </a:r>
            <a:endParaRPr lang="en-US" sz="950" dirty="0"/>
          </a:p>
          <a:p>
            <a:pPr>
              <a:spcAft>
                <a:spcPts val="300"/>
              </a:spcAft>
            </a:pPr>
            <a:r>
              <a:rPr lang="en-US" sz="950" dirty="0">
                <a:solidFill>
                  <a:srgbClr val="1A1A1A"/>
                </a:solidFill>
                <a:latin typeface="Calibri" pitchFamily="34" charset="0"/>
                <a:ea typeface="Calibri" pitchFamily="34" charset="-122"/>
                <a:cs typeface="Calibri" pitchFamily="34" charset="-120"/>
              </a:rPr>
              <a:t>Ping AIC transformation scope defined: JSON parsing rules, field mapping, reconciliation logic, and object creation order.</a:t>
            </a:r>
            <a:endParaRPr lang="en-US" sz="950" dirty="0"/>
          </a:p>
          <a:p>
            <a:pPr>
              <a:spcAft>
                <a:spcPts val="300"/>
              </a:spcAft>
            </a:pPr>
            <a:r>
              <a:rPr lang="en-US" sz="950" dirty="0">
                <a:solidFill>
                  <a:srgbClr val="1A1A1A"/>
                </a:solidFill>
                <a:latin typeface="Calibri" pitchFamily="34" charset="0"/>
                <a:ea typeface="Calibri" pitchFamily="34" charset="-122"/>
                <a:cs typeface="Calibri" pitchFamily="34" charset="-120"/>
              </a:rPr>
              <a:t>End-to-end performance test plan in place using production-representative data volume before migration run approval.</a:t>
            </a:r>
            <a:endParaRPr lang="en-US" sz="950" dirty="0"/>
          </a:p>
        </p:txBody>
      </p:sp>
      <p:sp>
        <p:nvSpPr>
          <p:cNvPr id="40" name="Text 38"/>
          <p:cNvSpPr txBox="1"/>
          <p:nvPr/>
        </p:nvSpPr>
        <p:spPr>
          <a:xfrm>
            <a:off x="329184" y="6675120"/>
            <a:ext cx="8229600" cy="128016"/>
          </a:xfrm>
          <a:prstGeom prst="rect">
            <a:avLst/>
          </a:prstGeom>
          <a:noFill/>
          <a:ln/>
        </p:spPr>
        <p:txBody>
          <a:bodyPr wrap="square" rtlCol="0" anchor="ctr"/>
          <a:lstStyle/>
          <a:p>
            <a:pPr marL="0" indent="0">
              <a:buNone/>
            </a:pPr>
            <a:r>
              <a:rPr lang="en-US" sz="700" i="1" dirty="0">
                <a:solidFill>
                  <a:srgbClr val="C8C8C8"/>
                </a:solidFill>
                <a:latin typeface="Calibri" pitchFamily="34" charset="0"/>
                <a:ea typeface="Calibri" pitchFamily="34" charset="-122"/>
                <a:cs typeface="Calibri" pitchFamily="34" charset="-120"/>
              </a:rPr>
              <a:t>MUFG / Ping AIC Oracle Migration — Objective and Options</a:t>
            </a:r>
            <a:endParaRPr lang="en-US" sz="700" dirty="0"/>
          </a:p>
        </p:txBody>
      </p:sp>
      <p:sp>
        <p:nvSpPr>
          <p:cNvPr id="41" name="Text 39"/>
          <p:cNvSpPr txBox="1"/>
          <p:nvPr/>
        </p:nvSpPr>
        <p:spPr>
          <a:xfrm>
            <a:off x="8686800" y="6675120"/>
            <a:ext cx="3163824" cy="128016"/>
          </a:xfrm>
          <a:prstGeom prst="rect">
            <a:avLst/>
          </a:prstGeom>
          <a:noFill/>
          <a:ln/>
        </p:spPr>
        <p:txBody>
          <a:bodyPr wrap="square" rtlCol="0" anchor="ctr"/>
          <a:lstStyle/>
          <a:p>
            <a:pPr marL="0" indent="0" algn="r">
              <a:buNone/>
            </a:pPr>
            <a:r>
              <a:rPr lang="en-US" sz="700" i="1" dirty="0">
                <a:solidFill>
                  <a:srgbClr val="C8C8C8"/>
                </a:solidFill>
                <a:latin typeface="Calibri" pitchFamily="34" charset="0"/>
                <a:ea typeface="Calibri" pitchFamily="34" charset="-122"/>
                <a:cs typeface="Calibri" pitchFamily="34" charset="-120"/>
              </a:rPr>
              <a:t>Slide 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29184" y="91440"/>
            <a:ext cx="11521440" cy="438912"/>
          </a:xfrm>
          <a:prstGeom prst="rect">
            <a:avLst/>
          </a:prstGeom>
          <a:noFill/>
          <a:ln/>
        </p:spPr>
        <p:txBody>
          <a:bodyPr wrap="square" rtlCol="0" anchor="ctr"/>
          <a:lstStyle/>
          <a:p>
            <a:pPr marL="0" indent="0" algn="l">
              <a:buNone/>
            </a:pPr>
            <a:r>
              <a:rPr lang="en-US" sz="2400" b="1" dirty="0">
                <a:solidFill>
                  <a:srgbClr val="7A1322"/>
                </a:solidFill>
                <a:latin typeface="Calibri" pitchFamily="34" charset="0"/>
                <a:ea typeface="Calibri" pitchFamily="34" charset="-122"/>
                <a:cs typeface="Calibri" pitchFamily="34" charset="-120"/>
              </a:rPr>
              <a:t>6. Comparative Summary &amp; Recommended Direction</a:t>
            </a:r>
            <a:endParaRPr lang="en-US" sz="2400" dirty="0"/>
          </a:p>
        </p:txBody>
      </p:sp>
      <p:sp>
        <p:nvSpPr>
          <p:cNvPr id="3" name="Text 1"/>
          <p:cNvSpPr txBox="1"/>
          <p:nvPr/>
        </p:nvSpPr>
        <p:spPr>
          <a:xfrm>
            <a:off x="329184" y="512064"/>
            <a:ext cx="11521440" cy="201168"/>
          </a:xfrm>
          <a:prstGeom prst="rect">
            <a:avLst/>
          </a:prstGeom>
          <a:noFill/>
          <a:ln/>
        </p:spPr>
        <p:txBody>
          <a:bodyPr wrap="square" rtlCol="0" anchor="ctr"/>
          <a:lstStyle/>
          <a:p>
            <a:pPr marL="0" indent="0" algn="l">
              <a:buNone/>
            </a:pPr>
            <a:r>
              <a:rPr lang="en-US" sz="1000" i="1" dirty="0">
                <a:solidFill>
                  <a:srgbClr val="6B6B6B"/>
                </a:solidFill>
                <a:latin typeface="Calibri" pitchFamily="34" charset="0"/>
                <a:ea typeface="Calibri" pitchFamily="34" charset="-122"/>
                <a:cs typeface="Calibri" pitchFamily="34" charset="-120"/>
              </a:rPr>
              <a:t>Key decision dimensions and approval conditions for the preferred option</a:t>
            </a:r>
            <a:endParaRPr lang="en-US" sz="1000" dirty="0"/>
          </a:p>
        </p:txBody>
      </p:sp>
      <p:sp>
        <p:nvSpPr>
          <p:cNvPr id="4" name="Shape 2"/>
          <p:cNvSpPr/>
          <p:nvPr/>
        </p:nvSpPr>
        <p:spPr>
          <a:xfrm>
            <a:off x="329184" y="914400"/>
            <a:ext cx="2926080" cy="347472"/>
          </a:xfrm>
          <a:prstGeom prst="rect">
            <a:avLst/>
          </a:prstGeom>
          <a:solidFill>
            <a:srgbClr val="1E1E2E"/>
          </a:solidFill>
          <a:ln w="5080">
            <a:solidFill>
              <a:srgbClr val="1E1E2E"/>
            </a:solidFill>
            <a:prstDash val="solid"/>
          </a:ln>
        </p:spPr>
      </p:sp>
      <p:sp>
        <p:nvSpPr>
          <p:cNvPr id="5" name="Text 3"/>
          <p:cNvSpPr txBox="1"/>
          <p:nvPr/>
        </p:nvSpPr>
        <p:spPr>
          <a:xfrm>
            <a:off x="384048" y="914400"/>
            <a:ext cx="283464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p>
        </p:txBody>
      </p:sp>
      <p:sp>
        <p:nvSpPr>
          <p:cNvPr id="6" name="Shape 4"/>
          <p:cNvSpPr/>
          <p:nvPr/>
        </p:nvSpPr>
        <p:spPr>
          <a:xfrm>
            <a:off x="3255264" y="914400"/>
            <a:ext cx="4114800" cy="347472"/>
          </a:xfrm>
          <a:prstGeom prst="rect">
            <a:avLst/>
          </a:prstGeom>
          <a:solidFill>
            <a:srgbClr val="1E1E2E"/>
          </a:solidFill>
          <a:ln w="5080">
            <a:solidFill>
              <a:srgbClr val="1E1E2E"/>
            </a:solidFill>
            <a:prstDash val="solid"/>
          </a:ln>
        </p:spPr>
      </p:sp>
      <p:sp>
        <p:nvSpPr>
          <p:cNvPr id="7" name="Text 5"/>
          <p:cNvSpPr txBox="1"/>
          <p:nvPr/>
        </p:nvSpPr>
        <p:spPr>
          <a:xfrm>
            <a:off x="3310128" y="914400"/>
            <a:ext cx="40233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Option 1: Oracle Procedure</a:t>
            </a:r>
            <a:endParaRPr lang="en-US" sz="1000" dirty="0"/>
          </a:p>
        </p:txBody>
      </p:sp>
      <p:sp>
        <p:nvSpPr>
          <p:cNvPr id="8" name="Shape 6"/>
          <p:cNvSpPr/>
          <p:nvPr/>
        </p:nvSpPr>
        <p:spPr>
          <a:xfrm>
            <a:off x="7370064" y="914400"/>
            <a:ext cx="4480560" cy="347472"/>
          </a:xfrm>
          <a:prstGeom prst="rect">
            <a:avLst/>
          </a:prstGeom>
          <a:solidFill>
            <a:srgbClr val="1E1E2E"/>
          </a:solidFill>
          <a:ln w="5080">
            <a:solidFill>
              <a:srgbClr val="1E1E2E"/>
            </a:solidFill>
            <a:prstDash val="solid"/>
          </a:ln>
        </p:spPr>
      </p:sp>
      <p:sp>
        <p:nvSpPr>
          <p:cNvPr id="9" name="Text 7"/>
          <p:cNvSpPr txBox="1"/>
          <p:nvPr/>
        </p:nvSpPr>
        <p:spPr>
          <a:xfrm>
            <a:off x="7424928" y="914400"/>
            <a:ext cx="438912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Option 2: Oracle View + OOB Connector</a:t>
            </a:r>
            <a:endParaRPr lang="en-US" sz="1000" dirty="0"/>
          </a:p>
        </p:txBody>
      </p:sp>
      <p:sp>
        <p:nvSpPr>
          <p:cNvPr id="10" name="Shape 8"/>
          <p:cNvSpPr/>
          <p:nvPr/>
        </p:nvSpPr>
        <p:spPr>
          <a:xfrm>
            <a:off x="329184" y="1261872"/>
            <a:ext cx="2926080" cy="457200"/>
          </a:xfrm>
          <a:prstGeom prst="rect">
            <a:avLst/>
          </a:prstGeom>
          <a:solidFill>
            <a:srgbClr val="FFFFFF"/>
          </a:solidFill>
          <a:ln w="6350">
            <a:solidFill>
              <a:srgbClr val="C8C8C8"/>
            </a:solidFill>
            <a:prstDash val="solid"/>
          </a:ln>
        </p:spPr>
      </p:sp>
      <p:sp>
        <p:nvSpPr>
          <p:cNvPr id="11" name="Text 9"/>
          <p:cNvSpPr txBox="1"/>
          <p:nvPr/>
        </p:nvSpPr>
        <p:spPr>
          <a:xfrm>
            <a:off x="411480" y="1307592"/>
            <a:ext cx="2779776" cy="384048"/>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Oracle effort</a:t>
            </a:r>
            <a:endParaRPr lang="en-US" sz="950" dirty="0"/>
          </a:p>
        </p:txBody>
      </p:sp>
      <p:sp>
        <p:nvSpPr>
          <p:cNvPr id="12" name="Shape 10"/>
          <p:cNvSpPr/>
          <p:nvPr/>
        </p:nvSpPr>
        <p:spPr>
          <a:xfrm>
            <a:off x="3255264" y="1261872"/>
            <a:ext cx="4114800" cy="457200"/>
          </a:xfrm>
          <a:prstGeom prst="rect">
            <a:avLst/>
          </a:prstGeom>
          <a:solidFill>
            <a:srgbClr val="FFFFFF"/>
          </a:solidFill>
          <a:ln w="6350">
            <a:solidFill>
              <a:srgbClr val="C8C8C8"/>
            </a:solidFill>
            <a:prstDash val="solid"/>
          </a:ln>
        </p:spPr>
      </p:sp>
      <p:sp>
        <p:nvSpPr>
          <p:cNvPr id="13" name="Text 11"/>
          <p:cNvSpPr txBox="1"/>
          <p:nvPr/>
        </p:nvSpPr>
        <p:spPr>
          <a:xfrm>
            <a:off x="3337560" y="1307592"/>
            <a:ext cx="396849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High (procedure + release gates)</a:t>
            </a:r>
            <a:endParaRPr lang="en-US" sz="900" dirty="0"/>
          </a:p>
        </p:txBody>
      </p:sp>
      <p:sp>
        <p:nvSpPr>
          <p:cNvPr id="14" name="Shape 12"/>
          <p:cNvSpPr/>
          <p:nvPr/>
        </p:nvSpPr>
        <p:spPr>
          <a:xfrm>
            <a:off x="7370064" y="1261872"/>
            <a:ext cx="4480560" cy="457200"/>
          </a:xfrm>
          <a:prstGeom prst="rect">
            <a:avLst/>
          </a:prstGeom>
          <a:solidFill>
            <a:srgbClr val="FFFFFF"/>
          </a:solidFill>
          <a:ln w="6350">
            <a:solidFill>
              <a:srgbClr val="C8C8C8"/>
            </a:solidFill>
            <a:prstDash val="solid"/>
          </a:ln>
        </p:spPr>
      </p:sp>
      <p:sp>
        <p:nvSpPr>
          <p:cNvPr id="15" name="Text 13"/>
          <p:cNvSpPr txBox="1"/>
          <p:nvPr/>
        </p:nvSpPr>
        <p:spPr>
          <a:xfrm>
            <a:off x="7452360" y="1307592"/>
            <a:ext cx="433425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Low to Medium (view design only)</a:t>
            </a:r>
            <a:endParaRPr lang="en-US" sz="900" dirty="0"/>
          </a:p>
        </p:txBody>
      </p:sp>
      <p:sp>
        <p:nvSpPr>
          <p:cNvPr id="16" name="Shape 14"/>
          <p:cNvSpPr/>
          <p:nvPr/>
        </p:nvSpPr>
        <p:spPr>
          <a:xfrm>
            <a:off x="329184" y="1719072"/>
            <a:ext cx="2926080" cy="457200"/>
          </a:xfrm>
          <a:prstGeom prst="rect">
            <a:avLst/>
          </a:prstGeom>
          <a:solidFill>
            <a:srgbClr val="F4F4F4"/>
          </a:solidFill>
          <a:ln w="6350">
            <a:solidFill>
              <a:srgbClr val="C8C8C8"/>
            </a:solidFill>
            <a:prstDash val="solid"/>
          </a:ln>
        </p:spPr>
      </p:sp>
      <p:sp>
        <p:nvSpPr>
          <p:cNvPr id="17" name="Text 15"/>
          <p:cNvSpPr txBox="1"/>
          <p:nvPr/>
        </p:nvSpPr>
        <p:spPr>
          <a:xfrm>
            <a:off x="411480" y="1764792"/>
            <a:ext cx="2779776" cy="384048"/>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Connector type</a:t>
            </a:r>
            <a:endParaRPr lang="en-US" sz="950" dirty="0"/>
          </a:p>
        </p:txBody>
      </p:sp>
      <p:sp>
        <p:nvSpPr>
          <p:cNvPr id="18" name="Shape 16"/>
          <p:cNvSpPr/>
          <p:nvPr/>
        </p:nvSpPr>
        <p:spPr>
          <a:xfrm>
            <a:off x="3255264" y="1719072"/>
            <a:ext cx="4114800" cy="457200"/>
          </a:xfrm>
          <a:prstGeom prst="rect">
            <a:avLst/>
          </a:prstGeom>
          <a:solidFill>
            <a:srgbClr val="F4F4F4"/>
          </a:solidFill>
          <a:ln w="6350">
            <a:solidFill>
              <a:srgbClr val="C8C8C8"/>
            </a:solidFill>
            <a:prstDash val="solid"/>
          </a:ln>
        </p:spPr>
      </p:sp>
      <p:sp>
        <p:nvSpPr>
          <p:cNvPr id="19" name="Text 17"/>
          <p:cNvSpPr txBox="1"/>
          <p:nvPr/>
        </p:nvSpPr>
        <p:spPr>
          <a:xfrm>
            <a:off x="3337560" y="1764792"/>
            <a:ext cx="396849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Custom (Groovy scripts required)</a:t>
            </a:r>
            <a:endParaRPr lang="en-US" sz="900" dirty="0"/>
          </a:p>
        </p:txBody>
      </p:sp>
      <p:sp>
        <p:nvSpPr>
          <p:cNvPr id="20" name="Shape 18"/>
          <p:cNvSpPr/>
          <p:nvPr/>
        </p:nvSpPr>
        <p:spPr>
          <a:xfrm>
            <a:off x="7370064" y="1719072"/>
            <a:ext cx="4480560" cy="457200"/>
          </a:xfrm>
          <a:prstGeom prst="rect">
            <a:avLst/>
          </a:prstGeom>
          <a:solidFill>
            <a:srgbClr val="F4F4F4"/>
          </a:solidFill>
          <a:ln w="6350">
            <a:solidFill>
              <a:srgbClr val="C8C8C8"/>
            </a:solidFill>
            <a:prstDash val="solid"/>
          </a:ln>
        </p:spPr>
      </p:sp>
      <p:sp>
        <p:nvSpPr>
          <p:cNvPr id="21" name="Text 19"/>
          <p:cNvSpPr txBox="1"/>
          <p:nvPr/>
        </p:nvSpPr>
        <p:spPr>
          <a:xfrm>
            <a:off x="7452360" y="1764792"/>
            <a:ext cx="433425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Out-of-box Ping IDM SQL connector</a:t>
            </a:r>
            <a:endParaRPr lang="en-US" sz="900" dirty="0"/>
          </a:p>
        </p:txBody>
      </p:sp>
      <p:sp>
        <p:nvSpPr>
          <p:cNvPr id="22" name="Shape 20"/>
          <p:cNvSpPr/>
          <p:nvPr/>
        </p:nvSpPr>
        <p:spPr>
          <a:xfrm>
            <a:off x="329184" y="2176272"/>
            <a:ext cx="2926080" cy="457200"/>
          </a:xfrm>
          <a:prstGeom prst="rect">
            <a:avLst/>
          </a:prstGeom>
          <a:solidFill>
            <a:srgbClr val="FFFFFF"/>
          </a:solidFill>
          <a:ln w="6350">
            <a:solidFill>
              <a:srgbClr val="C8C8C8"/>
            </a:solidFill>
            <a:prstDash val="solid"/>
          </a:ln>
        </p:spPr>
      </p:sp>
      <p:sp>
        <p:nvSpPr>
          <p:cNvPr id="23" name="Text 21"/>
          <p:cNvSpPr txBox="1"/>
          <p:nvPr/>
        </p:nvSpPr>
        <p:spPr>
          <a:xfrm>
            <a:off x="411480" y="2221992"/>
            <a:ext cx="2779776" cy="384048"/>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AIC/connector effort</a:t>
            </a:r>
            <a:endParaRPr lang="en-US" sz="950" dirty="0"/>
          </a:p>
        </p:txBody>
      </p:sp>
      <p:sp>
        <p:nvSpPr>
          <p:cNvPr id="24" name="Shape 22"/>
          <p:cNvSpPr/>
          <p:nvPr/>
        </p:nvSpPr>
        <p:spPr>
          <a:xfrm>
            <a:off x="3255264" y="2176272"/>
            <a:ext cx="4114800" cy="457200"/>
          </a:xfrm>
          <a:prstGeom prst="rect">
            <a:avLst/>
          </a:prstGeom>
          <a:solidFill>
            <a:srgbClr val="FFFFFF"/>
          </a:solidFill>
          <a:ln w="6350">
            <a:solidFill>
              <a:srgbClr val="C8C8C8"/>
            </a:solidFill>
            <a:prstDash val="solid"/>
          </a:ln>
        </p:spPr>
      </p:sp>
      <p:sp>
        <p:nvSpPr>
          <p:cNvPr id="25" name="Text 23"/>
          <p:cNvSpPr txBox="1"/>
          <p:nvPr/>
        </p:nvSpPr>
        <p:spPr>
          <a:xfrm>
            <a:off x="3337560" y="2221992"/>
            <a:ext cx="396849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Lower (lightweight mapping)</a:t>
            </a:r>
            <a:endParaRPr lang="en-US" sz="900" dirty="0"/>
          </a:p>
        </p:txBody>
      </p:sp>
      <p:sp>
        <p:nvSpPr>
          <p:cNvPr id="26" name="Shape 24"/>
          <p:cNvSpPr/>
          <p:nvPr/>
        </p:nvSpPr>
        <p:spPr>
          <a:xfrm>
            <a:off x="7370064" y="2176272"/>
            <a:ext cx="4480560" cy="457200"/>
          </a:xfrm>
          <a:prstGeom prst="rect">
            <a:avLst/>
          </a:prstGeom>
          <a:solidFill>
            <a:srgbClr val="FFFFFF"/>
          </a:solidFill>
          <a:ln w="6350">
            <a:solidFill>
              <a:srgbClr val="C8C8C8"/>
            </a:solidFill>
            <a:prstDash val="solid"/>
          </a:ln>
        </p:spPr>
      </p:sp>
      <p:sp>
        <p:nvSpPr>
          <p:cNvPr id="27" name="Text 25"/>
          <p:cNvSpPr txBox="1"/>
          <p:nvPr/>
        </p:nvSpPr>
        <p:spPr>
          <a:xfrm>
            <a:off x="7452360" y="2221992"/>
            <a:ext cx="433425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Higher (full transform &amp; reconciliation)</a:t>
            </a:r>
            <a:endParaRPr lang="en-US" sz="900" dirty="0"/>
          </a:p>
        </p:txBody>
      </p:sp>
      <p:sp>
        <p:nvSpPr>
          <p:cNvPr id="28" name="Shape 26"/>
          <p:cNvSpPr/>
          <p:nvPr/>
        </p:nvSpPr>
        <p:spPr>
          <a:xfrm>
            <a:off x="329184" y="2633472"/>
            <a:ext cx="2926080" cy="457200"/>
          </a:xfrm>
          <a:prstGeom prst="rect">
            <a:avLst/>
          </a:prstGeom>
          <a:solidFill>
            <a:srgbClr val="F4F4F4"/>
          </a:solidFill>
          <a:ln w="6350">
            <a:solidFill>
              <a:srgbClr val="C8C8C8"/>
            </a:solidFill>
            <a:prstDash val="solid"/>
          </a:ln>
        </p:spPr>
      </p:sp>
      <p:sp>
        <p:nvSpPr>
          <p:cNvPr id="29" name="Text 27"/>
          <p:cNvSpPr txBox="1"/>
          <p:nvPr/>
        </p:nvSpPr>
        <p:spPr>
          <a:xfrm>
            <a:off x="411480" y="2679192"/>
            <a:ext cx="2779776" cy="384048"/>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Transformation split</a:t>
            </a:r>
            <a:endParaRPr lang="en-US" sz="950" dirty="0"/>
          </a:p>
        </p:txBody>
      </p:sp>
      <p:sp>
        <p:nvSpPr>
          <p:cNvPr id="30" name="Shape 28"/>
          <p:cNvSpPr/>
          <p:nvPr/>
        </p:nvSpPr>
        <p:spPr>
          <a:xfrm>
            <a:off x="3255264" y="2633472"/>
            <a:ext cx="4114800" cy="457200"/>
          </a:xfrm>
          <a:prstGeom prst="rect">
            <a:avLst/>
          </a:prstGeom>
          <a:solidFill>
            <a:srgbClr val="F4F4F4"/>
          </a:solidFill>
          <a:ln w="6350">
            <a:solidFill>
              <a:srgbClr val="C8C8C8"/>
            </a:solidFill>
            <a:prstDash val="solid"/>
          </a:ln>
        </p:spPr>
      </p:sp>
      <p:sp>
        <p:nvSpPr>
          <p:cNvPr id="31" name="Text 29"/>
          <p:cNvSpPr txBox="1"/>
          <p:nvPr/>
        </p:nvSpPr>
        <p:spPr>
          <a:xfrm>
            <a:off x="3337560" y="2679192"/>
            <a:ext cx="396849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Oracle procedure + Ping AIC Groovy</a:t>
            </a:r>
            <a:endParaRPr lang="en-US" sz="900" dirty="0"/>
          </a:p>
        </p:txBody>
      </p:sp>
      <p:sp>
        <p:nvSpPr>
          <p:cNvPr id="32" name="Shape 30"/>
          <p:cNvSpPr/>
          <p:nvPr/>
        </p:nvSpPr>
        <p:spPr>
          <a:xfrm>
            <a:off x="7370064" y="2633472"/>
            <a:ext cx="4480560" cy="457200"/>
          </a:xfrm>
          <a:prstGeom prst="rect">
            <a:avLst/>
          </a:prstGeom>
          <a:solidFill>
            <a:srgbClr val="F4F4F4"/>
          </a:solidFill>
          <a:ln w="6350">
            <a:solidFill>
              <a:srgbClr val="C8C8C8"/>
            </a:solidFill>
            <a:prstDash val="solid"/>
          </a:ln>
        </p:spPr>
      </p:sp>
      <p:sp>
        <p:nvSpPr>
          <p:cNvPr id="33" name="Text 31"/>
          <p:cNvSpPr txBox="1"/>
          <p:nvPr/>
        </p:nvSpPr>
        <p:spPr>
          <a:xfrm>
            <a:off x="7452360" y="2679192"/>
            <a:ext cx="433425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Oracle view + Ping AIC mapping scripts</a:t>
            </a:r>
            <a:endParaRPr lang="en-US" sz="900" dirty="0"/>
          </a:p>
        </p:txBody>
      </p:sp>
      <p:sp>
        <p:nvSpPr>
          <p:cNvPr id="34" name="Shape 32"/>
          <p:cNvSpPr/>
          <p:nvPr/>
        </p:nvSpPr>
        <p:spPr>
          <a:xfrm>
            <a:off x="329184" y="3090672"/>
            <a:ext cx="2926080" cy="457200"/>
          </a:xfrm>
          <a:prstGeom prst="rect">
            <a:avLst/>
          </a:prstGeom>
          <a:solidFill>
            <a:srgbClr val="FFFFFF"/>
          </a:solidFill>
          <a:ln w="6350">
            <a:solidFill>
              <a:srgbClr val="C8C8C8"/>
            </a:solidFill>
            <a:prstDash val="solid"/>
          </a:ln>
        </p:spPr>
      </p:sp>
      <p:sp>
        <p:nvSpPr>
          <p:cNvPr id="35" name="Text 33"/>
          <p:cNvSpPr txBox="1"/>
          <p:nvPr/>
        </p:nvSpPr>
        <p:spPr>
          <a:xfrm>
            <a:off x="411480" y="3136392"/>
            <a:ext cx="2779776" cy="384048"/>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Groovy maintenance</a:t>
            </a:r>
            <a:endParaRPr lang="en-US" sz="950" dirty="0"/>
          </a:p>
        </p:txBody>
      </p:sp>
      <p:sp>
        <p:nvSpPr>
          <p:cNvPr id="36" name="Shape 34"/>
          <p:cNvSpPr/>
          <p:nvPr/>
        </p:nvSpPr>
        <p:spPr>
          <a:xfrm>
            <a:off x="3255264" y="3090672"/>
            <a:ext cx="4114800" cy="457200"/>
          </a:xfrm>
          <a:prstGeom prst="rect">
            <a:avLst/>
          </a:prstGeom>
          <a:solidFill>
            <a:srgbClr val="FFFFFF"/>
          </a:solidFill>
          <a:ln w="6350">
            <a:solidFill>
              <a:srgbClr val="C8C8C8"/>
            </a:solidFill>
            <a:prstDash val="solid"/>
          </a:ln>
        </p:spPr>
      </p:sp>
      <p:sp>
        <p:nvSpPr>
          <p:cNvPr id="37" name="Text 35"/>
          <p:cNvSpPr txBox="1"/>
          <p:nvPr/>
        </p:nvSpPr>
        <p:spPr>
          <a:xfrm>
            <a:off x="3337560" y="3136392"/>
            <a:ext cx="396849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Yes — parallel artefact to maintain</a:t>
            </a:r>
            <a:endParaRPr lang="en-US" sz="900" dirty="0"/>
          </a:p>
        </p:txBody>
      </p:sp>
      <p:sp>
        <p:nvSpPr>
          <p:cNvPr id="38" name="Shape 36"/>
          <p:cNvSpPr/>
          <p:nvPr/>
        </p:nvSpPr>
        <p:spPr>
          <a:xfrm>
            <a:off x="7370064" y="3090672"/>
            <a:ext cx="4480560" cy="457200"/>
          </a:xfrm>
          <a:prstGeom prst="rect">
            <a:avLst/>
          </a:prstGeom>
          <a:solidFill>
            <a:srgbClr val="FFFFFF"/>
          </a:solidFill>
          <a:ln w="6350">
            <a:solidFill>
              <a:srgbClr val="C8C8C8"/>
            </a:solidFill>
            <a:prstDash val="solid"/>
          </a:ln>
        </p:spPr>
      </p:sp>
      <p:sp>
        <p:nvSpPr>
          <p:cNvPr id="39" name="Text 37"/>
          <p:cNvSpPr txBox="1"/>
          <p:nvPr/>
        </p:nvSpPr>
        <p:spPr>
          <a:xfrm>
            <a:off x="7452360" y="3136392"/>
            <a:ext cx="433425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No — standard AIC scripts only</a:t>
            </a:r>
            <a:endParaRPr lang="en-US" sz="900" dirty="0"/>
          </a:p>
        </p:txBody>
      </p:sp>
      <p:sp>
        <p:nvSpPr>
          <p:cNvPr id="40" name="Shape 38"/>
          <p:cNvSpPr/>
          <p:nvPr/>
        </p:nvSpPr>
        <p:spPr>
          <a:xfrm>
            <a:off x="329184" y="3547872"/>
            <a:ext cx="2926080" cy="457200"/>
          </a:xfrm>
          <a:prstGeom prst="rect">
            <a:avLst/>
          </a:prstGeom>
          <a:solidFill>
            <a:srgbClr val="F4F4F4"/>
          </a:solidFill>
          <a:ln w="6350">
            <a:solidFill>
              <a:srgbClr val="C8C8C8"/>
            </a:solidFill>
            <a:prstDash val="solid"/>
          </a:ln>
        </p:spPr>
      </p:sp>
      <p:sp>
        <p:nvSpPr>
          <p:cNvPr id="41" name="Text 39"/>
          <p:cNvSpPr txBox="1"/>
          <p:nvPr/>
        </p:nvSpPr>
        <p:spPr>
          <a:xfrm>
            <a:off x="411480" y="3593592"/>
            <a:ext cx="2779776" cy="384048"/>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Bulk suitability</a:t>
            </a:r>
            <a:endParaRPr lang="en-US" sz="950" dirty="0"/>
          </a:p>
        </p:txBody>
      </p:sp>
      <p:sp>
        <p:nvSpPr>
          <p:cNvPr id="42" name="Shape 40"/>
          <p:cNvSpPr/>
          <p:nvPr/>
        </p:nvSpPr>
        <p:spPr>
          <a:xfrm>
            <a:off x="3255264" y="3547872"/>
            <a:ext cx="4114800" cy="457200"/>
          </a:xfrm>
          <a:prstGeom prst="rect">
            <a:avLst/>
          </a:prstGeom>
          <a:solidFill>
            <a:srgbClr val="F4F4F4"/>
          </a:solidFill>
          <a:ln w="6350">
            <a:solidFill>
              <a:srgbClr val="C8C8C8"/>
            </a:solidFill>
            <a:prstDash val="solid"/>
          </a:ln>
        </p:spPr>
      </p:sp>
      <p:sp>
        <p:nvSpPr>
          <p:cNvPr id="43" name="Text 41"/>
          <p:cNvSpPr txBox="1"/>
          <p:nvPr/>
        </p:nvSpPr>
        <p:spPr>
          <a:xfrm>
            <a:off x="3337560" y="3593592"/>
            <a:ext cx="396849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Good if procedure bulk-designed</a:t>
            </a:r>
            <a:endParaRPr lang="en-US" sz="900" dirty="0"/>
          </a:p>
        </p:txBody>
      </p:sp>
      <p:sp>
        <p:nvSpPr>
          <p:cNvPr id="44" name="Shape 42"/>
          <p:cNvSpPr/>
          <p:nvPr/>
        </p:nvSpPr>
        <p:spPr>
          <a:xfrm>
            <a:off x="7370064" y="3547872"/>
            <a:ext cx="4480560" cy="457200"/>
          </a:xfrm>
          <a:prstGeom prst="rect">
            <a:avLst/>
          </a:prstGeom>
          <a:solidFill>
            <a:srgbClr val="F4F4F4"/>
          </a:solidFill>
          <a:ln w="6350">
            <a:solidFill>
              <a:srgbClr val="C8C8C8"/>
            </a:solidFill>
            <a:prstDash val="solid"/>
          </a:ln>
        </p:spPr>
      </p:sp>
      <p:sp>
        <p:nvSpPr>
          <p:cNvPr id="45" name="Text 43"/>
          <p:cNvSpPr txBox="1"/>
          <p:nvPr/>
        </p:nvSpPr>
        <p:spPr>
          <a:xfrm>
            <a:off x="7452360" y="3593592"/>
            <a:ext cx="433425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Good — view output can be batched</a:t>
            </a:r>
            <a:endParaRPr lang="en-US" sz="900" dirty="0"/>
          </a:p>
        </p:txBody>
      </p:sp>
      <p:sp>
        <p:nvSpPr>
          <p:cNvPr id="46" name="Shape 44"/>
          <p:cNvSpPr/>
          <p:nvPr/>
        </p:nvSpPr>
        <p:spPr>
          <a:xfrm>
            <a:off x="329184" y="4005072"/>
            <a:ext cx="2926080" cy="457200"/>
          </a:xfrm>
          <a:prstGeom prst="rect">
            <a:avLst/>
          </a:prstGeom>
          <a:solidFill>
            <a:srgbClr val="FFFFFF"/>
          </a:solidFill>
          <a:ln w="6350">
            <a:solidFill>
              <a:srgbClr val="C8C8C8"/>
            </a:solidFill>
            <a:prstDash val="solid"/>
          </a:ln>
        </p:spPr>
      </p:sp>
      <p:sp>
        <p:nvSpPr>
          <p:cNvPr id="47" name="Text 45"/>
          <p:cNvSpPr txBox="1"/>
          <p:nvPr/>
        </p:nvSpPr>
        <p:spPr>
          <a:xfrm>
            <a:off x="411480" y="4050792"/>
            <a:ext cx="2779776" cy="384048"/>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Key risk</a:t>
            </a:r>
            <a:endParaRPr lang="en-US" sz="950" dirty="0"/>
          </a:p>
        </p:txBody>
      </p:sp>
      <p:sp>
        <p:nvSpPr>
          <p:cNvPr id="48" name="Shape 46"/>
          <p:cNvSpPr/>
          <p:nvPr/>
        </p:nvSpPr>
        <p:spPr>
          <a:xfrm>
            <a:off x="3255264" y="4005072"/>
            <a:ext cx="4114800" cy="457200"/>
          </a:xfrm>
          <a:prstGeom prst="rect">
            <a:avLst/>
          </a:prstGeom>
          <a:solidFill>
            <a:srgbClr val="FFFFFF"/>
          </a:solidFill>
          <a:ln w="6350">
            <a:solidFill>
              <a:srgbClr val="C8C8C8"/>
            </a:solidFill>
            <a:prstDash val="solid"/>
          </a:ln>
        </p:spPr>
      </p:sp>
      <p:sp>
        <p:nvSpPr>
          <p:cNvPr id="49" name="Text 47"/>
          <p:cNvSpPr txBox="1"/>
          <p:nvPr/>
        </p:nvSpPr>
        <p:spPr>
          <a:xfrm>
            <a:off x="3337560" y="4050792"/>
            <a:ext cx="396849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Temporary procedure must be retired</a:t>
            </a:r>
            <a:endParaRPr lang="en-US" sz="900" dirty="0"/>
          </a:p>
        </p:txBody>
      </p:sp>
      <p:sp>
        <p:nvSpPr>
          <p:cNvPr id="50" name="Shape 48"/>
          <p:cNvSpPr/>
          <p:nvPr/>
        </p:nvSpPr>
        <p:spPr>
          <a:xfrm>
            <a:off x="7370064" y="4005072"/>
            <a:ext cx="4480560" cy="457200"/>
          </a:xfrm>
          <a:prstGeom prst="rect">
            <a:avLst/>
          </a:prstGeom>
          <a:solidFill>
            <a:srgbClr val="FFFFFF"/>
          </a:solidFill>
          <a:ln w="6350">
            <a:solidFill>
              <a:srgbClr val="C8C8C8"/>
            </a:solidFill>
            <a:prstDash val="solid"/>
          </a:ln>
        </p:spPr>
      </p:sp>
      <p:sp>
        <p:nvSpPr>
          <p:cNvPr id="51" name="Text 49"/>
          <p:cNvSpPr txBox="1"/>
          <p:nvPr/>
        </p:nvSpPr>
        <p:spPr>
          <a:xfrm>
            <a:off x="7452360" y="4050792"/>
            <a:ext cx="433425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AIC performance proven end-to-end</a:t>
            </a:r>
            <a:endParaRPr lang="en-US" sz="900" dirty="0"/>
          </a:p>
        </p:txBody>
      </p:sp>
      <p:sp>
        <p:nvSpPr>
          <p:cNvPr id="52" name="Shape 50"/>
          <p:cNvSpPr/>
          <p:nvPr/>
        </p:nvSpPr>
        <p:spPr>
          <a:xfrm>
            <a:off x="329184" y="4462272"/>
            <a:ext cx="2926080" cy="457200"/>
          </a:xfrm>
          <a:prstGeom prst="rect">
            <a:avLst/>
          </a:prstGeom>
          <a:solidFill>
            <a:srgbClr val="E8F5E9"/>
          </a:solidFill>
          <a:ln w="6350">
            <a:solidFill>
              <a:srgbClr val="C8C8C8"/>
            </a:solidFill>
            <a:prstDash val="solid"/>
          </a:ln>
        </p:spPr>
      </p:sp>
      <p:sp>
        <p:nvSpPr>
          <p:cNvPr id="53" name="Text 51"/>
          <p:cNvSpPr txBox="1"/>
          <p:nvPr/>
        </p:nvSpPr>
        <p:spPr>
          <a:xfrm>
            <a:off x="411480" y="4507992"/>
            <a:ext cx="2779776" cy="384048"/>
          </a:xfrm>
          <a:prstGeom prst="rect">
            <a:avLst/>
          </a:prstGeom>
          <a:noFill/>
          <a:ln/>
        </p:spPr>
        <p:txBody>
          <a:bodyPr wrap="square" rtlCol="0" anchor="t"/>
          <a:lstStyle/>
          <a:p>
            <a:pPr marL="0" indent="0">
              <a:buNone/>
            </a:pPr>
            <a:r>
              <a:rPr lang="en-US" sz="950" b="1" dirty="0">
                <a:solidFill>
                  <a:srgbClr val="7A1322"/>
                </a:solidFill>
                <a:latin typeface="Calibri" pitchFamily="34" charset="0"/>
                <a:ea typeface="Calibri" pitchFamily="34" charset="-122"/>
                <a:cs typeface="Calibri" pitchFamily="34" charset="-120"/>
              </a:rPr>
              <a:t>Overall position</a:t>
            </a:r>
            <a:endParaRPr lang="en-US" sz="950" dirty="0"/>
          </a:p>
        </p:txBody>
      </p:sp>
      <p:sp>
        <p:nvSpPr>
          <p:cNvPr id="54" name="Shape 52"/>
          <p:cNvSpPr/>
          <p:nvPr/>
        </p:nvSpPr>
        <p:spPr>
          <a:xfrm>
            <a:off x="3255264" y="4462272"/>
            <a:ext cx="4114800" cy="457200"/>
          </a:xfrm>
          <a:prstGeom prst="rect">
            <a:avLst/>
          </a:prstGeom>
          <a:solidFill>
            <a:srgbClr val="E8F5E9"/>
          </a:solidFill>
          <a:ln w="6350">
            <a:solidFill>
              <a:srgbClr val="C8C8C8"/>
            </a:solidFill>
            <a:prstDash val="solid"/>
          </a:ln>
        </p:spPr>
      </p:sp>
      <p:sp>
        <p:nvSpPr>
          <p:cNvPr id="55" name="Text 53"/>
          <p:cNvSpPr txBox="1"/>
          <p:nvPr/>
        </p:nvSpPr>
        <p:spPr>
          <a:xfrm>
            <a:off x="3337560" y="4507992"/>
            <a:ext cx="396849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Suitable when DB-side transform preferred</a:t>
            </a:r>
            <a:endParaRPr lang="en-US" sz="900" dirty="0"/>
          </a:p>
        </p:txBody>
      </p:sp>
      <p:sp>
        <p:nvSpPr>
          <p:cNvPr id="56" name="Shape 54"/>
          <p:cNvSpPr/>
          <p:nvPr/>
        </p:nvSpPr>
        <p:spPr>
          <a:xfrm>
            <a:off x="7370064" y="4462272"/>
            <a:ext cx="4480560" cy="457200"/>
          </a:xfrm>
          <a:prstGeom prst="rect">
            <a:avLst/>
          </a:prstGeom>
          <a:solidFill>
            <a:srgbClr val="E8F5E9"/>
          </a:solidFill>
          <a:ln w="6350">
            <a:solidFill>
              <a:srgbClr val="C8C8C8"/>
            </a:solidFill>
            <a:prstDash val="solid"/>
          </a:ln>
        </p:spPr>
      </p:sp>
      <p:sp>
        <p:nvSpPr>
          <p:cNvPr id="57" name="Text 55"/>
          <p:cNvSpPr txBox="1"/>
          <p:nvPr/>
        </p:nvSpPr>
        <p:spPr>
          <a:xfrm>
            <a:off x="7452360" y="4507992"/>
            <a:ext cx="4334256" cy="384048"/>
          </a:xfrm>
          <a:prstGeom prst="rect">
            <a:avLst/>
          </a:prstGeom>
          <a:noFill/>
          <a:ln/>
        </p:spPr>
        <p:txBody>
          <a:bodyPr wrap="square" rtlCol="0" anchor="t"/>
          <a:lstStyle/>
          <a:p>
            <a:pPr marL="0" indent="0">
              <a:buNone/>
            </a:pPr>
            <a:r>
              <a:rPr lang="en-US" sz="900" dirty="0">
                <a:solidFill>
                  <a:srgbClr val="1A1A1A"/>
                </a:solidFill>
                <a:latin typeface="Calibri" pitchFamily="34" charset="0"/>
                <a:ea typeface="Calibri" pitchFamily="34" charset="-122"/>
                <a:cs typeface="Calibri" pitchFamily="34" charset="-120"/>
              </a:rPr>
              <a:t>Preferred if MUFG Oracle effort is constrained  ★</a:t>
            </a:r>
            <a:endParaRPr lang="en-US" sz="900" dirty="0"/>
          </a:p>
        </p:txBody>
      </p:sp>
      <p:sp>
        <p:nvSpPr>
          <p:cNvPr id="58" name="Shape 56"/>
          <p:cNvSpPr/>
          <p:nvPr/>
        </p:nvSpPr>
        <p:spPr>
          <a:xfrm>
            <a:off x="329184" y="5084064"/>
            <a:ext cx="11521440" cy="804672"/>
          </a:xfrm>
          <a:prstGeom prst="rect">
            <a:avLst/>
          </a:prstGeom>
          <a:solidFill>
            <a:srgbClr val="E8F5E9"/>
          </a:solidFill>
          <a:ln w="13970">
            <a:solidFill>
              <a:srgbClr val="2E7D32"/>
            </a:solidFill>
            <a:prstDash val="solid"/>
          </a:ln>
        </p:spPr>
      </p:sp>
      <p:sp>
        <p:nvSpPr>
          <p:cNvPr id="59" name="Text 57"/>
          <p:cNvSpPr txBox="1"/>
          <p:nvPr/>
        </p:nvSpPr>
        <p:spPr>
          <a:xfrm>
            <a:off x="475488" y="5120640"/>
            <a:ext cx="3657600" cy="219456"/>
          </a:xfrm>
          <a:prstGeom prst="rect">
            <a:avLst/>
          </a:prstGeom>
          <a:noFill/>
          <a:ln/>
        </p:spPr>
        <p:txBody>
          <a:bodyPr wrap="square" rtlCol="0" anchor="ctr"/>
          <a:lstStyle/>
          <a:p>
            <a:pPr marL="0" indent="0">
              <a:buNone/>
            </a:pPr>
            <a:r>
              <a:rPr lang="en-US" sz="1050" b="1" dirty="0">
                <a:solidFill>
                  <a:srgbClr val="1A5E30"/>
                </a:solidFill>
                <a:latin typeface="Calibri" pitchFamily="34" charset="0"/>
                <a:ea typeface="Calibri" pitchFamily="34" charset="-122"/>
                <a:cs typeface="Calibri" pitchFamily="34" charset="-120"/>
              </a:rPr>
              <a:t>★  Recommended Direction</a:t>
            </a:r>
            <a:endParaRPr lang="en-US" sz="1050" dirty="0"/>
          </a:p>
        </p:txBody>
      </p:sp>
      <p:sp>
        <p:nvSpPr>
          <p:cNvPr id="60" name="Text 58"/>
          <p:cNvSpPr txBox="1"/>
          <p:nvPr/>
        </p:nvSpPr>
        <p:spPr>
          <a:xfrm>
            <a:off x="475488" y="5321808"/>
            <a:ext cx="11210544" cy="530352"/>
          </a:xfrm>
          <a:prstGeom prst="rect">
            <a:avLst/>
          </a:prstGeom>
          <a:noFill/>
          <a:ln/>
        </p:spPr>
        <p:txBody>
          <a:bodyPr wrap="square" rtlCol="0" anchor="ctr"/>
          <a:lstStyle/>
          <a:p>
            <a:pPr marL="0" indent="0">
              <a:buNone/>
            </a:pPr>
            <a:r>
              <a:rPr lang="en-US" sz="950" dirty="0">
                <a:solidFill>
                  <a:srgbClr val="1A1A1A"/>
                </a:solidFill>
                <a:latin typeface="Calibri" pitchFamily="34" charset="0"/>
                <a:ea typeface="Calibri" pitchFamily="34" charset="-122"/>
                <a:cs typeface="Calibri" pitchFamily="34" charset="-120"/>
              </a:rPr>
              <a:t>Option 2 (Oracle View + out-of-box connector) is the preferred starting point. It reduces Oracle development and connector build effort, consolidates transformation accountability in Ping AIC, and avoids the Groovy script maintenance overhead of Option 1. Approval should remain conditional on production-volume end-to-end testing and agreed reconciliation sign-off.</a:t>
            </a:r>
            <a:endParaRPr lang="en-US" sz="950" dirty="0"/>
          </a:p>
        </p:txBody>
      </p:sp>
      <p:sp>
        <p:nvSpPr>
          <p:cNvPr id="61" name="Text 59"/>
          <p:cNvSpPr txBox="1"/>
          <p:nvPr/>
        </p:nvSpPr>
        <p:spPr>
          <a:xfrm>
            <a:off x="329184" y="6675120"/>
            <a:ext cx="8229600" cy="128016"/>
          </a:xfrm>
          <a:prstGeom prst="rect">
            <a:avLst/>
          </a:prstGeom>
          <a:noFill/>
          <a:ln/>
        </p:spPr>
        <p:txBody>
          <a:bodyPr wrap="square" rtlCol="0" anchor="ctr"/>
          <a:lstStyle/>
          <a:p>
            <a:pPr marL="0" indent="0">
              <a:buNone/>
            </a:pPr>
            <a:r>
              <a:rPr lang="en-US" sz="700" i="1" dirty="0">
                <a:solidFill>
                  <a:srgbClr val="C8C8C8"/>
                </a:solidFill>
                <a:latin typeface="Calibri" pitchFamily="34" charset="0"/>
                <a:ea typeface="Calibri" pitchFamily="34" charset="-122"/>
                <a:cs typeface="Calibri" pitchFamily="34" charset="-120"/>
              </a:rPr>
              <a:t>MUFG / Ping AIC Oracle Migration — Objective and Options</a:t>
            </a:r>
            <a:endParaRPr lang="en-US" sz="700" dirty="0"/>
          </a:p>
        </p:txBody>
      </p:sp>
      <p:sp>
        <p:nvSpPr>
          <p:cNvPr id="62" name="Text 60"/>
          <p:cNvSpPr txBox="1"/>
          <p:nvPr/>
        </p:nvSpPr>
        <p:spPr>
          <a:xfrm>
            <a:off x="8686800" y="6675120"/>
            <a:ext cx="3163824" cy="128016"/>
          </a:xfrm>
          <a:prstGeom prst="rect">
            <a:avLst/>
          </a:prstGeom>
          <a:noFill/>
          <a:ln/>
        </p:spPr>
        <p:txBody>
          <a:bodyPr wrap="square" rtlCol="0" anchor="ctr"/>
          <a:lstStyle/>
          <a:p>
            <a:pPr marL="0" indent="0" algn="r">
              <a:buNone/>
            </a:pPr>
            <a:r>
              <a:rPr lang="en-US" sz="700" i="1" dirty="0">
                <a:solidFill>
                  <a:srgbClr val="C8C8C8"/>
                </a:solidFill>
                <a:latin typeface="Calibri" pitchFamily="34" charset="0"/>
                <a:ea typeface="Calibri" pitchFamily="34" charset="-122"/>
                <a:cs typeface="Calibri" pitchFamily="34" charset="-120"/>
              </a:rPr>
              <a:t>Slide 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29184" y="91440"/>
            <a:ext cx="11521440" cy="438912"/>
          </a:xfrm>
          <a:prstGeom prst="rect">
            <a:avLst/>
          </a:prstGeom>
          <a:noFill/>
          <a:ln/>
        </p:spPr>
        <p:txBody>
          <a:bodyPr wrap="square" rtlCol="0" anchor="ctr"/>
          <a:lstStyle/>
          <a:p>
            <a:pPr marL="0" indent="0" algn="l">
              <a:buNone/>
            </a:pPr>
            <a:r>
              <a:rPr lang="en-US" sz="2400" b="1" dirty="0">
                <a:solidFill>
                  <a:srgbClr val="7A1322"/>
                </a:solidFill>
                <a:latin typeface="Calibri" pitchFamily="34" charset="0"/>
                <a:ea typeface="Calibri" pitchFamily="34" charset="-122"/>
                <a:cs typeface="Calibri" pitchFamily="34" charset="-120"/>
              </a:rPr>
              <a:t>7. Approval Conditions &amp; Next Steps</a:t>
            </a:r>
            <a:endParaRPr lang="en-US" sz="2400" dirty="0"/>
          </a:p>
        </p:txBody>
      </p:sp>
      <p:sp>
        <p:nvSpPr>
          <p:cNvPr id="3" name="Text 1"/>
          <p:cNvSpPr txBox="1"/>
          <p:nvPr/>
        </p:nvSpPr>
        <p:spPr>
          <a:xfrm>
            <a:off x="329184" y="512064"/>
            <a:ext cx="11521440" cy="201168"/>
          </a:xfrm>
          <a:prstGeom prst="rect">
            <a:avLst/>
          </a:prstGeom>
          <a:noFill/>
          <a:ln/>
        </p:spPr>
        <p:txBody>
          <a:bodyPr wrap="square" rtlCol="0" anchor="ctr"/>
          <a:lstStyle/>
          <a:p>
            <a:pPr marL="0" indent="0" algn="l">
              <a:buNone/>
            </a:pPr>
            <a:r>
              <a:rPr lang="en-US" sz="1000" i="1" dirty="0">
                <a:solidFill>
                  <a:srgbClr val="6B6B6B"/>
                </a:solidFill>
                <a:latin typeface="Calibri" pitchFamily="34" charset="0"/>
                <a:ea typeface="Calibri" pitchFamily="34" charset="-122"/>
                <a:cs typeface="Calibri" pitchFamily="34" charset="-120"/>
              </a:rPr>
              <a:t>Conditions that must be satisfied before migration processing begins, regardless of which option is selected</a:t>
            </a:r>
            <a:endParaRPr lang="en-US" sz="1000" dirty="0"/>
          </a:p>
        </p:txBody>
      </p:sp>
      <p:sp>
        <p:nvSpPr>
          <p:cNvPr id="4" name="Shape 2"/>
          <p:cNvSpPr/>
          <p:nvPr/>
        </p:nvSpPr>
        <p:spPr>
          <a:xfrm>
            <a:off x="329184" y="950976"/>
            <a:ext cx="329184" cy="694944"/>
          </a:xfrm>
          <a:prstGeom prst="rect">
            <a:avLst/>
          </a:prstGeom>
          <a:solidFill>
            <a:srgbClr val="7A1322"/>
          </a:solidFill>
          <a:ln w="12700">
            <a:solidFill>
              <a:srgbClr val="7A1322"/>
            </a:solidFill>
            <a:prstDash val="solid"/>
          </a:ln>
        </p:spPr>
      </p:sp>
      <p:sp>
        <p:nvSpPr>
          <p:cNvPr id="5" name="Text 3"/>
          <p:cNvSpPr txBox="1"/>
          <p:nvPr/>
        </p:nvSpPr>
        <p:spPr>
          <a:xfrm>
            <a:off x="329184" y="950976"/>
            <a:ext cx="329184" cy="69494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658368" y="950976"/>
            <a:ext cx="11192256" cy="694944"/>
          </a:xfrm>
          <a:prstGeom prst="rect">
            <a:avLst/>
          </a:prstGeom>
          <a:solidFill>
            <a:srgbClr val="FFFFFF"/>
          </a:solidFill>
          <a:ln w="6350">
            <a:solidFill>
              <a:srgbClr val="C8C8C8"/>
            </a:solidFill>
            <a:prstDash val="solid"/>
          </a:ln>
        </p:spPr>
      </p:sp>
      <p:sp>
        <p:nvSpPr>
          <p:cNvPr id="7" name="Text 5"/>
          <p:cNvSpPr txBox="1"/>
          <p:nvPr/>
        </p:nvSpPr>
        <p:spPr>
          <a:xfrm>
            <a:off x="768096" y="1005840"/>
            <a:ext cx="1828800" cy="237744"/>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Data Contract</a:t>
            </a:r>
            <a:endParaRPr lang="en-US" sz="1000" dirty="0"/>
          </a:p>
        </p:txBody>
      </p:sp>
      <p:sp>
        <p:nvSpPr>
          <p:cNvPr id="8" name="Text 6"/>
          <p:cNvSpPr txBox="1"/>
          <p:nvPr/>
        </p:nvSpPr>
        <p:spPr>
          <a:xfrm>
            <a:off x="768096" y="1225296"/>
            <a:ext cx="10972800" cy="365760"/>
          </a:xfrm>
          <a:prstGeom prst="rect">
            <a:avLst/>
          </a:prstGeom>
          <a:noFill/>
          <a:ln/>
        </p:spPr>
        <p:txBody>
          <a:bodyPr wrap="square" rtlCol="0" anchor="ctr"/>
          <a:lstStyle/>
          <a:p>
            <a:pPr marL="0" indent="0">
              <a:buNone/>
            </a:pPr>
            <a:r>
              <a:rPr lang="en-US" sz="950" dirty="0">
                <a:solidFill>
                  <a:srgbClr val="1A1A1A"/>
                </a:solidFill>
                <a:latin typeface="Calibri" pitchFamily="34" charset="0"/>
                <a:ea typeface="Calibri" pitchFamily="34" charset="-122"/>
                <a:cs typeface="Calibri" pitchFamily="34" charset="-120"/>
              </a:rPr>
              <a:t>Agree source-to-target data contract: object types, keys, relationships, and transformation ownership boundaries.</a:t>
            </a:r>
            <a:endParaRPr lang="en-US" sz="950" dirty="0"/>
          </a:p>
        </p:txBody>
      </p:sp>
      <p:sp>
        <p:nvSpPr>
          <p:cNvPr id="9" name="Shape 7"/>
          <p:cNvSpPr/>
          <p:nvPr/>
        </p:nvSpPr>
        <p:spPr>
          <a:xfrm>
            <a:off x="329184" y="1847088"/>
            <a:ext cx="329184" cy="694944"/>
          </a:xfrm>
          <a:prstGeom prst="rect">
            <a:avLst/>
          </a:prstGeom>
          <a:solidFill>
            <a:srgbClr val="7A1322"/>
          </a:solidFill>
          <a:ln w="12700">
            <a:solidFill>
              <a:srgbClr val="7A1322"/>
            </a:solidFill>
            <a:prstDash val="solid"/>
          </a:ln>
        </p:spPr>
      </p:sp>
      <p:sp>
        <p:nvSpPr>
          <p:cNvPr id="10" name="Text 8"/>
          <p:cNvSpPr txBox="1"/>
          <p:nvPr/>
        </p:nvSpPr>
        <p:spPr>
          <a:xfrm>
            <a:off x="329184" y="1847088"/>
            <a:ext cx="329184" cy="69494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Shape 9"/>
          <p:cNvSpPr/>
          <p:nvPr/>
        </p:nvSpPr>
        <p:spPr>
          <a:xfrm>
            <a:off x="658368" y="1847088"/>
            <a:ext cx="11192256" cy="694944"/>
          </a:xfrm>
          <a:prstGeom prst="rect">
            <a:avLst/>
          </a:prstGeom>
          <a:solidFill>
            <a:srgbClr val="F4F4F4"/>
          </a:solidFill>
          <a:ln w="6350">
            <a:solidFill>
              <a:srgbClr val="C8C8C8"/>
            </a:solidFill>
            <a:prstDash val="solid"/>
          </a:ln>
        </p:spPr>
      </p:sp>
      <p:sp>
        <p:nvSpPr>
          <p:cNvPr id="12" name="Text 10"/>
          <p:cNvSpPr txBox="1"/>
          <p:nvPr/>
        </p:nvSpPr>
        <p:spPr>
          <a:xfrm>
            <a:off x="768096" y="1901952"/>
            <a:ext cx="1828800" cy="237744"/>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Integrated Test</a:t>
            </a:r>
            <a:endParaRPr lang="en-US" sz="1000" dirty="0"/>
          </a:p>
        </p:txBody>
      </p:sp>
      <p:sp>
        <p:nvSpPr>
          <p:cNvPr id="13" name="Text 11"/>
          <p:cNvSpPr txBox="1"/>
          <p:nvPr/>
        </p:nvSpPr>
        <p:spPr>
          <a:xfrm>
            <a:off x="768096" y="2121408"/>
            <a:ext cx="10972800" cy="365760"/>
          </a:xfrm>
          <a:prstGeom prst="rect">
            <a:avLst/>
          </a:prstGeom>
          <a:noFill/>
          <a:ln/>
        </p:spPr>
        <p:txBody>
          <a:bodyPr wrap="square" rtlCol="0" anchor="ctr"/>
          <a:lstStyle/>
          <a:p>
            <a:pPr marL="0" indent="0">
              <a:buNone/>
            </a:pPr>
            <a:r>
              <a:rPr lang="en-US" sz="950" dirty="0">
                <a:solidFill>
                  <a:srgbClr val="1A1A1A"/>
                </a:solidFill>
                <a:latin typeface="Calibri" pitchFamily="34" charset="0"/>
                <a:ea typeface="Calibri" pitchFamily="34" charset="-122"/>
                <a:cs typeface="Calibri" pitchFamily="34" charset="-120"/>
              </a:rPr>
              <a:t>Test database execution, data transfer, JSON or relational parsing, transformation, mapping, and reconciliation together as a single end-to-end flow.</a:t>
            </a:r>
            <a:endParaRPr lang="en-US" sz="950" dirty="0"/>
          </a:p>
        </p:txBody>
      </p:sp>
      <p:sp>
        <p:nvSpPr>
          <p:cNvPr id="14" name="Shape 12"/>
          <p:cNvSpPr/>
          <p:nvPr/>
        </p:nvSpPr>
        <p:spPr>
          <a:xfrm>
            <a:off x="329184" y="2743200"/>
            <a:ext cx="329184" cy="694944"/>
          </a:xfrm>
          <a:prstGeom prst="rect">
            <a:avLst/>
          </a:prstGeom>
          <a:solidFill>
            <a:srgbClr val="7A1322"/>
          </a:solidFill>
          <a:ln w="12700">
            <a:solidFill>
              <a:srgbClr val="7A1322"/>
            </a:solidFill>
            <a:prstDash val="solid"/>
          </a:ln>
        </p:spPr>
      </p:sp>
      <p:sp>
        <p:nvSpPr>
          <p:cNvPr id="15" name="Text 13"/>
          <p:cNvSpPr txBox="1"/>
          <p:nvPr/>
        </p:nvSpPr>
        <p:spPr>
          <a:xfrm>
            <a:off x="329184" y="2743200"/>
            <a:ext cx="329184" cy="69494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Shape 14"/>
          <p:cNvSpPr/>
          <p:nvPr/>
        </p:nvSpPr>
        <p:spPr>
          <a:xfrm>
            <a:off x="658368" y="2743200"/>
            <a:ext cx="11192256" cy="694944"/>
          </a:xfrm>
          <a:prstGeom prst="rect">
            <a:avLst/>
          </a:prstGeom>
          <a:solidFill>
            <a:srgbClr val="FFFFFF"/>
          </a:solidFill>
          <a:ln w="6350">
            <a:solidFill>
              <a:srgbClr val="C8C8C8"/>
            </a:solidFill>
            <a:prstDash val="solid"/>
          </a:ln>
        </p:spPr>
      </p:sp>
      <p:sp>
        <p:nvSpPr>
          <p:cNvPr id="17" name="Text 15"/>
          <p:cNvSpPr txBox="1"/>
          <p:nvPr/>
        </p:nvSpPr>
        <p:spPr>
          <a:xfrm>
            <a:off x="768096" y="2798064"/>
            <a:ext cx="1828800" cy="237744"/>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Batch Controls</a:t>
            </a:r>
            <a:endParaRPr lang="en-US" sz="1000" dirty="0"/>
          </a:p>
        </p:txBody>
      </p:sp>
      <p:sp>
        <p:nvSpPr>
          <p:cNvPr id="18" name="Text 16"/>
          <p:cNvSpPr txBox="1"/>
          <p:nvPr/>
        </p:nvSpPr>
        <p:spPr>
          <a:xfrm>
            <a:off x="768096" y="3017520"/>
            <a:ext cx="10972800" cy="365760"/>
          </a:xfrm>
          <a:prstGeom prst="rect">
            <a:avLst/>
          </a:prstGeom>
          <a:noFill/>
          <a:ln/>
        </p:spPr>
        <p:txBody>
          <a:bodyPr wrap="square" rtlCol="0" anchor="ctr"/>
          <a:lstStyle/>
          <a:p>
            <a:pPr marL="0" indent="0">
              <a:buNone/>
            </a:pPr>
            <a:r>
              <a:rPr lang="en-US" sz="950" dirty="0">
                <a:solidFill>
                  <a:srgbClr val="1A1A1A"/>
                </a:solidFill>
                <a:latin typeface="Calibri" pitchFamily="34" charset="0"/>
                <a:ea typeface="Calibri" pitchFamily="34" charset="-122"/>
                <a:cs typeface="Calibri" pitchFamily="34" charset="-120"/>
              </a:rPr>
              <a:t>Confirm batching strategy, restart capability, duplicate prevention logic, and rejected-record replay mechanism.</a:t>
            </a:r>
            <a:endParaRPr lang="en-US" sz="950" dirty="0"/>
          </a:p>
        </p:txBody>
      </p:sp>
      <p:sp>
        <p:nvSpPr>
          <p:cNvPr id="19" name="Shape 17"/>
          <p:cNvSpPr/>
          <p:nvPr/>
        </p:nvSpPr>
        <p:spPr>
          <a:xfrm>
            <a:off x="329184" y="3639312"/>
            <a:ext cx="329184" cy="694944"/>
          </a:xfrm>
          <a:prstGeom prst="rect">
            <a:avLst/>
          </a:prstGeom>
          <a:solidFill>
            <a:srgbClr val="7A1322"/>
          </a:solidFill>
          <a:ln w="12700">
            <a:solidFill>
              <a:srgbClr val="7A1322"/>
            </a:solidFill>
            <a:prstDash val="solid"/>
          </a:ln>
        </p:spPr>
      </p:sp>
      <p:sp>
        <p:nvSpPr>
          <p:cNvPr id="20" name="Text 18"/>
          <p:cNvSpPr txBox="1"/>
          <p:nvPr/>
        </p:nvSpPr>
        <p:spPr>
          <a:xfrm>
            <a:off x="329184" y="3639312"/>
            <a:ext cx="329184" cy="69494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Shape 19"/>
          <p:cNvSpPr/>
          <p:nvPr/>
        </p:nvSpPr>
        <p:spPr>
          <a:xfrm>
            <a:off x="658368" y="3639312"/>
            <a:ext cx="11192256" cy="694944"/>
          </a:xfrm>
          <a:prstGeom prst="rect">
            <a:avLst/>
          </a:prstGeom>
          <a:solidFill>
            <a:srgbClr val="F4F4F4"/>
          </a:solidFill>
          <a:ln w="6350">
            <a:solidFill>
              <a:srgbClr val="C8C8C8"/>
            </a:solidFill>
            <a:prstDash val="solid"/>
          </a:ln>
        </p:spPr>
      </p:sp>
      <p:sp>
        <p:nvSpPr>
          <p:cNvPr id="22" name="Text 20"/>
          <p:cNvSpPr txBox="1"/>
          <p:nvPr/>
        </p:nvSpPr>
        <p:spPr>
          <a:xfrm>
            <a:off x="768096" y="3694176"/>
            <a:ext cx="1828800" cy="237744"/>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Operational Ownership</a:t>
            </a:r>
            <a:endParaRPr lang="en-US" sz="1000" dirty="0"/>
          </a:p>
        </p:txBody>
      </p:sp>
      <p:sp>
        <p:nvSpPr>
          <p:cNvPr id="23" name="Text 21"/>
          <p:cNvSpPr txBox="1"/>
          <p:nvPr/>
        </p:nvSpPr>
        <p:spPr>
          <a:xfrm>
            <a:off x="768096" y="3913632"/>
            <a:ext cx="10972800" cy="365760"/>
          </a:xfrm>
          <a:prstGeom prst="rect">
            <a:avLst/>
          </a:prstGeom>
          <a:noFill/>
          <a:ln/>
        </p:spPr>
        <p:txBody>
          <a:bodyPr wrap="square" rtlCol="0" anchor="ctr"/>
          <a:lstStyle/>
          <a:p>
            <a:pPr marL="0" indent="0">
              <a:buNone/>
            </a:pPr>
            <a:r>
              <a:rPr lang="en-US" sz="950" dirty="0">
                <a:solidFill>
                  <a:srgbClr val="1A1A1A"/>
                </a:solidFill>
                <a:latin typeface="Calibri" pitchFamily="34" charset="0"/>
                <a:ea typeface="Calibri" pitchFamily="34" charset="-122"/>
                <a:cs typeface="Calibri" pitchFamily="34" charset="-120"/>
              </a:rPr>
              <a:t>Assign clear operational ownership across Oracle, the connector layer, and Ping AIC components.</a:t>
            </a:r>
            <a:endParaRPr lang="en-US" sz="950" dirty="0"/>
          </a:p>
        </p:txBody>
      </p:sp>
      <p:sp>
        <p:nvSpPr>
          <p:cNvPr id="24" name="Shape 22"/>
          <p:cNvSpPr/>
          <p:nvPr/>
        </p:nvSpPr>
        <p:spPr>
          <a:xfrm>
            <a:off x="329184" y="4535424"/>
            <a:ext cx="329184" cy="694944"/>
          </a:xfrm>
          <a:prstGeom prst="rect">
            <a:avLst/>
          </a:prstGeom>
          <a:solidFill>
            <a:srgbClr val="7A1322"/>
          </a:solidFill>
          <a:ln w="12700">
            <a:solidFill>
              <a:srgbClr val="7A1322"/>
            </a:solidFill>
            <a:prstDash val="solid"/>
          </a:ln>
        </p:spPr>
      </p:sp>
      <p:sp>
        <p:nvSpPr>
          <p:cNvPr id="25" name="Text 23"/>
          <p:cNvSpPr txBox="1"/>
          <p:nvPr/>
        </p:nvSpPr>
        <p:spPr>
          <a:xfrm>
            <a:off x="329184" y="4535424"/>
            <a:ext cx="329184" cy="69494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Shape 24"/>
          <p:cNvSpPr/>
          <p:nvPr/>
        </p:nvSpPr>
        <p:spPr>
          <a:xfrm>
            <a:off x="658368" y="4535424"/>
            <a:ext cx="11192256" cy="694944"/>
          </a:xfrm>
          <a:prstGeom prst="rect">
            <a:avLst/>
          </a:prstGeom>
          <a:solidFill>
            <a:srgbClr val="FFFFFF"/>
          </a:solidFill>
          <a:ln w="6350">
            <a:solidFill>
              <a:srgbClr val="C8C8C8"/>
            </a:solidFill>
            <a:prstDash val="solid"/>
          </a:ln>
        </p:spPr>
      </p:sp>
      <p:sp>
        <p:nvSpPr>
          <p:cNvPr id="27" name="Text 25"/>
          <p:cNvSpPr txBox="1"/>
          <p:nvPr/>
        </p:nvSpPr>
        <p:spPr>
          <a:xfrm>
            <a:off x="768096" y="4590288"/>
            <a:ext cx="1828800" cy="237744"/>
          </a:xfrm>
          <a:prstGeom prst="rect">
            <a:avLst/>
          </a:prstGeom>
          <a:noFill/>
          <a:ln/>
        </p:spPr>
        <p:txBody>
          <a:bodyPr wrap="square" rtlCol="0" anchor="ctr"/>
          <a:lstStyle/>
          <a:p>
            <a:pPr marL="0" indent="0">
              <a:buNone/>
            </a:pPr>
            <a:r>
              <a:rPr lang="en-US" sz="1000" b="1" dirty="0">
                <a:solidFill>
                  <a:srgbClr val="7A1322"/>
                </a:solidFill>
                <a:latin typeface="Calibri" pitchFamily="34" charset="0"/>
                <a:ea typeface="Calibri" pitchFamily="34" charset="-122"/>
                <a:cs typeface="Calibri" pitchFamily="34" charset="-120"/>
              </a:rPr>
              <a:t>Exit Controls</a:t>
            </a:r>
            <a:endParaRPr lang="en-US" sz="1000" dirty="0"/>
          </a:p>
        </p:txBody>
      </p:sp>
      <p:sp>
        <p:nvSpPr>
          <p:cNvPr id="28" name="Text 26"/>
          <p:cNvSpPr txBox="1"/>
          <p:nvPr/>
        </p:nvSpPr>
        <p:spPr>
          <a:xfrm>
            <a:off x="768096" y="4809744"/>
            <a:ext cx="10972800" cy="365760"/>
          </a:xfrm>
          <a:prstGeom prst="rect">
            <a:avLst/>
          </a:prstGeom>
          <a:noFill/>
          <a:ln/>
        </p:spPr>
        <p:txBody>
          <a:bodyPr wrap="square" rtlCol="0" anchor="ctr"/>
          <a:lstStyle/>
          <a:p>
            <a:pPr marL="0" indent="0">
              <a:buNone/>
            </a:pPr>
            <a:r>
              <a:rPr lang="en-US" sz="950" dirty="0">
                <a:solidFill>
                  <a:srgbClr val="1A1A1A"/>
                </a:solidFill>
                <a:latin typeface="Calibri" pitchFamily="34" charset="0"/>
                <a:ea typeface="Calibri" pitchFamily="34" charset="-122"/>
                <a:cs typeface="Calibri" pitchFamily="34" charset="-120"/>
              </a:rPr>
              <a:t>Define continuity, backup, export, retention, and decommissioning responsibilities for each component.</a:t>
            </a:r>
            <a:endParaRPr lang="en-US" sz="950" dirty="0"/>
          </a:p>
        </p:txBody>
      </p:sp>
      <p:sp>
        <p:nvSpPr>
          <p:cNvPr id="29" name="Shape 27"/>
          <p:cNvSpPr/>
          <p:nvPr/>
        </p:nvSpPr>
        <p:spPr>
          <a:xfrm>
            <a:off x="329184" y="5486400"/>
            <a:ext cx="11521440" cy="1042416"/>
          </a:xfrm>
          <a:prstGeom prst="rect">
            <a:avLst/>
          </a:prstGeom>
          <a:solidFill>
            <a:srgbClr val="1E1E2E"/>
          </a:solidFill>
          <a:ln w="12700">
            <a:solidFill>
              <a:srgbClr val="1E1E2E"/>
            </a:solidFill>
            <a:prstDash val="solid"/>
          </a:ln>
        </p:spPr>
      </p:sp>
      <p:sp>
        <p:nvSpPr>
          <p:cNvPr id="30" name="Text 28"/>
          <p:cNvSpPr txBox="1"/>
          <p:nvPr/>
        </p:nvSpPr>
        <p:spPr>
          <a:xfrm>
            <a:off x="493776" y="5541264"/>
            <a:ext cx="2743200" cy="219456"/>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Next Steps</a:t>
            </a:r>
            <a:endParaRPr lang="en-US" sz="1050" dirty="0"/>
          </a:p>
        </p:txBody>
      </p:sp>
      <p:sp>
        <p:nvSpPr>
          <p:cNvPr id="31" name="Text 29"/>
          <p:cNvSpPr txBox="1"/>
          <p:nvPr/>
        </p:nvSpPr>
        <p:spPr>
          <a:xfrm>
            <a:off x="493776" y="5760720"/>
            <a:ext cx="11247120" cy="146304"/>
          </a:xfrm>
          <a:prstGeom prst="rect">
            <a:avLst/>
          </a:prstGeom>
          <a:noFill/>
          <a:ln/>
        </p:spPr>
        <p:txBody>
          <a:bodyPr wrap="square" rtlCol="0" anchor="ctr"/>
          <a:lstStyle/>
          <a:p>
            <a:pPr marL="0" indent="0">
              <a:buNone/>
            </a:pPr>
            <a:r>
              <a:rPr lang="en-US" sz="900" dirty="0">
                <a:solidFill>
                  <a:srgbClr val="C8C8C8"/>
                </a:solidFill>
                <a:latin typeface="Calibri" pitchFamily="34" charset="0"/>
                <a:ea typeface="Calibri" pitchFamily="34" charset="-122"/>
                <a:cs typeface="Calibri" pitchFamily="34" charset="-120"/>
              </a:rPr>
              <a:t>1.  Confirm preferred option in joint design workshop with MUFG and Ping AIC team</a:t>
            </a:r>
            <a:endParaRPr lang="en-US" sz="900" dirty="0"/>
          </a:p>
        </p:txBody>
      </p:sp>
      <p:sp>
        <p:nvSpPr>
          <p:cNvPr id="32" name="Text 30"/>
          <p:cNvSpPr txBox="1"/>
          <p:nvPr/>
        </p:nvSpPr>
        <p:spPr>
          <a:xfrm>
            <a:off x="493776" y="5925312"/>
            <a:ext cx="11247120" cy="146304"/>
          </a:xfrm>
          <a:prstGeom prst="rect">
            <a:avLst/>
          </a:prstGeom>
          <a:noFill/>
          <a:ln/>
        </p:spPr>
        <p:txBody>
          <a:bodyPr wrap="square" rtlCol="0" anchor="ctr"/>
          <a:lstStyle/>
          <a:p>
            <a:pPr marL="0" indent="0">
              <a:buNone/>
            </a:pPr>
            <a:r>
              <a:rPr lang="en-US" sz="900" dirty="0">
                <a:solidFill>
                  <a:srgbClr val="C8C8C8"/>
                </a:solidFill>
                <a:latin typeface="Calibri" pitchFamily="34" charset="0"/>
                <a:ea typeface="Calibri" pitchFamily="34" charset="-122"/>
                <a:cs typeface="Calibri" pitchFamily="34" charset="-120"/>
              </a:rPr>
              <a:t>2.  Define Oracle view / procedure schema and key mappings per object type (users, apps, orgs, relationships)</a:t>
            </a:r>
            <a:endParaRPr lang="en-US" sz="900" dirty="0"/>
          </a:p>
        </p:txBody>
      </p:sp>
      <p:sp>
        <p:nvSpPr>
          <p:cNvPr id="33" name="Text 31"/>
          <p:cNvSpPr txBox="1"/>
          <p:nvPr/>
        </p:nvSpPr>
        <p:spPr>
          <a:xfrm>
            <a:off x="493776" y="6089904"/>
            <a:ext cx="11247120" cy="146304"/>
          </a:xfrm>
          <a:prstGeom prst="rect">
            <a:avLst/>
          </a:prstGeom>
          <a:noFill/>
          <a:ln/>
        </p:spPr>
        <p:txBody>
          <a:bodyPr wrap="square" rtlCol="0" anchor="ctr"/>
          <a:lstStyle/>
          <a:p>
            <a:pPr marL="0" indent="0">
              <a:buNone/>
            </a:pPr>
            <a:r>
              <a:rPr lang="en-US" sz="900" dirty="0">
                <a:solidFill>
                  <a:srgbClr val="C8C8C8"/>
                </a:solidFill>
                <a:latin typeface="Calibri" pitchFamily="34" charset="0"/>
                <a:ea typeface="Calibri" pitchFamily="34" charset="-122"/>
                <a:cs typeface="Calibri" pitchFamily="34" charset="-120"/>
              </a:rPr>
              <a:t>3.  Build and test connector configuration with production-representative sample data</a:t>
            </a:r>
            <a:endParaRPr lang="en-US" sz="900" dirty="0"/>
          </a:p>
        </p:txBody>
      </p:sp>
      <p:sp>
        <p:nvSpPr>
          <p:cNvPr id="34" name="Text 32"/>
          <p:cNvSpPr txBox="1"/>
          <p:nvPr/>
        </p:nvSpPr>
        <p:spPr>
          <a:xfrm>
            <a:off x="493776" y="6254496"/>
            <a:ext cx="11247120" cy="146304"/>
          </a:xfrm>
          <a:prstGeom prst="rect">
            <a:avLst/>
          </a:prstGeom>
          <a:noFill/>
          <a:ln/>
        </p:spPr>
        <p:txBody>
          <a:bodyPr wrap="square" rtlCol="0" anchor="ctr"/>
          <a:lstStyle/>
          <a:p>
            <a:pPr marL="0" indent="0">
              <a:buNone/>
            </a:pPr>
            <a:r>
              <a:rPr lang="en-US" sz="900" dirty="0">
                <a:solidFill>
                  <a:srgbClr val="C8C8C8"/>
                </a:solidFill>
                <a:latin typeface="Calibri" pitchFamily="34" charset="0"/>
                <a:ea typeface="Calibri" pitchFamily="34" charset="-122"/>
                <a:cs typeface="Calibri" pitchFamily="34" charset="-120"/>
              </a:rPr>
              <a:t>4.  Execute end-to-end reconciliation test; obtain sign-off before production migration run</a:t>
            </a:r>
            <a:endParaRPr lang="en-US" sz="900" dirty="0"/>
          </a:p>
        </p:txBody>
      </p:sp>
      <p:sp>
        <p:nvSpPr>
          <p:cNvPr id="35" name="Text 33"/>
          <p:cNvSpPr txBox="1"/>
          <p:nvPr/>
        </p:nvSpPr>
        <p:spPr>
          <a:xfrm>
            <a:off x="329184" y="6675120"/>
            <a:ext cx="8229600" cy="128016"/>
          </a:xfrm>
          <a:prstGeom prst="rect">
            <a:avLst/>
          </a:prstGeom>
          <a:noFill/>
          <a:ln/>
        </p:spPr>
        <p:txBody>
          <a:bodyPr wrap="square" rtlCol="0" anchor="ctr"/>
          <a:lstStyle/>
          <a:p>
            <a:pPr marL="0" indent="0">
              <a:buNone/>
            </a:pPr>
            <a:r>
              <a:rPr lang="en-US" sz="700" i="1" dirty="0">
                <a:solidFill>
                  <a:srgbClr val="C8C8C8"/>
                </a:solidFill>
                <a:latin typeface="Calibri" pitchFamily="34" charset="0"/>
                <a:ea typeface="Calibri" pitchFamily="34" charset="-122"/>
                <a:cs typeface="Calibri" pitchFamily="34" charset="-120"/>
              </a:rPr>
              <a:t>MUFG / Ping AIC Oracle Migration — Objective and Options</a:t>
            </a:r>
            <a:endParaRPr lang="en-US" sz="700" dirty="0"/>
          </a:p>
        </p:txBody>
      </p:sp>
      <p:sp>
        <p:nvSpPr>
          <p:cNvPr id="36" name="Text 34"/>
          <p:cNvSpPr txBox="1"/>
          <p:nvPr/>
        </p:nvSpPr>
        <p:spPr>
          <a:xfrm>
            <a:off x="8686800" y="6675120"/>
            <a:ext cx="3163824" cy="128016"/>
          </a:xfrm>
          <a:prstGeom prst="rect">
            <a:avLst/>
          </a:prstGeom>
          <a:noFill/>
          <a:ln/>
        </p:spPr>
        <p:txBody>
          <a:bodyPr wrap="square" rtlCol="0" anchor="ctr"/>
          <a:lstStyle/>
          <a:p>
            <a:pPr marL="0" indent="0" algn="r">
              <a:buNone/>
            </a:pPr>
            <a:r>
              <a:rPr lang="en-US" sz="700" i="1" dirty="0">
                <a:solidFill>
                  <a:srgbClr val="C8C8C8"/>
                </a:solidFill>
                <a:latin typeface="Calibri" pitchFamily="34" charset="0"/>
                <a:ea typeface="Calibri" pitchFamily="34" charset="-122"/>
                <a:cs typeface="Calibri" pitchFamily="34" charset="-120"/>
              </a:rPr>
              <a:t>Slide 8</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1961</Words>
  <Application>Microsoft Office PowerPoint</Application>
  <PresentationFormat>Widescreen</PresentationFormat>
  <Paragraphs>225</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Nisheeth Bhardwaj</cp:lastModifiedBy>
  <cp:revision>2</cp:revision>
  <dcterms:created xsi:type="dcterms:W3CDTF">2026-10-14T17:38:44Z</dcterms:created>
  <dcterms:modified xsi:type="dcterms:W3CDTF">2026-10-14T17:43:42Z</dcterms:modified>
</cp:coreProperties>
</file>