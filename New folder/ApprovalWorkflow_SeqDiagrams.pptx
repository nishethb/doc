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54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Generic Approval Workflow  (UAP / Ping AIC Governance)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Applies to: IP Address Whitelisting · Additional Physical Token · Product Entitlement (Conditional)  ·  Ping AIC Governance Workflow handles approval routing &amp; notifications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93852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193852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/ Admin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Submits request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53512" y="822960"/>
            <a:ext cx="193852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53512" y="822960"/>
            <a:ext cx="193852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UAP Portal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Request entry &amp; 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04104" y="822960"/>
            <a:ext cx="193852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04104" y="822960"/>
            <a:ext cx="193852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Ping AIC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(Governance)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Approval engine &amp; notifications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54696" y="822960"/>
            <a:ext cx="193852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54696" y="822960"/>
            <a:ext cx="193852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Designated decision maker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305288" y="822960"/>
            <a:ext cx="193852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05288" y="822960"/>
            <a:ext cx="193852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 System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Fulfillment endpoint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72184" y="1335024"/>
            <a:ext cx="0" cy="480974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922776" y="1335024"/>
            <a:ext cx="0" cy="480974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373368" y="1335024"/>
            <a:ext cx="0" cy="480974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823960" y="1335024"/>
            <a:ext cx="0" cy="480974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1274552" y="1335024"/>
            <a:ext cx="0" cy="480974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472184" y="1572768"/>
            <a:ext cx="245059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527048" y="1316736"/>
            <a:ext cx="23408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dirty="0">
                <a:solidFill>
                  <a:srgbClr val="262626"/>
                </a:solidFill>
              </a:rPr>
              <a:t>1. Submit request (IP whitelist / token / entitlement / other)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18888" y="1993392"/>
            <a:ext cx="3108960" cy="347472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1993392"/>
            <a:ext cx="3108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</a:rPr>
              <a:t>2. Ping AIC validates mandatory request fields — completeness &amp; format check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22776" y="2505456"/>
            <a:ext cx="245059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977640" y="2249424"/>
            <a:ext cx="23408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dirty="0">
                <a:solidFill>
                  <a:srgbClr val="262626"/>
                </a:solidFill>
              </a:rPr>
              <a:t>3. UAP forwards validated request to Ping AIC Governance Workflow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73368" y="2926080"/>
            <a:ext cx="245059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428232" y="2670048"/>
            <a:ext cx="23408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dirty="0">
                <a:solidFill>
                  <a:srgbClr val="262626"/>
                </a:solidFill>
              </a:rPr>
              <a:t>4. Ping AIC routes request to designated approver — email notification sent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flipH="1">
            <a:off x="6373368" y="3346704"/>
            <a:ext cx="245059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428232" y="3090672"/>
            <a:ext cx="23408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6B6B"/>
                </a:solidFill>
              </a:rPr>
              <a:t>5. Approver reviews &amp; submits decision — APPROVE or REJECT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18888" y="3767328"/>
            <a:ext cx="3108960" cy="347472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767328"/>
            <a:ext cx="3108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</a:rPr>
              <a:t>6. Ping AIC records decision — if REJECTED: notify user, close request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73368" y="4297680"/>
            <a:ext cx="490118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428232" y="4041648"/>
            <a:ext cx="4791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dirty="0">
                <a:solidFill>
                  <a:srgbClr val="262626"/>
                </a:solidFill>
              </a:rPr>
              <a:t>7. APPROVED: Ping AIC triggers fulfillment — sends request to target system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268712" y="4626864"/>
            <a:ext cx="2011680" cy="347472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68712" y="4626864"/>
            <a:ext cx="2011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</a:rPr>
              <a:t>8. Target system executes fulfillment activity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 flipH="1">
            <a:off x="6373368" y="5102352"/>
            <a:ext cx="490118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428232" y="4846320"/>
            <a:ext cx="4791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6B6B"/>
                </a:solidFill>
              </a:rPr>
              <a:t>9. Fulfillment result returned — success / failure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18888" y="5486400"/>
            <a:ext cx="3108960" cy="347472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5486400"/>
            <a:ext cx="3108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</a:rPr>
              <a:t>10. Ping AIC updates audit log — status, decision, outcome recorded — completion notification sent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6236208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B6B6B"/>
                </a:solidFill>
              </a:rPr>
              <a:t>Black solid → request/call  ·  Black dashed → response/return  ·  Red-tint box → system processing step  ·  Ping AIC Governance Workflow orchestrates approval routing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6601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Permanent User Deletion Workflow  (UAP / Ping AIC Governance)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Deletion requires approval + parent work order in UAP + child work orders per enrolled product  ·  Parent remains open until all child work orders complete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64592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Initiates deletion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822960"/>
            <a:ext cx="164592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822960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UAP Portal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Work order engine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822960"/>
            <a:ext cx="164592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822960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Ping AIC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(Governance)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Approval &amp; orchestration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822960"/>
            <a:ext cx="164592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822960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Decision maker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822960"/>
            <a:ext cx="164592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822960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(Child WO)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Enrolled product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424160" y="822960"/>
            <a:ext cx="164592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0" y="822960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(Child WO)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Enrolled product 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88720" y="1335024"/>
            <a:ext cx="0" cy="480974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0400" y="1335024"/>
            <a:ext cx="0" cy="480974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212080" y="1335024"/>
            <a:ext cx="0" cy="480974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223760" y="1335024"/>
            <a:ext cx="0" cy="480974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235440" y="1335024"/>
            <a:ext cx="0" cy="480974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247120" y="1335024"/>
            <a:ext cx="0" cy="480974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188720" y="1536192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243584" y="1280160"/>
            <a:ext cx="19019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dirty="0">
                <a:solidFill>
                  <a:srgbClr val="262626"/>
                </a:solidFill>
              </a:rPr>
              <a:t>1. Submit permanent user deletion request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1865376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255264" y="1609344"/>
            <a:ext cx="19019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dirty="0">
                <a:solidFill>
                  <a:srgbClr val="262626"/>
                </a:solidFill>
              </a:rPr>
              <a:t>2. UAP forwards deletion request to Ping AIC Governance Workflow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12080" y="2194560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266944" y="1938528"/>
            <a:ext cx="19019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dirty="0">
                <a:solidFill>
                  <a:srgbClr val="262626"/>
                </a:solidFill>
              </a:rPr>
              <a:t>3. Ping AIC routes to designated approver — deletion notification sent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flipH="1">
            <a:off x="5212080" y="2523744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266944" y="2267712"/>
            <a:ext cx="19019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6B6B"/>
                </a:solidFill>
              </a:rPr>
              <a:t>4. Approver reviews &amp; submits APPROVE or REJECT decision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31920" y="2647232"/>
            <a:ext cx="2560320" cy="347472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50770" y="2675513"/>
            <a:ext cx="2560320" cy="32145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</a:rPr>
              <a:t>5. APPROVED: Ping AIC confirms — processing begins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3210393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255264" y="3001496"/>
            <a:ext cx="19019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dirty="0">
                <a:solidFill>
                  <a:srgbClr val="262626"/>
                </a:solidFill>
              </a:rPr>
              <a:t>6. UAP creates parent work order — links to user deletion case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3511296"/>
            <a:ext cx="60350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255264" y="3255264"/>
            <a:ext cx="59253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dirty="0">
                <a:solidFill>
                  <a:srgbClr val="262626"/>
                </a:solidFill>
              </a:rPr>
              <a:t>7. UAP generates child work order for each enrolled product (Product A, Product B … N)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235440" y="3840480"/>
            <a:ext cx="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290304" y="3584448"/>
            <a:ext cx="3657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dirty="0">
                <a:solidFill>
                  <a:srgbClr val="262626"/>
                </a:solidFill>
              </a:rPr>
              <a:t>.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21040" y="3785616"/>
            <a:ext cx="1828800" cy="347472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</a:rPr>
              <a:t>8. Product A: executes user deletion activity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332720" y="3785616"/>
            <a:ext cx="1828800" cy="347472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0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</a:rPr>
              <a:t>8. Product B: executes user deletion activity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 flipH="1">
            <a:off x="3200400" y="4169664"/>
            <a:ext cx="60350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3255264" y="3913632"/>
            <a:ext cx="59253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6B6B"/>
                </a:solidFill>
              </a:rPr>
              <a:t>9. Product A child work order closed — deletion confirmed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 flipH="1">
            <a:off x="3200400" y="4498848"/>
            <a:ext cx="804672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3255264" y="4242816"/>
            <a:ext cx="79369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6B6B"/>
                </a:solidFill>
              </a:rPr>
              <a:t>10. Product B child work order closed — deletion confirmed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20240" y="4773168"/>
            <a:ext cx="2560320" cy="347472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20240" y="4773168"/>
            <a:ext cx="25603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</a:rPr>
              <a:t>11. Parent work order closed — all child WOs complete — user removed from UAP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931920" y="5102352"/>
            <a:ext cx="2560320" cy="347472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5102352"/>
            <a:ext cx="25603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</a:rPr>
              <a:t>12. Ping AIC updates audit records — completion status logged — admin notified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43000" y="5559552"/>
            <a:ext cx="10287000" cy="27432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43000" y="5559552"/>
            <a:ext cx="1028700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Parent work order remains OPEN until ALL child work orders are successfully closed — ensures complete downstream deletion across all enrolled products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02920" y="6236208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B6B6B"/>
                </a:solidFill>
              </a:rPr>
              <a:t>Black solid → request/call  ·  Black dashed → response/return  ·  Red-tint box → system processing step  ·  Ping AIC Governance Workflow orchestrates approval routing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2920" y="6601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513</Words>
  <Application>Microsoft Office PowerPoint</Application>
  <PresentationFormat>Widescreen</PresentationFormat>
  <Paragraphs>61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Nisheeth Bhardwaj</cp:lastModifiedBy>
  <cp:revision>3</cp:revision>
  <dcterms:created xsi:type="dcterms:W3CDTF">2026-08-27T16:04:46Z</dcterms:created>
  <dcterms:modified xsi:type="dcterms:W3CDTF">2026-08-27T16:20:26Z</dcterms:modified>
</cp:coreProperties>
</file>