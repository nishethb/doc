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ngle Approval Bloc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65609" y="244362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Single Approval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Approval request · Pending action lock · Approval list &amp; detail page · Grant / deny · Approval waiver · Dual-approval check · Error handling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5115906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493590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607200" y="1355000"/>
            <a:ext cx="4815906" cy="5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82200" y="1416200"/>
            <a:ext cx="466590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UAP Admin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82200" y="1609240"/>
            <a:ext cx="4665906" cy="1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All admin actions require approval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Except: login/HRT &amp; external enrollment actions</a:t>
            </a:r>
          </a:p>
        </p:txBody>
      </p:sp>
      <p:sp>
        <p:nvSpPr>
          <p:cNvPr id="108" name="S108"/>
          <p:cNvSpPr/>
          <p:nvPr/>
        </p:nvSpPr>
        <p:spPr>
          <a:xfrm>
            <a:off x="572200" y="2020000"/>
            <a:ext cx="4885906" cy="44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57200" y="2065000"/>
            <a:ext cx="473590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Approval Capabilities</a:t>
            </a:r>
          </a:p>
        </p:txBody>
      </p:sp>
      <p:sp>
        <p:nvSpPr>
          <p:cNvPr id="110" name="S110"/>
          <p:cNvSpPr/>
          <p:nvPr/>
        </p:nvSpPr>
        <p:spPr>
          <a:xfrm>
            <a:off x="652200" y="2265000"/>
            <a:ext cx="1521968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727200" y="2510700"/>
            <a:ext cx="1371968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Approval
Request</a:t>
            </a:r>
          </a:p>
        </p:txBody>
      </p:sp>
      <p:sp>
        <p:nvSpPr>
          <p:cNvPr id="112" name="ML112"/>
          <p:cNvSpPr/>
          <p:nvPr/>
        </p:nvSpPr>
        <p:spPr>
          <a:xfrm>
            <a:off x="727200" y="2764700"/>
            <a:ext cx="1371968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Admin makes change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System sends to approver queue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Pending action locked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Cannot re-edit until approved/denied</a:t>
            </a:r>
          </a:p>
        </p:txBody>
      </p:sp>
      <p:sp>
        <p:nvSpPr>
          <p:cNvPr id="113" name="S113"/>
          <p:cNvSpPr/>
          <p:nvPr/>
        </p:nvSpPr>
        <p:spPr>
          <a:xfrm>
            <a:off x="2254168" y="2265000"/>
            <a:ext cx="1521968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2329168" y="2510700"/>
            <a:ext cx="1371968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Approvals
List &amp; Detail</a:t>
            </a:r>
          </a:p>
        </p:txBody>
      </p:sp>
      <p:sp>
        <p:nvSpPr>
          <p:cNvPr id="115" name="ML115"/>
          <p:cNvSpPr/>
          <p:nvPr/>
        </p:nvSpPr>
        <p:spPr>
          <a:xfrm>
            <a:off x="2329168" y="2764700"/>
            <a:ext cx="1371968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Login shows pending approvals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List page: all pending items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Detail page: all fields to decide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Click item to view detail</a:t>
            </a:r>
          </a:p>
        </p:txBody>
      </p:sp>
      <p:sp>
        <p:nvSpPr>
          <p:cNvPr id="116" name="S116"/>
          <p:cNvSpPr/>
          <p:nvPr/>
        </p:nvSpPr>
        <p:spPr>
          <a:xfrm>
            <a:off x="3856136" y="2265000"/>
            <a:ext cx="1521968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7" name="T117"/>
          <p:cNvSpPr/>
          <p:nvPr/>
        </p:nvSpPr>
        <p:spPr>
          <a:xfrm>
            <a:off x="3931136" y="2510700"/>
            <a:ext cx="1371968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Approval
Waiver</a:t>
            </a:r>
          </a:p>
        </p:txBody>
      </p:sp>
      <p:sp>
        <p:nvSpPr>
          <p:cNvPr id="118" name="ML118"/>
          <p:cNvSpPr/>
          <p:nvPr/>
        </p:nvSpPr>
        <p:spPr>
          <a:xfrm>
            <a:off x="3931136" y="2764700"/>
            <a:ext cx="1371968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Client can waive individual approval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Turn off approval indicator for client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All subsequent requests bypass dual approval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Logged for audit tracking</a:t>
            </a:r>
          </a:p>
        </p:txBody>
      </p:sp>
      <p:sp>
        <p:nvSpPr>
          <p:cNvPr id="119" name="S119"/>
          <p:cNvSpPr/>
          <p:nvPr/>
        </p:nvSpPr>
        <p:spPr>
          <a:xfrm>
            <a:off x="652200" y="4392500"/>
            <a:ext cx="1521968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0" name="T120"/>
          <p:cNvSpPr/>
          <p:nvPr/>
        </p:nvSpPr>
        <p:spPr>
          <a:xfrm>
            <a:off x="727200" y="4638200"/>
            <a:ext cx="1371968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Approve
Action</a:t>
            </a:r>
          </a:p>
        </p:txBody>
      </p:sp>
      <p:sp>
        <p:nvSpPr>
          <p:cNvPr id="121" name="ML121"/>
          <p:cNvSpPr/>
          <p:nvPr/>
        </p:nvSpPr>
        <p:spPr>
          <a:xfrm>
            <a:off x="727200" y="4892200"/>
            <a:ext cx="1371968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Systemically fulfil action request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Change takes place immediately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Alert original admin via email</a:t>
            </a:r>
          </a:p>
        </p:txBody>
      </p:sp>
      <p:sp>
        <p:nvSpPr>
          <p:cNvPr id="122" name="S122"/>
          <p:cNvSpPr/>
          <p:nvPr/>
        </p:nvSpPr>
        <p:spPr>
          <a:xfrm>
            <a:off x="2254168" y="4392500"/>
            <a:ext cx="1521968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3" name="T123"/>
          <p:cNvSpPr/>
          <p:nvPr/>
        </p:nvSpPr>
        <p:spPr>
          <a:xfrm>
            <a:off x="2329168" y="4638200"/>
            <a:ext cx="1371968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Deny
Action</a:t>
            </a:r>
          </a:p>
        </p:txBody>
      </p:sp>
      <p:sp>
        <p:nvSpPr>
          <p:cNvPr id="124" name="ML124"/>
          <p:cNvSpPr/>
          <p:nvPr/>
        </p:nvSpPr>
        <p:spPr>
          <a:xfrm>
            <a:off x="2329168" y="4892200"/>
            <a:ext cx="1371968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Take no action on original change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Alert original admin of denial</a:t>
            </a:r>
          </a:p>
        </p:txBody>
      </p:sp>
      <p:sp>
        <p:nvSpPr>
          <p:cNvPr id="125" name="S125"/>
          <p:cNvSpPr/>
          <p:nvPr/>
        </p:nvSpPr>
        <p:spPr>
          <a:xfrm>
            <a:off x="3856136" y="4392500"/>
            <a:ext cx="1521968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6" name="T126"/>
          <p:cNvSpPr/>
          <p:nvPr/>
        </p:nvSpPr>
        <p:spPr>
          <a:xfrm>
            <a:off x="3931136" y="4638200"/>
            <a:ext cx="1371968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Error &amp;
Dual-Approval Check</a:t>
            </a:r>
          </a:p>
        </p:txBody>
      </p:sp>
      <p:sp>
        <p:nvSpPr>
          <p:cNvPr id="127" name="ML127"/>
          <p:cNvSpPr/>
          <p:nvPr/>
        </p:nvSpPr>
        <p:spPr>
          <a:xfrm>
            <a:off x="3931136" y="4892200"/>
            <a:ext cx="1371968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Error in approval: popup shown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Change remains unapproved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New admin role: check permissions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Block if combination violates dual-approval</a:t>
            </a:r>
          </a:p>
        </p:txBody>
      </p:sp>
      <p:sp>
        <p:nvSpPr>
          <p:cNvPr id="128" name="S128"/>
          <p:cNvSpPr/>
          <p:nvPr/>
        </p:nvSpPr>
        <p:spPr>
          <a:xfrm>
            <a:off x="5433106" y="1552079"/>
            <a:ext cx="341226" cy="13557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9" name="T129"/>
          <p:cNvSpPr/>
          <p:nvPr/>
        </p:nvSpPr>
        <p:spPr>
          <a:xfrm>
            <a:off x="5399546" y="131604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submit for approval</a:t>
            </a:r>
          </a:p>
        </p:txBody>
      </p:sp>
      <p:sp>
        <p:nvSpPr>
          <p:cNvPr id="130" name="S130"/>
          <p:cNvSpPr/>
          <p:nvPr/>
        </p:nvSpPr>
        <p:spPr>
          <a:xfrm>
            <a:off x="5433106" y="1668160"/>
            <a:ext cx="4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1" name="T131"/>
          <p:cNvSpPr/>
          <p:nvPr/>
        </p:nvSpPr>
        <p:spPr>
          <a:xfrm>
            <a:off x="5399546" y="169016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approval result</a:t>
            </a:r>
          </a:p>
        </p:txBody>
      </p:sp>
      <p:sp>
        <p:nvSpPr>
          <p:cNvPr id="132" name="S132"/>
          <p:cNvSpPr/>
          <p:nvPr/>
        </p:nvSpPr>
        <p:spPr>
          <a:xfrm flipV="1">
            <a:off x="5468106" y="3278750"/>
            <a:ext cx="259786" cy="1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3" name="T133"/>
          <p:cNvSpPr/>
          <p:nvPr/>
        </p:nvSpPr>
        <p:spPr>
          <a:xfrm>
            <a:off x="5417046" y="310375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AIC journey call</a:t>
            </a:r>
          </a:p>
        </p:txBody>
      </p:sp>
      <p:sp>
        <p:nvSpPr>
          <p:cNvPr id="134" name="S134"/>
          <p:cNvSpPr/>
          <p:nvPr/>
        </p:nvSpPr>
        <p:spPr>
          <a:xfrm>
            <a:off x="5458106" y="3378750"/>
            <a:ext cx="42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5" name="T135"/>
          <p:cNvSpPr/>
          <p:nvPr/>
        </p:nvSpPr>
        <p:spPr>
          <a:xfrm>
            <a:off x="5417046" y="340075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result</a:t>
            </a:r>
          </a:p>
        </p:txBody>
      </p:sp>
      <p:sp>
        <p:nvSpPr>
          <p:cNvPr id="136" name="S136"/>
          <p:cNvSpPr/>
          <p:nvPr/>
        </p:nvSpPr>
        <p:spPr>
          <a:xfrm>
            <a:off x="5468106" y="5416250"/>
            <a:ext cx="34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7" name="T137"/>
          <p:cNvSpPr/>
          <p:nvPr/>
        </p:nvSpPr>
        <p:spPr>
          <a:xfrm>
            <a:off x="5417046" y="526173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AIC journey call</a:t>
            </a:r>
          </a:p>
        </p:txBody>
      </p:sp>
      <p:sp>
        <p:nvSpPr>
          <p:cNvPr id="138" name="S138"/>
          <p:cNvSpPr/>
          <p:nvPr/>
        </p:nvSpPr>
        <p:spPr>
          <a:xfrm>
            <a:off x="5468106" y="550625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9" name="T139"/>
          <p:cNvSpPr/>
          <p:nvPr/>
        </p:nvSpPr>
        <p:spPr>
          <a:xfrm>
            <a:off x="5417046" y="552825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result</a:t>
            </a:r>
          </a:p>
        </p:txBody>
      </p:sp>
      <p:sp>
        <p:nvSpPr>
          <p:cNvPr id="140" name="S140"/>
          <p:cNvSpPr/>
          <p:nvPr/>
        </p:nvSpPr>
        <p:spPr>
          <a:xfrm>
            <a:off x="5755986" y="1060000"/>
            <a:ext cx="3069543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41" name="T141"/>
          <p:cNvSpPr/>
          <p:nvPr/>
        </p:nvSpPr>
        <p:spPr>
          <a:xfrm>
            <a:off x="5855986" y="1110000"/>
            <a:ext cx="2889543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42" name="S142"/>
          <p:cNvSpPr/>
          <p:nvPr/>
        </p:nvSpPr>
        <p:spPr>
          <a:xfrm>
            <a:off x="5884332" y="1345000"/>
            <a:ext cx="2799543" cy="24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43" name="T143"/>
          <p:cNvSpPr/>
          <p:nvPr/>
        </p:nvSpPr>
        <p:spPr>
          <a:xfrm>
            <a:off x="5965986" y="1650800"/>
            <a:ext cx="264954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PingOne AIC</a:t>
            </a:r>
          </a:p>
        </p:txBody>
      </p:sp>
      <p:sp>
        <p:nvSpPr>
          <p:cNvPr id="144" name="ML144"/>
          <p:cNvSpPr/>
          <p:nvPr/>
        </p:nvSpPr>
        <p:spPr>
          <a:xfrm>
            <a:off x="5965986" y="1904800"/>
            <a:ext cx="2649543" cy="188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Approval journey engine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OIDC-authenticated sessions</a:t>
            </a:r>
          </a:p>
          <a:p>
            <a:pPr marL="0" indent="0" algn="ctr">
              <a:buNone/>
            </a:pPr>
            <a:endParaRPr lang="en-US" sz="875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Routes approval requests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Enforces pending action lock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Validates dual-approval rules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Checks role permission combinations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Manages approval waiver flags</a:t>
            </a:r>
          </a:p>
        </p:txBody>
      </p:sp>
      <p:sp>
        <p:nvSpPr>
          <p:cNvPr id="145" name="S145"/>
          <p:cNvSpPr/>
          <p:nvPr/>
        </p:nvSpPr>
        <p:spPr>
          <a:xfrm>
            <a:off x="5890986" y="4040000"/>
            <a:ext cx="2799543" cy="24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46" name="T146"/>
          <p:cNvSpPr/>
          <p:nvPr/>
        </p:nvSpPr>
        <p:spPr>
          <a:xfrm>
            <a:off x="5965986" y="4335800"/>
            <a:ext cx="264954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Approval Engine</a:t>
            </a:r>
          </a:p>
        </p:txBody>
      </p:sp>
      <p:sp>
        <p:nvSpPr>
          <p:cNvPr id="147" name="ML147"/>
          <p:cNvSpPr/>
          <p:nvPr/>
        </p:nvSpPr>
        <p:spPr>
          <a:xfrm>
            <a:off x="5965986" y="4589800"/>
            <a:ext cx="2649543" cy="188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Queues approval requests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Notifies approvers</a:t>
            </a:r>
          </a:p>
          <a:p>
            <a:pPr marL="0" indent="0" algn="ctr">
              <a:buNone/>
            </a:pPr>
            <a:endParaRPr lang="en-US" sz="875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Processes grant → fulfils action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Processes deny → no action taken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Error → no action, popup shown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Audit log per decision</a:t>
            </a:r>
          </a:p>
        </p:txBody>
      </p:sp>
      <p:sp>
        <p:nvSpPr>
          <p:cNvPr id="148" name="S148"/>
          <p:cNvSpPr/>
          <p:nvPr/>
        </p:nvSpPr>
        <p:spPr>
          <a:xfrm>
            <a:off x="7290757" y="3830000"/>
            <a:ext cx="0" cy="20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9" name="T149"/>
          <p:cNvSpPr/>
          <p:nvPr/>
        </p:nvSpPr>
        <p:spPr>
          <a:xfrm>
            <a:off x="7340757" y="3845000"/>
            <a:ext cx="13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route to queue</a:t>
            </a:r>
          </a:p>
        </p:txBody>
      </p:sp>
      <p:sp>
        <p:nvSpPr>
          <p:cNvPr id="150" name="S150"/>
          <p:cNvSpPr/>
          <p:nvPr/>
        </p:nvSpPr>
        <p:spPr>
          <a:xfrm>
            <a:off x="9008409" y="1060000"/>
            <a:ext cx="2817471" cy="553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51" name="T151"/>
          <p:cNvSpPr/>
          <p:nvPr/>
        </p:nvSpPr>
        <p:spPr>
          <a:xfrm>
            <a:off x="9108409" y="1110000"/>
            <a:ext cx="2637471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/>
              </a:rPr>
              <a:t>Support Systems</a:t>
            </a:r>
          </a:p>
        </p:txBody>
      </p:sp>
      <p:sp>
        <p:nvSpPr>
          <p:cNvPr id="152" name="S152"/>
          <p:cNvSpPr/>
          <p:nvPr/>
        </p:nvSpPr>
        <p:spPr>
          <a:xfrm>
            <a:off x="9118409" y="1355000"/>
            <a:ext cx="2597471" cy="2465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3" name="T153"/>
          <p:cNvSpPr/>
          <p:nvPr/>
        </p:nvSpPr>
        <p:spPr>
          <a:xfrm>
            <a:off x="9193409" y="1650800"/>
            <a:ext cx="244747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262626"/>
                </a:solidFill>
                <a:latin typeface="Calibri"/>
              </a:rPr>
              <a:t>Email / Notification</a:t>
            </a:r>
          </a:p>
        </p:txBody>
      </p:sp>
      <p:sp>
        <p:nvSpPr>
          <p:cNvPr id="154" name="ML154"/>
          <p:cNvSpPr/>
          <p:nvPr/>
        </p:nvSpPr>
        <p:spPr>
          <a:xfrm>
            <a:off x="9193409" y="1904800"/>
            <a:ext cx="2447471" cy="188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Alert approver of pending request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Alert original admin of decision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Approval granted / denied notification</a:t>
            </a:r>
          </a:p>
        </p:txBody>
      </p:sp>
      <p:sp>
        <p:nvSpPr>
          <p:cNvPr id="155" name="S155"/>
          <p:cNvSpPr/>
          <p:nvPr/>
        </p:nvSpPr>
        <p:spPr>
          <a:xfrm>
            <a:off x="9118409" y="4040000"/>
            <a:ext cx="2597471" cy="2465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6" name="T156"/>
          <p:cNvSpPr/>
          <p:nvPr/>
        </p:nvSpPr>
        <p:spPr>
          <a:xfrm>
            <a:off x="9193409" y="4335800"/>
            <a:ext cx="244747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262626"/>
                </a:solidFill>
                <a:latin typeface="Calibri"/>
              </a:rPr>
              <a:t>Audit Log Store</a:t>
            </a:r>
          </a:p>
        </p:txBody>
      </p:sp>
      <p:sp>
        <p:nvSpPr>
          <p:cNvPr id="157" name="ML157"/>
          <p:cNvSpPr/>
          <p:nvPr/>
        </p:nvSpPr>
        <p:spPr>
          <a:xfrm>
            <a:off x="9193409" y="4589800"/>
            <a:ext cx="2447471" cy="188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All approval decisions logged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Waiver status logged for audit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Tamper-evident audit trail</a:t>
            </a:r>
          </a:p>
        </p:txBody>
      </p:sp>
      <p:sp>
        <p:nvSpPr>
          <p:cNvPr id="158" name="S158"/>
          <p:cNvSpPr/>
          <p:nvPr/>
        </p:nvSpPr>
        <p:spPr>
          <a:xfrm>
            <a:off x="8835529" y="25875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9" name="T159"/>
          <p:cNvSpPr/>
          <p:nvPr/>
        </p:nvSpPr>
        <p:spPr>
          <a:xfrm>
            <a:off x="8711969" y="24025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notify</a:t>
            </a:r>
          </a:p>
        </p:txBody>
      </p:sp>
      <p:sp>
        <p:nvSpPr>
          <p:cNvPr id="160" name="S160"/>
          <p:cNvSpPr/>
          <p:nvPr/>
        </p:nvSpPr>
        <p:spPr>
          <a:xfrm>
            <a:off x="8835529" y="52725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61" name="T161"/>
          <p:cNvSpPr/>
          <p:nvPr/>
        </p:nvSpPr>
        <p:spPr>
          <a:xfrm>
            <a:off x="8711969" y="50875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audit write</a:t>
            </a:r>
          </a:p>
        </p:txBody>
      </p:sp>
      <p:sp>
        <p:nvSpPr>
          <p:cNvPr id="162" name="T162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External = grey fill  ·  Black arrow = request/call  ·  Dashed zone = platform boundary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ngle Approval Seq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Single Approval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i="1" dirty="0">
                <a:solidFill>
                  <a:srgbClr val="6B6B6B"/>
                </a:solidFill>
                <a:latin typeface="Calibri"/>
              </a:rPr>
              <a:t>Scenario: Admin makes a change requiring approval — approver reviews and grants, denies, or system errors</a:t>
            </a:r>
          </a:p>
        </p:txBody>
      </p:sp>
      <p:sp>
        <p:nvSpPr>
          <p:cNvPr id="103" name="S103"/>
          <p:cNvSpPr/>
          <p:nvPr/>
        </p:nvSpPr>
        <p:spPr>
          <a:xfrm>
            <a:off x="2286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4" name="LH104"/>
          <p:cNvSpPr/>
          <p:nvPr/>
        </p:nvSpPr>
        <p:spPr>
          <a:xfrm>
            <a:off x="2286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Requesting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05" name="S105"/>
          <p:cNvSpPr/>
          <p:nvPr/>
        </p:nvSpPr>
        <p:spPr>
          <a:xfrm>
            <a:off x="2113788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6" name="LH106"/>
          <p:cNvSpPr/>
          <p:nvPr/>
        </p:nvSpPr>
        <p:spPr>
          <a:xfrm>
            <a:off x="2113788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107" name="S107"/>
          <p:cNvSpPr/>
          <p:nvPr/>
        </p:nvSpPr>
        <p:spPr>
          <a:xfrm>
            <a:off x="4204716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8" name="LH108"/>
          <p:cNvSpPr/>
          <p:nvPr/>
        </p:nvSpPr>
        <p:spPr>
          <a:xfrm>
            <a:off x="4204716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CIA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(AIC)</a:t>
            </a:r>
          </a:p>
        </p:txBody>
      </p:sp>
      <p:sp>
        <p:nvSpPr>
          <p:cNvPr id="109" name="S109"/>
          <p:cNvSpPr/>
          <p:nvPr/>
        </p:nvSpPr>
        <p:spPr>
          <a:xfrm>
            <a:off x="6295644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0" name="LH110"/>
          <p:cNvSpPr/>
          <p:nvPr/>
        </p:nvSpPr>
        <p:spPr>
          <a:xfrm>
            <a:off x="6295644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Approval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Engine</a:t>
            </a:r>
          </a:p>
        </p:txBody>
      </p:sp>
      <p:sp>
        <p:nvSpPr>
          <p:cNvPr id="111" name="S111"/>
          <p:cNvSpPr/>
          <p:nvPr/>
        </p:nvSpPr>
        <p:spPr>
          <a:xfrm>
            <a:off x="8386572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2" name="LH112"/>
          <p:cNvSpPr/>
          <p:nvPr/>
        </p:nvSpPr>
        <p:spPr>
          <a:xfrm>
            <a:off x="8386572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Approver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3" name="S113"/>
          <p:cNvSpPr/>
          <p:nvPr/>
        </p:nvSpPr>
        <p:spPr>
          <a:xfrm>
            <a:off x="1047750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4" name="LH114"/>
          <p:cNvSpPr/>
          <p:nvPr/>
        </p:nvSpPr>
        <p:spPr>
          <a:xfrm>
            <a:off x="1047750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Email /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Notify</a:t>
            </a:r>
          </a:p>
        </p:txBody>
      </p:sp>
      <p:sp>
        <p:nvSpPr>
          <p:cNvPr id="115" name="S115"/>
          <p:cNvSpPr/>
          <p:nvPr/>
        </p:nvSpPr>
        <p:spPr>
          <a:xfrm>
            <a:off x="86868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6" name="S116"/>
          <p:cNvSpPr/>
          <p:nvPr/>
        </p:nvSpPr>
        <p:spPr>
          <a:xfrm>
            <a:off x="2959608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7" name="S117"/>
          <p:cNvSpPr/>
          <p:nvPr/>
        </p:nvSpPr>
        <p:spPr>
          <a:xfrm>
            <a:off x="5050536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8" name="S118"/>
          <p:cNvSpPr/>
          <p:nvPr/>
        </p:nvSpPr>
        <p:spPr>
          <a:xfrm>
            <a:off x="7141464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9" name="S119"/>
          <p:cNvSpPr/>
          <p:nvPr/>
        </p:nvSpPr>
        <p:spPr>
          <a:xfrm>
            <a:off x="9232392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0" name="S120"/>
          <p:cNvSpPr/>
          <p:nvPr/>
        </p:nvSpPr>
        <p:spPr>
          <a:xfrm>
            <a:off x="1132332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1" name="S121"/>
          <p:cNvSpPr/>
          <p:nvPr/>
        </p:nvSpPr>
        <p:spPr>
          <a:xfrm>
            <a:off x="868680" y="1741056"/>
            <a:ext cx="2090928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2" name="T122"/>
          <p:cNvSpPr/>
          <p:nvPr/>
        </p:nvSpPr>
        <p:spPr>
          <a:xfrm>
            <a:off x="898680" y="1521056"/>
            <a:ext cx="203092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1. Admin initiates change action</a:t>
            </a:r>
          </a:p>
        </p:txBody>
      </p:sp>
      <p:sp>
        <p:nvSpPr>
          <p:cNvPr id="123" name="S123"/>
          <p:cNvSpPr/>
          <p:nvPr/>
        </p:nvSpPr>
        <p:spPr>
          <a:xfrm>
            <a:off x="2959608" y="2061056"/>
            <a:ext cx="2090928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4" name="T124"/>
          <p:cNvSpPr/>
          <p:nvPr/>
        </p:nvSpPr>
        <p:spPr>
          <a:xfrm>
            <a:off x="2989608" y="1841056"/>
            <a:ext cx="203092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2. Submit change to CIA journey</a:t>
            </a:r>
          </a:p>
        </p:txBody>
      </p:sp>
      <p:sp>
        <p:nvSpPr>
          <p:cNvPr id="125" name="S125"/>
          <p:cNvSpPr/>
          <p:nvPr/>
        </p:nvSpPr>
        <p:spPr>
          <a:xfrm>
            <a:off x="3850536" y="2238816"/>
            <a:ext cx="2400000" cy="300000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126" name="T126"/>
          <p:cNvSpPr/>
          <p:nvPr/>
        </p:nvSpPr>
        <p:spPr>
          <a:xfrm>
            <a:off x="3850536" y="2198176"/>
            <a:ext cx="2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3. Check: action requires approval</a:t>
            </a:r>
          </a:p>
        </p:txBody>
      </p:sp>
      <p:sp>
        <p:nvSpPr>
          <p:cNvPr id="127" name="S127"/>
          <p:cNvSpPr/>
          <p:nvPr/>
        </p:nvSpPr>
        <p:spPr>
          <a:xfrm>
            <a:off x="5050536" y="2741056"/>
            <a:ext cx="2090928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8" name="T128"/>
          <p:cNvSpPr/>
          <p:nvPr/>
        </p:nvSpPr>
        <p:spPr>
          <a:xfrm>
            <a:off x="5080536" y="2521056"/>
            <a:ext cx="203092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4. Queue approval request</a:t>
            </a:r>
          </a:p>
        </p:txBody>
      </p:sp>
      <p:sp>
        <p:nvSpPr>
          <p:cNvPr id="129" name="S129"/>
          <p:cNvSpPr/>
          <p:nvPr/>
        </p:nvSpPr>
        <p:spPr>
          <a:xfrm>
            <a:off x="7141464" y="3061056"/>
            <a:ext cx="4181856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0" name="T130"/>
          <p:cNvSpPr/>
          <p:nvPr/>
        </p:nvSpPr>
        <p:spPr>
          <a:xfrm>
            <a:off x="7171464" y="2841056"/>
            <a:ext cx="4121856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5. Notify approver of pending request</a:t>
            </a:r>
          </a:p>
        </p:txBody>
      </p:sp>
      <p:sp>
        <p:nvSpPr>
          <p:cNvPr id="131" name="S131"/>
          <p:cNvSpPr/>
          <p:nvPr/>
        </p:nvSpPr>
        <p:spPr>
          <a:xfrm>
            <a:off x="9232392" y="3381056"/>
            <a:ext cx="2090928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2" name="T132"/>
          <p:cNvSpPr/>
          <p:nvPr/>
        </p:nvSpPr>
        <p:spPr>
          <a:xfrm>
            <a:off x="9262392" y="3161056"/>
            <a:ext cx="203092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6. Approver receives notification</a:t>
            </a:r>
          </a:p>
        </p:txBody>
      </p:sp>
      <p:sp>
        <p:nvSpPr>
          <p:cNvPr id="133" name="S133"/>
          <p:cNvSpPr/>
          <p:nvPr/>
        </p:nvSpPr>
        <p:spPr>
          <a:xfrm>
            <a:off x="2959608" y="3701056"/>
            <a:ext cx="6272784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triangle"/>
            <a:tailEnd type="none"/>
          </a:ln>
        </p:spPr>
      </p:sp>
      <p:sp>
        <p:nvSpPr>
          <p:cNvPr id="134" name="T134"/>
          <p:cNvSpPr/>
          <p:nvPr/>
        </p:nvSpPr>
        <p:spPr>
          <a:xfrm>
            <a:off x="2989608" y="3481056"/>
            <a:ext cx="621278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7. Approver logs in to MUFG Exchange</a:t>
            </a:r>
          </a:p>
        </p:txBody>
      </p:sp>
      <p:sp>
        <p:nvSpPr>
          <p:cNvPr id="135" name="S135"/>
          <p:cNvSpPr/>
          <p:nvPr/>
        </p:nvSpPr>
        <p:spPr>
          <a:xfrm>
            <a:off x="2959608" y="4021056"/>
            <a:ext cx="6272784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136" name="T136"/>
          <p:cNvSpPr/>
          <p:nvPr/>
        </p:nvSpPr>
        <p:spPr>
          <a:xfrm>
            <a:off x="2989608" y="3801056"/>
            <a:ext cx="621278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8. Display pending approvals indicator</a:t>
            </a:r>
          </a:p>
        </p:txBody>
      </p:sp>
      <p:sp>
        <p:nvSpPr>
          <p:cNvPr id="137" name="S137"/>
          <p:cNvSpPr/>
          <p:nvPr/>
        </p:nvSpPr>
        <p:spPr>
          <a:xfrm>
            <a:off x="2959608" y="4341056"/>
            <a:ext cx="6272784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triangle"/>
            <a:tailEnd type="none"/>
          </a:ln>
        </p:spPr>
      </p:sp>
      <p:sp>
        <p:nvSpPr>
          <p:cNvPr id="138" name="T138"/>
          <p:cNvSpPr/>
          <p:nvPr/>
        </p:nvSpPr>
        <p:spPr>
          <a:xfrm>
            <a:off x="2989608" y="4121056"/>
            <a:ext cx="621278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9. Navigate to approvals list page</a:t>
            </a:r>
          </a:p>
        </p:txBody>
      </p:sp>
      <p:sp>
        <p:nvSpPr>
          <p:cNvPr id="139" name="S139"/>
          <p:cNvSpPr/>
          <p:nvPr/>
        </p:nvSpPr>
        <p:spPr>
          <a:xfrm>
            <a:off x="2959608" y="4661056"/>
            <a:ext cx="6272784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triangle"/>
            <a:tailEnd type="none"/>
          </a:ln>
        </p:spPr>
      </p:sp>
      <p:sp>
        <p:nvSpPr>
          <p:cNvPr id="140" name="T140"/>
          <p:cNvSpPr/>
          <p:nvPr/>
        </p:nvSpPr>
        <p:spPr>
          <a:xfrm>
            <a:off x="2989608" y="4441056"/>
            <a:ext cx="621278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10. Click approval item to view detail</a:t>
            </a:r>
          </a:p>
        </p:txBody>
      </p:sp>
      <p:sp>
        <p:nvSpPr>
          <p:cNvPr id="141" name="S141"/>
          <p:cNvSpPr/>
          <p:nvPr/>
        </p:nvSpPr>
        <p:spPr>
          <a:xfrm>
            <a:off x="2959608" y="4981056"/>
            <a:ext cx="6272784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142" name="T142"/>
          <p:cNvSpPr/>
          <p:nvPr/>
        </p:nvSpPr>
        <p:spPr>
          <a:xfrm>
            <a:off x="2989608" y="4761056"/>
            <a:ext cx="6212784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11. Display approval detail page with all fields</a:t>
            </a:r>
          </a:p>
        </p:txBody>
      </p:sp>
      <p:sp>
        <p:nvSpPr>
          <p:cNvPr id="143" name="S143"/>
          <p:cNvSpPr/>
          <p:nvPr/>
        </p:nvSpPr>
        <p:spPr>
          <a:xfrm>
            <a:off x="7141464" y="5301056"/>
            <a:ext cx="2090928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triangle"/>
            <a:tailEnd type="none"/>
          </a:ln>
        </p:spPr>
      </p:sp>
      <p:sp>
        <p:nvSpPr>
          <p:cNvPr id="144" name="T144"/>
          <p:cNvSpPr/>
          <p:nvPr/>
        </p:nvSpPr>
        <p:spPr>
          <a:xfrm>
            <a:off x="7171464" y="5081056"/>
            <a:ext cx="203092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12a. GRANT: Approver approves action</a:t>
            </a:r>
          </a:p>
        </p:txBody>
      </p:sp>
      <p:sp>
        <p:nvSpPr>
          <p:cNvPr id="145" name="S145"/>
          <p:cNvSpPr/>
          <p:nvPr/>
        </p:nvSpPr>
        <p:spPr>
          <a:xfrm>
            <a:off x="5050536" y="5621056"/>
            <a:ext cx="2090928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triangle"/>
            <a:tailEnd type="none"/>
          </a:ln>
        </p:spPr>
      </p:sp>
      <p:sp>
        <p:nvSpPr>
          <p:cNvPr id="146" name="T146"/>
          <p:cNvSpPr/>
          <p:nvPr/>
        </p:nvSpPr>
        <p:spPr>
          <a:xfrm>
            <a:off x="5080536" y="5401056"/>
            <a:ext cx="203092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12b. Fulfil original action request</a:t>
            </a:r>
          </a:p>
        </p:txBody>
      </p:sp>
      <p:sp>
        <p:nvSpPr>
          <p:cNvPr id="147" name="S147"/>
          <p:cNvSpPr/>
          <p:nvPr/>
        </p:nvSpPr>
        <p:spPr>
          <a:xfrm>
            <a:off x="2959608" y="5941056"/>
            <a:ext cx="2090928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triangle"/>
            <a:tailEnd type="none"/>
          </a:ln>
        </p:spPr>
      </p:sp>
      <p:sp>
        <p:nvSpPr>
          <p:cNvPr id="148" name="T148"/>
          <p:cNvSpPr/>
          <p:nvPr/>
        </p:nvSpPr>
        <p:spPr>
          <a:xfrm>
            <a:off x="2989608" y="5721056"/>
            <a:ext cx="203092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12c. Apply change — update record</a:t>
            </a:r>
          </a:p>
        </p:txBody>
      </p:sp>
      <p:sp>
        <p:nvSpPr>
          <p:cNvPr id="149" name="S149"/>
          <p:cNvSpPr/>
          <p:nvPr/>
        </p:nvSpPr>
        <p:spPr>
          <a:xfrm>
            <a:off x="7141464" y="6261056"/>
            <a:ext cx="4181856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0" name="T150"/>
          <p:cNvSpPr/>
          <p:nvPr/>
        </p:nvSpPr>
        <p:spPr>
          <a:xfrm>
            <a:off x="7171464" y="6041056"/>
            <a:ext cx="4121856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12d. Alert requesting admin of approval</a:t>
            </a:r>
          </a:p>
        </p:txBody>
      </p:sp>
      <p:sp>
        <p:nvSpPr>
          <p:cNvPr id="151" name="S151"/>
          <p:cNvSpPr/>
          <p:nvPr/>
        </p:nvSpPr>
        <p:spPr>
          <a:xfrm>
            <a:off x="868680" y="6581056"/>
            <a:ext cx="1045464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52" name="T152"/>
          <p:cNvSpPr/>
          <p:nvPr/>
        </p:nvSpPr>
        <p:spPr>
          <a:xfrm>
            <a:off x="898680" y="6361056"/>
            <a:ext cx="103946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12e. Approval granted notification</a:t>
            </a:r>
          </a:p>
        </p:txBody>
      </p:sp>
      <p:sp>
        <p:nvSpPr>
          <p:cNvPr id="153" name="T153"/>
          <p:cNvSpPr/>
          <p:nvPr/>
        </p:nvSpPr>
        <p:spPr>
          <a:xfrm>
            <a:off x="3159608" y="6921056"/>
            <a:ext cx="32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DENY path: Approver denies → CIA takes no action on original request → Alert original admin of denial
ERROR path: Any error in approval → popup shown → change remains unapproved</a:t>
            </a:r>
          </a:p>
        </p:txBody>
      </p:sp>
      <p:sp>
        <p:nvSpPr>
          <p:cNvPr id="154" name="T154"/>
          <p:cNvSpPr/>
          <p:nvPr/>
        </p:nvSpPr>
        <p:spPr>
          <a:xfrm>
            <a:off x="457200" y="6680200"/>
            <a:ext cx="113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rgbClr val="6B6B6B"/>
                </a:solidFill>
                <a:latin typeface="Calibri"/>
              </a:rPr>
              <a:t>Black solid → request / call  ·  Black dashed → response / return  ·  Red-tint box → processing / system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min Enrollment Bloc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Admin Enrollment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Allow admin to enrol users to products, assign entitlements &amp; roles ·  Move entitlements between enrolled/unenrolled ·  Role-validated access  ·  Error handling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5343279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5163279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607200" y="1355000"/>
            <a:ext cx="5043279" cy="5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82200" y="1416200"/>
            <a:ext cx="489327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UAP Admin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82200" y="1619400"/>
            <a:ext cx="4893279" cy="1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Correct admin group access required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Enrol users to products, accounts &amp; roles</a:t>
            </a:r>
          </a:p>
        </p:txBody>
      </p:sp>
      <p:sp>
        <p:nvSpPr>
          <p:cNvPr id="108" name="S108"/>
          <p:cNvSpPr/>
          <p:nvPr/>
        </p:nvSpPr>
        <p:spPr>
          <a:xfrm>
            <a:off x="572200" y="2020000"/>
            <a:ext cx="5113279" cy="44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57200" y="2065000"/>
            <a:ext cx="4963279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Enrollment Capabilities</a:t>
            </a:r>
          </a:p>
        </p:txBody>
      </p:sp>
      <p:sp>
        <p:nvSpPr>
          <p:cNvPr id="110" name="S110"/>
          <p:cNvSpPr/>
          <p:nvPr/>
        </p:nvSpPr>
        <p:spPr>
          <a:xfrm>
            <a:off x="652200" y="2265000"/>
            <a:ext cx="2436639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727200" y="2510700"/>
            <a:ext cx="22866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User Profile
&amp; Enrollment</a:t>
            </a:r>
          </a:p>
        </p:txBody>
      </p:sp>
      <p:sp>
        <p:nvSpPr>
          <p:cNvPr id="112" name="ML112"/>
          <p:cNvSpPr/>
          <p:nvPr/>
        </p:nvSpPr>
        <p:spPr>
          <a:xfrm>
            <a:off x="727200" y="2764700"/>
            <a:ext cx="2286639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Display user information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Show enrolled applications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Navigate from edit page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to user list with save confirmation</a:t>
            </a:r>
          </a:p>
        </p:txBody>
      </p:sp>
      <p:sp>
        <p:nvSpPr>
          <p:cNvPr id="113" name="S113"/>
          <p:cNvSpPr/>
          <p:nvPr/>
        </p:nvSpPr>
        <p:spPr>
          <a:xfrm>
            <a:off x="3168839" y="2265000"/>
            <a:ext cx="2436639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3243839" y="2510700"/>
            <a:ext cx="22866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Entitlement
Management</a:t>
            </a:r>
          </a:p>
        </p:txBody>
      </p:sp>
      <p:sp>
        <p:nvSpPr>
          <p:cNvPr id="115" name="ML115"/>
          <p:cNvSpPr/>
          <p:nvPr/>
        </p:nvSpPr>
        <p:spPr>
          <a:xfrm>
            <a:off x="3243839" y="2764700"/>
            <a:ext cx="2286639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Move apps: enrolled ↔ unenrolled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Admin must be in correct group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Click entitlement → assign/unassign roles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Edit User button from entitlement page</a:t>
            </a:r>
          </a:p>
        </p:txBody>
      </p:sp>
      <p:sp>
        <p:nvSpPr>
          <p:cNvPr id="116" name="S116"/>
          <p:cNvSpPr/>
          <p:nvPr/>
        </p:nvSpPr>
        <p:spPr>
          <a:xfrm>
            <a:off x="652200" y="4392500"/>
            <a:ext cx="2436639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7" name="T117"/>
          <p:cNvSpPr/>
          <p:nvPr/>
        </p:nvSpPr>
        <p:spPr>
          <a:xfrm>
            <a:off x="727200" y="4638200"/>
            <a:ext cx="22866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Cancel &amp;
Discard</a:t>
            </a:r>
          </a:p>
        </p:txBody>
      </p:sp>
      <p:sp>
        <p:nvSpPr>
          <p:cNvPr id="118" name="ML118"/>
          <p:cNvSpPr/>
          <p:nvPr/>
        </p:nvSpPr>
        <p:spPr>
          <a:xfrm>
            <a:off x="727200" y="4892200"/>
            <a:ext cx="2286639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Cancel on edit user / entitlement page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Popup confirmation required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All changes discarded on confirm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No data saved</a:t>
            </a:r>
          </a:p>
        </p:txBody>
      </p:sp>
      <p:sp>
        <p:nvSpPr>
          <p:cNvPr id="119" name="S119"/>
          <p:cNvSpPr/>
          <p:nvPr/>
        </p:nvSpPr>
        <p:spPr>
          <a:xfrm>
            <a:off x="3168839" y="4392500"/>
            <a:ext cx="2436639" cy="204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0" name="T120"/>
          <p:cNvSpPr/>
          <p:nvPr/>
        </p:nvSpPr>
        <p:spPr>
          <a:xfrm>
            <a:off x="3243839" y="4638200"/>
            <a:ext cx="22866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Error &amp;
Validation</a:t>
            </a:r>
          </a:p>
        </p:txBody>
      </p:sp>
      <p:sp>
        <p:nvSpPr>
          <p:cNvPr id="121" name="ML121"/>
          <p:cNvSpPr/>
          <p:nvPr/>
        </p:nvSpPr>
        <p:spPr>
          <a:xfrm>
            <a:off x="3243839" y="4892200"/>
            <a:ext cx="2286639" cy="151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Save error: popup shown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Revert to previous state / retry / cancel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Invalid field: highlight red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Page cannot be saved while red fields exist</a:t>
            </a:r>
          </a:p>
        </p:txBody>
      </p:sp>
      <p:sp>
        <p:nvSpPr>
          <p:cNvPr id="122" name="S122"/>
          <p:cNvSpPr/>
          <p:nvPr/>
        </p:nvSpPr>
        <p:spPr>
          <a:xfrm>
            <a:off x="5660479" y="1562000"/>
            <a:ext cx="4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3" name="T123"/>
          <p:cNvSpPr/>
          <p:nvPr/>
        </p:nvSpPr>
        <p:spPr>
          <a:xfrm>
            <a:off x="5626919" y="13770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OIDC session</a:t>
            </a:r>
          </a:p>
        </p:txBody>
      </p:sp>
      <p:sp>
        <p:nvSpPr>
          <p:cNvPr id="124" name="S124"/>
          <p:cNvSpPr/>
          <p:nvPr/>
        </p:nvSpPr>
        <p:spPr>
          <a:xfrm>
            <a:off x="5660479" y="1658000"/>
            <a:ext cx="4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5" name="T125"/>
          <p:cNvSpPr/>
          <p:nvPr/>
        </p:nvSpPr>
        <p:spPr>
          <a:xfrm>
            <a:off x="5626919" y="16800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result</a:t>
            </a:r>
          </a:p>
        </p:txBody>
      </p:sp>
      <p:sp>
        <p:nvSpPr>
          <p:cNvPr id="126" name="S126"/>
          <p:cNvSpPr/>
          <p:nvPr/>
        </p:nvSpPr>
        <p:spPr>
          <a:xfrm>
            <a:off x="5695479" y="328875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7" name="T127"/>
          <p:cNvSpPr/>
          <p:nvPr/>
        </p:nvSpPr>
        <p:spPr>
          <a:xfrm>
            <a:off x="5644419" y="310375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enrollment call</a:t>
            </a:r>
          </a:p>
        </p:txBody>
      </p:sp>
      <p:sp>
        <p:nvSpPr>
          <p:cNvPr id="128" name="S128"/>
          <p:cNvSpPr/>
          <p:nvPr/>
        </p:nvSpPr>
        <p:spPr>
          <a:xfrm>
            <a:off x="5695479" y="337875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9" name="T129"/>
          <p:cNvSpPr/>
          <p:nvPr/>
        </p:nvSpPr>
        <p:spPr>
          <a:xfrm>
            <a:off x="5644419" y="340075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confirmation</a:t>
            </a:r>
          </a:p>
        </p:txBody>
      </p:sp>
      <p:sp>
        <p:nvSpPr>
          <p:cNvPr id="130" name="S130"/>
          <p:cNvSpPr/>
          <p:nvPr/>
        </p:nvSpPr>
        <p:spPr>
          <a:xfrm>
            <a:off x="5695479" y="541625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1" name="T131"/>
          <p:cNvSpPr/>
          <p:nvPr/>
        </p:nvSpPr>
        <p:spPr>
          <a:xfrm>
            <a:off x="5644419" y="523125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AIC journey call</a:t>
            </a:r>
          </a:p>
        </p:txBody>
      </p:sp>
      <p:sp>
        <p:nvSpPr>
          <p:cNvPr id="132" name="S132"/>
          <p:cNvSpPr/>
          <p:nvPr/>
        </p:nvSpPr>
        <p:spPr>
          <a:xfrm>
            <a:off x="5695479" y="550625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3" name="T133"/>
          <p:cNvSpPr/>
          <p:nvPr/>
        </p:nvSpPr>
        <p:spPr>
          <a:xfrm>
            <a:off x="5644419" y="552825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result</a:t>
            </a:r>
          </a:p>
        </p:txBody>
      </p:sp>
      <p:sp>
        <p:nvSpPr>
          <p:cNvPr id="134" name="S134"/>
          <p:cNvSpPr/>
          <p:nvPr/>
        </p:nvSpPr>
        <p:spPr>
          <a:xfrm>
            <a:off x="5983359" y="1060000"/>
            <a:ext cx="5842520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35" name="T135"/>
          <p:cNvSpPr/>
          <p:nvPr/>
        </p:nvSpPr>
        <p:spPr>
          <a:xfrm>
            <a:off x="6083359" y="1110000"/>
            <a:ext cx="56625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</a:t>
            </a:r>
          </a:p>
        </p:txBody>
      </p:sp>
      <p:sp>
        <p:nvSpPr>
          <p:cNvPr id="136" name="S136"/>
          <p:cNvSpPr/>
          <p:nvPr/>
        </p:nvSpPr>
        <p:spPr>
          <a:xfrm>
            <a:off x="6123359" y="1355000"/>
            <a:ext cx="5562520" cy="24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37" name="T137"/>
          <p:cNvSpPr/>
          <p:nvPr/>
        </p:nvSpPr>
        <p:spPr>
          <a:xfrm>
            <a:off x="6198359" y="1650800"/>
            <a:ext cx="54125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PingOne AIC</a:t>
            </a:r>
          </a:p>
        </p:txBody>
      </p:sp>
      <p:sp>
        <p:nvSpPr>
          <p:cNvPr id="138" name="ML138"/>
          <p:cNvSpPr/>
          <p:nvPr/>
        </p:nvSpPr>
        <p:spPr>
          <a:xfrm>
            <a:off x="6198359" y="1904800"/>
            <a:ext cx="5412520" cy="188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Enrollment journey engine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OIDC-authenticated sessions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Validates admin group membership</a:t>
            </a:r>
          </a:p>
          <a:p>
            <a:pPr marL="0" indent="0" algn="ctr">
              <a:buNone/>
            </a:pPr>
            <a:endParaRPr lang="en-US" sz="875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Enrol user: apply selected entitlements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Assign specified roles to user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System confirms changes after storing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Move entitlements enrolled ↔ unenrolled</a:t>
            </a:r>
          </a:p>
        </p:txBody>
      </p:sp>
      <p:sp>
        <p:nvSpPr>
          <p:cNvPr id="139" name="S139"/>
          <p:cNvSpPr/>
          <p:nvPr/>
        </p:nvSpPr>
        <p:spPr>
          <a:xfrm>
            <a:off x="6123359" y="4040000"/>
            <a:ext cx="5562520" cy="24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40" name="T140"/>
          <p:cNvSpPr/>
          <p:nvPr/>
        </p:nvSpPr>
        <p:spPr>
          <a:xfrm>
            <a:off x="6198359" y="4335800"/>
            <a:ext cx="54125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Identity &amp; Role Store</a:t>
            </a:r>
          </a:p>
        </p:txBody>
      </p:sp>
      <p:sp>
        <p:nvSpPr>
          <p:cNvPr id="141" name="ML141"/>
          <p:cNvSpPr/>
          <p:nvPr/>
        </p:nvSpPr>
        <p:spPr>
          <a:xfrm>
            <a:off x="6198359" y="4589800"/>
            <a:ext cx="5412520" cy="188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Stores user enrollment data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Holds entitlement assignments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Role assignments per user</a:t>
            </a:r>
          </a:p>
          <a:p>
            <a:pPr marL="0" indent="0" algn="ctr">
              <a:buNone/>
            </a:pPr>
            <a:endParaRPr lang="en-US" sz="875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Updated on every enrollment action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Reverted on error / cancel</a:t>
            </a:r>
          </a:p>
          <a:p>
            <a:pPr marL="0" indent="0" algn="ctr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Persists all changes after confirmation</a:t>
            </a:r>
          </a:p>
        </p:txBody>
      </p:sp>
      <p:sp>
        <p:nvSpPr>
          <p:cNvPr id="142" name="S142"/>
          <p:cNvSpPr/>
          <p:nvPr/>
        </p:nvSpPr>
        <p:spPr>
          <a:xfrm>
            <a:off x="8904619" y="3830000"/>
            <a:ext cx="0" cy="20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3" name="T143"/>
          <p:cNvSpPr/>
          <p:nvPr/>
        </p:nvSpPr>
        <p:spPr>
          <a:xfrm>
            <a:off x="8954619" y="3845000"/>
            <a:ext cx="13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persist enrollment</a:t>
            </a:r>
          </a:p>
        </p:txBody>
      </p:sp>
      <p:sp>
        <p:nvSpPr>
          <p:cNvPr id="144" name="T144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Black arrow = request/call  ·  Dashed zone = platform boundary  ·  No external system required for enrollment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min Enrollment Seq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Admin Enrollment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i="1" dirty="0">
                <a:solidFill>
                  <a:srgbClr val="6B6B6B"/>
                </a:solidFill>
                <a:latin typeface="Calibri"/>
              </a:rPr>
              <a:t>Scenario: Admin in correct group enrols user, assigns entitlements &amp; roles, navigates profile and handles errors</a:t>
            </a:r>
          </a:p>
        </p:txBody>
      </p:sp>
      <p:sp>
        <p:nvSpPr>
          <p:cNvPr id="103" name="S103"/>
          <p:cNvSpPr/>
          <p:nvPr/>
        </p:nvSpPr>
        <p:spPr>
          <a:xfrm>
            <a:off x="2286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4" name="LH104"/>
          <p:cNvSpPr/>
          <p:nvPr/>
        </p:nvSpPr>
        <p:spPr>
          <a:xfrm>
            <a:off x="2286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05" name="S105"/>
          <p:cNvSpPr/>
          <p:nvPr/>
        </p:nvSpPr>
        <p:spPr>
          <a:xfrm>
            <a:off x="350774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6" name="LH106"/>
          <p:cNvSpPr/>
          <p:nvPr/>
        </p:nvSpPr>
        <p:spPr>
          <a:xfrm>
            <a:off x="350774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107" name="S107"/>
          <p:cNvSpPr/>
          <p:nvPr/>
        </p:nvSpPr>
        <p:spPr>
          <a:xfrm>
            <a:off x="699262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8" name="LH108"/>
          <p:cNvSpPr/>
          <p:nvPr/>
        </p:nvSpPr>
        <p:spPr>
          <a:xfrm>
            <a:off x="699262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CIA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(AIC)</a:t>
            </a:r>
          </a:p>
        </p:txBody>
      </p:sp>
      <p:sp>
        <p:nvSpPr>
          <p:cNvPr id="109" name="S109"/>
          <p:cNvSpPr/>
          <p:nvPr/>
        </p:nvSpPr>
        <p:spPr>
          <a:xfrm>
            <a:off x="10477500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0" name="LH110"/>
          <p:cNvSpPr/>
          <p:nvPr/>
        </p:nvSpPr>
        <p:spPr>
          <a:xfrm>
            <a:off x="1047750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Identity &amp;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Role Store</a:t>
            </a:r>
          </a:p>
        </p:txBody>
      </p:sp>
      <p:sp>
        <p:nvSpPr>
          <p:cNvPr id="111" name="S111"/>
          <p:cNvSpPr/>
          <p:nvPr/>
        </p:nvSpPr>
        <p:spPr>
          <a:xfrm>
            <a:off x="86868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2" name="S112"/>
          <p:cNvSpPr/>
          <p:nvPr/>
        </p:nvSpPr>
        <p:spPr>
          <a:xfrm>
            <a:off x="435356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3" name="S113"/>
          <p:cNvSpPr/>
          <p:nvPr/>
        </p:nvSpPr>
        <p:spPr>
          <a:xfrm>
            <a:off x="783844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4" name="S114"/>
          <p:cNvSpPr/>
          <p:nvPr/>
        </p:nvSpPr>
        <p:spPr>
          <a:xfrm>
            <a:off x="1132332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5" name="S115"/>
          <p:cNvSpPr/>
          <p:nvPr/>
        </p:nvSpPr>
        <p:spPr>
          <a:xfrm>
            <a:off x="868680" y="174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6" name="T116"/>
          <p:cNvSpPr/>
          <p:nvPr/>
        </p:nvSpPr>
        <p:spPr>
          <a:xfrm>
            <a:off x="898680" y="152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1. Select user to enrol</a:t>
            </a:r>
          </a:p>
        </p:txBody>
      </p:sp>
      <p:sp>
        <p:nvSpPr>
          <p:cNvPr id="117" name="S117"/>
          <p:cNvSpPr/>
          <p:nvPr/>
        </p:nvSpPr>
        <p:spPr>
          <a:xfrm>
            <a:off x="4353560" y="206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8" name="T118"/>
          <p:cNvSpPr/>
          <p:nvPr/>
        </p:nvSpPr>
        <p:spPr>
          <a:xfrm>
            <a:off x="4383560" y="184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2. Start enrollment journey (OIDC)</a:t>
            </a:r>
          </a:p>
        </p:txBody>
      </p:sp>
      <p:sp>
        <p:nvSpPr>
          <p:cNvPr id="119" name="S119"/>
          <p:cNvSpPr/>
          <p:nvPr/>
        </p:nvSpPr>
        <p:spPr>
          <a:xfrm>
            <a:off x="6638440" y="2381056"/>
            <a:ext cx="2400000" cy="300000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120" name="T120"/>
          <p:cNvSpPr/>
          <p:nvPr/>
        </p:nvSpPr>
        <p:spPr>
          <a:xfrm>
            <a:off x="6638440" y="2381056"/>
            <a:ext cx="2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3. Validate admin group membership</a:t>
            </a:r>
          </a:p>
        </p:txBody>
      </p:sp>
      <p:sp>
        <p:nvSpPr>
          <p:cNvPr id="121" name="S121"/>
          <p:cNvSpPr/>
          <p:nvPr/>
        </p:nvSpPr>
        <p:spPr>
          <a:xfrm>
            <a:off x="868680" y="274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2" name="T122"/>
          <p:cNvSpPr/>
          <p:nvPr/>
        </p:nvSpPr>
        <p:spPr>
          <a:xfrm>
            <a:off x="898680" y="252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4. Select products, accounts &amp; role assignments</a:t>
            </a:r>
          </a:p>
        </p:txBody>
      </p:sp>
      <p:sp>
        <p:nvSpPr>
          <p:cNvPr id="123" name="S123"/>
          <p:cNvSpPr/>
          <p:nvPr/>
        </p:nvSpPr>
        <p:spPr>
          <a:xfrm>
            <a:off x="4353560" y="306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4" name="T124"/>
          <p:cNvSpPr/>
          <p:nvPr/>
        </p:nvSpPr>
        <p:spPr>
          <a:xfrm>
            <a:off x="4383560" y="284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5. Submit enrollment request</a:t>
            </a:r>
          </a:p>
        </p:txBody>
      </p:sp>
      <p:sp>
        <p:nvSpPr>
          <p:cNvPr id="125" name="S125"/>
          <p:cNvSpPr/>
          <p:nvPr/>
        </p:nvSpPr>
        <p:spPr>
          <a:xfrm>
            <a:off x="7838440" y="338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6" name="T126"/>
          <p:cNvSpPr/>
          <p:nvPr/>
        </p:nvSpPr>
        <p:spPr>
          <a:xfrm>
            <a:off x="7868440" y="316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6. Enrol user, apply entitlements, assign roles</a:t>
            </a:r>
          </a:p>
        </p:txBody>
      </p:sp>
      <p:sp>
        <p:nvSpPr>
          <p:cNvPr id="127" name="S127"/>
          <p:cNvSpPr/>
          <p:nvPr/>
        </p:nvSpPr>
        <p:spPr>
          <a:xfrm>
            <a:off x="7838440" y="370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8" name="T128"/>
          <p:cNvSpPr/>
          <p:nvPr/>
        </p:nvSpPr>
        <p:spPr>
          <a:xfrm>
            <a:off x="7868440" y="348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7. Confirm enrollment stored</a:t>
            </a:r>
          </a:p>
        </p:txBody>
      </p:sp>
      <p:sp>
        <p:nvSpPr>
          <p:cNvPr id="129" name="S129"/>
          <p:cNvSpPr/>
          <p:nvPr/>
        </p:nvSpPr>
        <p:spPr>
          <a:xfrm>
            <a:off x="4353560" y="402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0" name="T130"/>
          <p:cNvSpPr/>
          <p:nvPr/>
        </p:nvSpPr>
        <p:spPr>
          <a:xfrm>
            <a:off x="4383560" y="380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8. Return success confirmation</a:t>
            </a:r>
          </a:p>
        </p:txBody>
      </p:sp>
      <p:sp>
        <p:nvSpPr>
          <p:cNvPr id="131" name="S131"/>
          <p:cNvSpPr/>
          <p:nvPr/>
        </p:nvSpPr>
        <p:spPr>
          <a:xfrm>
            <a:off x="868680" y="434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2" name="T132"/>
          <p:cNvSpPr/>
          <p:nvPr/>
        </p:nvSpPr>
        <p:spPr>
          <a:xfrm>
            <a:off x="898680" y="412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9. Display confirmation page</a:t>
            </a:r>
          </a:p>
        </p:txBody>
      </p:sp>
      <p:sp>
        <p:nvSpPr>
          <p:cNvPr id="133" name="S133"/>
          <p:cNvSpPr/>
          <p:nvPr/>
        </p:nvSpPr>
        <p:spPr>
          <a:xfrm>
            <a:off x="868680" y="466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4" name="T134"/>
          <p:cNvSpPr/>
          <p:nvPr/>
        </p:nvSpPr>
        <p:spPr>
          <a:xfrm>
            <a:off x="898680" y="444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10. Click entitlement to assign/unassign roles</a:t>
            </a:r>
          </a:p>
        </p:txBody>
      </p:sp>
      <p:sp>
        <p:nvSpPr>
          <p:cNvPr id="135" name="S135"/>
          <p:cNvSpPr/>
          <p:nvPr/>
        </p:nvSpPr>
        <p:spPr>
          <a:xfrm>
            <a:off x="4353560" y="498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6" name="T136"/>
          <p:cNvSpPr/>
          <p:nvPr/>
        </p:nvSpPr>
        <p:spPr>
          <a:xfrm>
            <a:off x="4383560" y="476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11. Submit role assignment change</a:t>
            </a:r>
          </a:p>
        </p:txBody>
      </p:sp>
      <p:sp>
        <p:nvSpPr>
          <p:cNvPr id="137" name="S137"/>
          <p:cNvSpPr/>
          <p:nvPr/>
        </p:nvSpPr>
        <p:spPr>
          <a:xfrm>
            <a:off x="7838440" y="530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8" name="T138"/>
          <p:cNvSpPr/>
          <p:nvPr/>
        </p:nvSpPr>
        <p:spPr>
          <a:xfrm>
            <a:off x="7868440" y="508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12. Update role assignments for user</a:t>
            </a:r>
          </a:p>
        </p:txBody>
      </p:sp>
      <p:sp>
        <p:nvSpPr>
          <p:cNvPr id="139" name="S139"/>
          <p:cNvSpPr/>
          <p:nvPr/>
        </p:nvSpPr>
        <p:spPr>
          <a:xfrm>
            <a:off x="7838440" y="562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40" name="T140"/>
          <p:cNvSpPr/>
          <p:nvPr/>
        </p:nvSpPr>
        <p:spPr>
          <a:xfrm>
            <a:off x="7868440" y="540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13. Confirm roles updated</a:t>
            </a:r>
          </a:p>
        </p:txBody>
      </p:sp>
      <p:sp>
        <p:nvSpPr>
          <p:cNvPr id="141" name="S141"/>
          <p:cNvSpPr/>
          <p:nvPr/>
        </p:nvSpPr>
        <p:spPr>
          <a:xfrm>
            <a:off x="4353560" y="594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42" name="T142"/>
          <p:cNvSpPr/>
          <p:nvPr/>
        </p:nvSpPr>
        <p:spPr>
          <a:xfrm>
            <a:off x="4383560" y="572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14. Return confirmation</a:t>
            </a:r>
          </a:p>
        </p:txBody>
      </p:sp>
      <p:sp>
        <p:nvSpPr>
          <p:cNvPr id="143" name="S143"/>
          <p:cNvSpPr/>
          <p:nvPr/>
        </p:nvSpPr>
        <p:spPr>
          <a:xfrm>
            <a:off x="868680" y="6261056"/>
            <a:ext cx="3484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4" name="T144"/>
          <p:cNvSpPr/>
          <p:nvPr/>
        </p:nvSpPr>
        <p:spPr>
          <a:xfrm>
            <a:off x="898680" y="6041056"/>
            <a:ext cx="34248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40" b="0" i="0" dirty="0">
                <a:solidFill>
                  <a:srgbClr val="262626"/>
                </a:solidFill>
                <a:latin typeface="Calibri"/>
              </a:rPr>
              <a:t>15. Cancel edit (popup confirm)</a:t>
            </a:r>
          </a:p>
        </p:txBody>
      </p:sp>
      <p:sp>
        <p:nvSpPr>
          <p:cNvPr id="145" name="S145"/>
          <p:cNvSpPr/>
          <p:nvPr/>
        </p:nvSpPr>
        <p:spPr>
          <a:xfrm>
            <a:off x="6638440" y="6581056"/>
            <a:ext cx="2400000" cy="300000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146" name="T146"/>
          <p:cNvSpPr/>
          <p:nvPr/>
        </p:nvSpPr>
        <p:spPr>
          <a:xfrm>
            <a:off x="6638440" y="6581056"/>
            <a:ext cx="2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B6B6B"/>
                </a:solidFill>
                <a:latin typeface="Calibri"/>
              </a:rPr>
              <a:t>16. Discard changes — no save performed</a:t>
            </a:r>
          </a:p>
        </p:txBody>
      </p:sp>
      <p:sp>
        <p:nvSpPr>
          <p:cNvPr id="147" name="T147"/>
          <p:cNvSpPr/>
          <p:nvPr/>
        </p:nvSpPr>
        <p:spPr>
          <a:xfrm>
            <a:off x="4453560" y="6961056"/>
            <a:ext cx="36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ERROR path: Invalid data → highlight red fields, page cannot save until corrected  |  Save error → popup shown, revert to previous state, allow retry or cancel</a:t>
            </a:r>
          </a:p>
        </p:txBody>
      </p:sp>
      <p:sp>
        <p:nvSpPr>
          <p:cNvPr id="148" name="T148"/>
          <p:cNvSpPr/>
          <p:nvPr/>
        </p:nvSpPr>
        <p:spPr>
          <a:xfrm>
            <a:off x="457200" y="6365240"/>
            <a:ext cx="113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rgbClr val="6B6B6B"/>
                </a:solidFill>
                <a:latin typeface="Calibri"/>
              </a:rPr>
              <a:t>Black solid → request / call  ·  Black dashed → response / return  ·  Red-tint box → processing / system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954</Words>
  <Application>Microsoft Office PowerPoint</Application>
  <PresentationFormat>Widescreen</PresentationFormat>
  <Paragraphs>181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2</cp:revision>
  <dcterms:created xsi:type="dcterms:W3CDTF">2013-01-27T09:14:16Z</dcterms:created>
  <dcterms:modified xsi:type="dcterms:W3CDTF">2026-07-13T00:02:28Z</dcterms:modified>
  <cp:category/>
</cp:coreProperties>
</file>