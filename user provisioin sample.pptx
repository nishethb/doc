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78" r:id="rId2"/>
    <p:sldId id="279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874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nected Provision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113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latin typeface="Calibri"/>
              </a:rPr>
              <a:t>Block Diagram — User Provisioning, Connected Applications</a:t>
            </a:r>
          </a:p>
        </p:txBody>
      </p:sp>
      <p:sp>
        <p:nvSpPr>
          <p:cNvPr id="3" name="Sub"/>
          <p:cNvSpPr/>
          <p:nvPr/>
        </p:nvSpPr>
        <p:spPr>
          <a:xfrm>
            <a:off x="457200" y="720395"/>
            <a:ext cx="113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i="1" dirty="0">
                <a:latin typeface="Calibri"/>
              </a:rPr>
              <a:t>Live sync (continuous) and reconciliation (scheduled) both drive provisioning · OOTB connectors reside in CIA, configured against RCS · Target application receives REST/SCIM/SOAP calls</a:t>
            </a:r>
          </a:p>
        </p:txBody>
      </p:sp>
      <p:sp>
        <p:nvSpPr>
          <p:cNvPr id="4" name="Lane4"/>
          <p:cNvSpPr/>
          <p:nvPr/>
        </p:nvSpPr>
        <p:spPr>
          <a:xfrm>
            <a:off x="481244" y="960000"/>
            <a:ext cx="11368680" cy="195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LaneLbl4"/>
          <p:cNvSpPr/>
          <p:nvPr/>
        </p:nvSpPr>
        <p:spPr>
          <a:xfrm>
            <a:off x="557200" y="1020000"/>
            <a:ext cx="111686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latin typeface="Calibri"/>
              </a:rPr>
              <a:t>CIA Platform</a:t>
            </a:r>
          </a:p>
        </p:txBody>
      </p:sp>
      <p:sp>
        <p:nvSpPr>
          <p:cNvPr id="6" name="IBox6"/>
          <p:cNvSpPr/>
          <p:nvPr/>
        </p:nvSpPr>
        <p:spPr>
          <a:xfrm>
            <a:off x="1000638" y="2213254"/>
            <a:ext cx="2600000" cy="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IBT6"/>
          <p:cNvSpPr/>
          <p:nvPr/>
        </p:nvSpPr>
        <p:spPr>
          <a:xfrm>
            <a:off x="1090065" y="2245849"/>
            <a:ext cx="244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Live Sync Engine</a:t>
            </a:r>
          </a:p>
        </p:txBody>
      </p:sp>
      <p:sp>
        <p:nvSpPr>
          <p:cNvPr id="8" name="IBS6"/>
          <p:cNvSpPr/>
          <p:nvPr/>
        </p:nvSpPr>
        <p:spPr>
          <a:xfrm>
            <a:off x="1137200" y="2447272"/>
            <a:ext cx="244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0" i="1" dirty="0">
                <a:latin typeface="Calibri"/>
              </a:rPr>
              <a:t>Continuous — triggers on changelog</a:t>
            </a:r>
          </a:p>
        </p:txBody>
      </p:sp>
      <p:sp>
        <p:nvSpPr>
          <p:cNvPr id="9" name="IBox9"/>
          <p:cNvSpPr/>
          <p:nvPr/>
        </p:nvSpPr>
        <p:spPr>
          <a:xfrm>
            <a:off x="4827639" y="1166876"/>
            <a:ext cx="2600000" cy="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0" name="IBT9"/>
          <p:cNvSpPr/>
          <p:nvPr/>
        </p:nvSpPr>
        <p:spPr>
          <a:xfrm>
            <a:off x="4907639" y="1274876"/>
            <a:ext cx="244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Reconciliation Engine</a:t>
            </a:r>
          </a:p>
        </p:txBody>
      </p:sp>
      <p:sp>
        <p:nvSpPr>
          <p:cNvPr id="11" name="IBS9"/>
          <p:cNvSpPr/>
          <p:nvPr/>
        </p:nvSpPr>
        <p:spPr>
          <a:xfrm>
            <a:off x="5020761" y="1523438"/>
            <a:ext cx="244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0" i="1" dirty="0">
                <a:latin typeface="Calibri"/>
              </a:rPr>
              <a:t>Scheduled — cron / interval batch</a:t>
            </a:r>
          </a:p>
        </p:txBody>
      </p:sp>
      <p:sp>
        <p:nvSpPr>
          <p:cNvPr id="12" name="LsLbl"/>
          <p:cNvSpPr/>
          <p:nvPr/>
        </p:nvSpPr>
        <p:spPr>
          <a:xfrm>
            <a:off x="1057200" y="1920000"/>
            <a:ext cx="26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1" dirty="0">
                <a:latin typeface="Calibri"/>
              </a:rPr>
              <a:t>Real-time trigger</a:t>
            </a:r>
          </a:p>
        </p:txBody>
      </p:sp>
      <p:sp>
        <p:nvSpPr>
          <p:cNvPr id="13" name="RcLbl"/>
          <p:cNvSpPr/>
          <p:nvPr/>
        </p:nvSpPr>
        <p:spPr>
          <a:xfrm>
            <a:off x="5298978" y="1920000"/>
            <a:ext cx="26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1" dirty="0">
                <a:latin typeface="Calibri"/>
              </a:rPr>
              <a:t>Scheduled batch</a:t>
            </a:r>
          </a:p>
        </p:txBody>
      </p:sp>
      <p:sp>
        <p:nvSpPr>
          <p:cNvPr id="14" name="IBox14"/>
          <p:cNvSpPr/>
          <p:nvPr/>
        </p:nvSpPr>
        <p:spPr>
          <a:xfrm>
            <a:off x="4741540" y="2210000"/>
            <a:ext cx="2800000" cy="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5" name="IBT14"/>
          <p:cNvSpPr/>
          <p:nvPr/>
        </p:nvSpPr>
        <p:spPr>
          <a:xfrm>
            <a:off x="4821540" y="2210000"/>
            <a:ext cx="264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Provisioning Engine</a:t>
            </a:r>
          </a:p>
        </p:txBody>
      </p:sp>
      <p:sp>
        <p:nvSpPr>
          <p:cNvPr id="17" name="FA17"/>
          <p:cNvSpPr/>
          <p:nvPr/>
        </p:nvSpPr>
        <p:spPr>
          <a:xfrm flipH="1">
            <a:off x="6141540" y="1789876"/>
            <a:ext cx="0" cy="420124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none"/>
            <a:tailEnd type="triangle"/>
          </a:ln>
        </p:spPr>
      </p:sp>
      <p:sp>
        <p:nvSpPr>
          <p:cNvPr id="18" name="IBox18"/>
          <p:cNvSpPr/>
          <p:nvPr/>
        </p:nvSpPr>
        <p:spPr>
          <a:xfrm>
            <a:off x="8965623" y="2210000"/>
            <a:ext cx="2400000" cy="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9" name="IBT18"/>
          <p:cNvSpPr/>
          <p:nvPr/>
        </p:nvSpPr>
        <p:spPr>
          <a:xfrm>
            <a:off x="9064475" y="2271719"/>
            <a:ext cx="224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OOTB Connector/</a:t>
            </a:r>
          </a:p>
        </p:txBody>
      </p:sp>
      <p:sp>
        <p:nvSpPr>
          <p:cNvPr id="20" name="IBS18"/>
          <p:cNvSpPr/>
          <p:nvPr/>
        </p:nvSpPr>
        <p:spPr>
          <a:xfrm>
            <a:off x="9205880" y="2460000"/>
            <a:ext cx="2240000" cy="22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0" i="1" dirty="0">
                <a:latin typeface="Calibri"/>
              </a:rPr>
              <a:t>Resides in CIA · configured against RCS</a:t>
            </a:r>
          </a:p>
        </p:txBody>
      </p:sp>
      <p:sp>
        <p:nvSpPr>
          <p:cNvPr id="21" name="OotbNote"/>
          <p:cNvSpPr/>
          <p:nvPr/>
        </p:nvSpPr>
        <p:spPr>
          <a:xfrm>
            <a:off x="7591540" y="2210000"/>
            <a:ext cx="148434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1" dirty="0">
                <a:latin typeface="Calibri"/>
              </a:rPr>
              <a:t>routes
via</a:t>
            </a:r>
          </a:p>
        </p:txBody>
      </p:sp>
      <p:sp>
        <p:nvSpPr>
          <p:cNvPr id="22" name="HA22"/>
          <p:cNvSpPr/>
          <p:nvPr/>
        </p:nvSpPr>
        <p:spPr>
          <a:xfrm flipV="1">
            <a:off x="7541540" y="2447272"/>
            <a:ext cx="1442678" cy="12728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none"/>
            <a:tailEnd type="triangle"/>
          </a:ln>
        </p:spPr>
      </p:sp>
      <p:sp>
        <p:nvSpPr>
          <p:cNvPr id="23" name="SecLbl"/>
          <p:cNvSpPr/>
          <p:nvPr/>
        </p:nvSpPr>
        <p:spPr>
          <a:xfrm>
            <a:off x="457200" y="2714011"/>
            <a:ext cx="113686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0" i="1" dirty="0">
                <a:latin typeface="Calibri"/>
              </a:rPr>
              <a:t>Secure outbound connection — protocol: wss:// (TLS encryption)</a:t>
            </a:r>
          </a:p>
        </p:txBody>
      </p:sp>
      <p:sp>
        <p:nvSpPr>
          <p:cNvPr id="24" name="Lane24"/>
          <p:cNvSpPr/>
          <p:nvPr/>
        </p:nvSpPr>
        <p:spPr>
          <a:xfrm>
            <a:off x="452726" y="3050000"/>
            <a:ext cx="11368680" cy="110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25" name="LaneLbl24"/>
          <p:cNvSpPr/>
          <p:nvPr/>
        </p:nvSpPr>
        <p:spPr>
          <a:xfrm>
            <a:off x="557200" y="3120000"/>
            <a:ext cx="111686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latin typeface="Calibri"/>
              </a:rPr>
              <a:t>Connector Layer (RCS / On-Premises)</a:t>
            </a:r>
          </a:p>
        </p:txBody>
      </p:sp>
      <p:sp>
        <p:nvSpPr>
          <p:cNvPr id="26" name="IBox26"/>
          <p:cNvSpPr/>
          <p:nvPr/>
        </p:nvSpPr>
        <p:spPr>
          <a:xfrm>
            <a:off x="4643949" y="3253438"/>
            <a:ext cx="3200000" cy="7565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27" name="IBT26"/>
          <p:cNvSpPr/>
          <p:nvPr/>
        </p:nvSpPr>
        <p:spPr>
          <a:xfrm>
            <a:off x="4516563" y="3354000"/>
            <a:ext cx="304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RCS (Remote Connector Server)</a:t>
            </a:r>
          </a:p>
        </p:txBody>
      </p:sp>
      <p:sp>
        <p:nvSpPr>
          <p:cNvPr id="28" name="IBS26"/>
          <p:cNvSpPr/>
          <p:nvPr/>
        </p:nvSpPr>
        <p:spPr>
          <a:xfrm>
            <a:off x="4723949" y="3610000"/>
            <a:ext cx="304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0" i="1" dirty="0">
                <a:latin typeface="Calibri"/>
              </a:rPr>
              <a:t>OOTB connectors configured here · all outbound calls routed via RCS</a:t>
            </a:r>
          </a:p>
        </p:txBody>
      </p:sp>
      <p:sp>
        <p:nvSpPr>
          <p:cNvPr id="30" name="VAL29"/>
          <p:cNvSpPr/>
          <p:nvPr/>
        </p:nvSpPr>
        <p:spPr>
          <a:xfrm>
            <a:off x="9660010" y="2696051"/>
            <a:ext cx="14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1" dirty="0">
                <a:latin typeface="Calibri"/>
              </a:rPr>
              <a:t>OOTB connector call</a:t>
            </a:r>
          </a:p>
        </p:txBody>
      </p:sp>
      <p:sp>
        <p:nvSpPr>
          <p:cNvPr id="31" name="ProvLbl"/>
          <p:cNvSpPr/>
          <p:nvPr/>
        </p:nvSpPr>
        <p:spPr>
          <a:xfrm>
            <a:off x="372357" y="3973438"/>
            <a:ext cx="113686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0" i="1" dirty="0">
                <a:latin typeface="Calibri"/>
              </a:rPr>
              <a:t>Provisioning call (REST / SCIM / SOAP)</a:t>
            </a:r>
          </a:p>
        </p:txBody>
      </p:sp>
      <p:sp>
        <p:nvSpPr>
          <p:cNvPr id="32" name="Lane32"/>
          <p:cNvSpPr/>
          <p:nvPr/>
        </p:nvSpPr>
        <p:spPr>
          <a:xfrm>
            <a:off x="447773" y="4310000"/>
            <a:ext cx="11368680" cy="11500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6B6B6B"/>
            </a:solidFill>
            <a:prstDash val="dash"/>
          </a:ln>
        </p:spPr>
      </p:sp>
      <p:sp>
        <p:nvSpPr>
          <p:cNvPr id="33" name="LaneLbl32"/>
          <p:cNvSpPr/>
          <p:nvPr/>
        </p:nvSpPr>
        <p:spPr>
          <a:xfrm>
            <a:off x="557200" y="4370000"/>
            <a:ext cx="111686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latin typeface="Calibri"/>
              </a:rPr>
              <a:t>Target Application (Connected System)</a:t>
            </a:r>
          </a:p>
        </p:txBody>
      </p:sp>
      <p:sp>
        <p:nvSpPr>
          <p:cNvPr id="34" name="EBox34"/>
          <p:cNvSpPr/>
          <p:nvPr/>
        </p:nvSpPr>
        <p:spPr>
          <a:xfrm>
            <a:off x="4541540" y="4460000"/>
            <a:ext cx="3200000" cy="85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EBT34"/>
          <p:cNvSpPr/>
          <p:nvPr/>
        </p:nvSpPr>
        <p:spPr>
          <a:xfrm>
            <a:off x="4621540" y="4613000"/>
            <a:ext cx="304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latin typeface="Calibri"/>
              </a:rPr>
              <a:t>Target Application</a:t>
            </a:r>
          </a:p>
        </p:txBody>
      </p:sp>
      <p:sp>
        <p:nvSpPr>
          <p:cNvPr id="36" name="EBS34"/>
          <p:cNvSpPr/>
          <p:nvPr/>
        </p:nvSpPr>
        <p:spPr>
          <a:xfrm>
            <a:off x="4621540" y="4902000"/>
            <a:ext cx="3040000" cy="365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0" i="1" dirty="0">
                <a:latin typeface="Calibri"/>
              </a:rPr>
              <a:t>End destination · REST / SCIM / SOAP interface</a:t>
            </a:r>
          </a:p>
        </p:txBody>
      </p:sp>
      <p:sp>
        <p:nvSpPr>
          <p:cNvPr id="37" name="VA37"/>
          <p:cNvSpPr/>
          <p:nvPr/>
        </p:nvSpPr>
        <p:spPr>
          <a:xfrm>
            <a:off x="6168540" y="4160000"/>
            <a:ext cx="0" cy="30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none"/>
            <a:tailEnd type="triangle"/>
          </a:ln>
        </p:spPr>
      </p:sp>
      <p:sp>
        <p:nvSpPr>
          <p:cNvPr id="38" name="Legend"/>
          <p:cNvSpPr/>
          <p:nvPr/>
        </p:nvSpPr>
        <p:spPr>
          <a:xfrm>
            <a:off x="457200" y="5512673"/>
            <a:ext cx="113686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0" i="1" dirty="0">
                <a:latin typeface="Calibri"/>
              </a:rPr>
              <a:t>Internal component = red border  ·  External system = grey fill  ·  Red arrow = request/call  ·  Dashed zone = platform boundary</a:t>
            </a:r>
          </a:p>
        </p:txBody>
      </p:sp>
      <p:sp>
        <p:nvSpPr>
          <p:cNvPr id="43" name="FA17">
            <a:extLst>
              <a:ext uri="{FF2B5EF4-FFF2-40B4-BE49-F238E27FC236}">
                <a16:creationId xmlns:a16="http://schemas.microsoft.com/office/drawing/2014/main" id="{9B427992-329C-4ABE-841B-D1958072864A}"/>
              </a:ext>
            </a:extLst>
          </p:cNvPr>
          <p:cNvSpPr/>
          <p:nvPr/>
        </p:nvSpPr>
        <p:spPr>
          <a:xfrm flipH="1">
            <a:off x="6124261" y="2696051"/>
            <a:ext cx="0" cy="604249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none"/>
            <a:tailEnd type="triangle"/>
          </a:ln>
        </p:spPr>
      </p:sp>
      <p:sp>
        <p:nvSpPr>
          <p:cNvPr id="47" name="S129">
            <a:extLst>
              <a:ext uri="{FF2B5EF4-FFF2-40B4-BE49-F238E27FC236}">
                <a16:creationId xmlns:a16="http://schemas.microsoft.com/office/drawing/2014/main" id="{E40A76A5-3BAB-4CAA-8C49-5B82B69DC8CF}"/>
              </a:ext>
            </a:extLst>
          </p:cNvPr>
          <p:cNvSpPr/>
          <p:nvPr/>
        </p:nvSpPr>
        <p:spPr>
          <a:xfrm>
            <a:off x="3600638" y="2505849"/>
            <a:ext cx="1170902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sconnected Provision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83746"/>
            <a:ext cx="113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latin typeface="Calibri"/>
              </a:rPr>
              <a:t>Block Diagram — User Provisioning, Disconnected Applications</a:t>
            </a:r>
          </a:p>
        </p:txBody>
      </p:sp>
      <p:sp>
        <p:nvSpPr>
          <p:cNvPr id="3" name="Sub"/>
          <p:cNvSpPr/>
          <p:nvPr/>
        </p:nvSpPr>
        <p:spPr>
          <a:xfrm>
            <a:off x="457200" y="795810"/>
            <a:ext cx="113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i="1" dirty="0">
                <a:latin typeface="Calibri"/>
              </a:rPr>
              <a:t>Live sync and reconciliation both feed provisioning · Custom connectors fully reside in and depend on RCS · Target receives async file/MQ/CSV feed</a:t>
            </a:r>
          </a:p>
        </p:txBody>
      </p:sp>
      <p:sp>
        <p:nvSpPr>
          <p:cNvPr id="4" name="Lane4"/>
          <p:cNvSpPr/>
          <p:nvPr/>
        </p:nvSpPr>
        <p:spPr>
          <a:xfrm>
            <a:off x="515759" y="1047290"/>
            <a:ext cx="11368680" cy="195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LaneLbl4"/>
          <p:cNvSpPr/>
          <p:nvPr/>
        </p:nvSpPr>
        <p:spPr>
          <a:xfrm>
            <a:off x="587495" y="1029426"/>
            <a:ext cx="111686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latin typeface="Calibri"/>
              </a:rPr>
              <a:t>CIA Platform</a:t>
            </a:r>
          </a:p>
        </p:txBody>
      </p:sp>
      <p:sp>
        <p:nvSpPr>
          <p:cNvPr id="6" name="IBox6"/>
          <p:cNvSpPr/>
          <p:nvPr/>
        </p:nvSpPr>
        <p:spPr>
          <a:xfrm>
            <a:off x="1010065" y="1647646"/>
            <a:ext cx="2600000" cy="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IBT6"/>
          <p:cNvSpPr/>
          <p:nvPr/>
        </p:nvSpPr>
        <p:spPr>
          <a:xfrm>
            <a:off x="1137200" y="1708506"/>
            <a:ext cx="244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Live Sync Engine</a:t>
            </a:r>
          </a:p>
        </p:txBody>
      </p:sp>
      <p:sp>
        <p:nvSpPr>
          <p:cNvPr id="8" name="IBS6"/>
          <p:cNvSpPr/>
          <p:nvPr/>
        </p:nvSpPr>
        <p:spPr>
          <a:xfrm>
            <a:off x="1137200" y="1957076"/>
            <a:ext cx="244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0" i="1" dirty="0">
                <a:latin typeface="Calibri"/>
              </a:rPr>
              <a:t>Continuous — triggers on changelog</a:t>
            </a:r>
          </a:p>
        </p:txBody>
      </p:sp>
      <p:sp>
        <p:nvSpPr>
          <p:cNvPr id="9" name="IBox9"/>
          <p:cNvSpPr/>
          <p:nvPr/>
        </p:nvSpPr>
        <p:spPr>
          <a:xfrm>
            <a:off x="8654919" y="1694776"/>
            <a:ext cx="2600000" cy="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0" name="IBT9"/>
          <p:cNvSpPr/>
          <p:nvPr/>
        </p:nvSpPr>
        <p:spPr>
          <a:xfrm>
            <a:off x="8565246" y="1849910"/>
            <a:ext cx="244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Reconciliation Engine</a:t>
            </a:r>
          </a:p>
        </p:txBody>
      </p:sp>
      <p:sp>
        <p:nvSpPr>
          <p:cNvPr id="11" name="IBS9"/>
          <p:cNvSpPr/>
          <p:nvPr/>
        </p:nvSpPr>
        <p:spPr>
          <a:xfrm>
            <a:off x="8612374" y="2079618"/>
            <a:ext cx="244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0" i="1" dirty="0">
                <a:latin typeface="Calibri"/>
              </a:rPr>
              <a:t>Scheduled — cron / interval batch</a:t>
            </a:r>
          </a:p>
        </p:txBody>
      </p:sp>
      <p:sp>
        <p:nvSpPr>
          <p:cNvPr id="12" name="LsLbl"/>
          <p:cNvSpPr/>
          <p:nvPr/>
        </p:nvSpPr>
        <p:spPr>
          <a:xfrm>
            <a:off x="981784" y="2212225"/>
            <a:ext cx="26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1" dirty="0">
                <a:latin typeface="Calibri"/>
              </a:rPr>
              <a:t>Real-time trigger</a:t>
            </a:r>
          </a:p>
        </p:txBody>
      </p:sp>
      <p:sp>
        <p:nvSpPr>
          <p:cNvPr id="13" name="RcLbl"/>
          <p:cNvSpPr/>
          <p:nvPr/>
        </p:nvSpPr>
        <p:spPr>
          <a:xfrm>
            <a:off x="6750707" y="1825726"/>
            <a:ext cx="26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1" dirty="0">
                <a:latin typeface="Calibri"/>
              </a:rPr>
              <a:t>Scheduled batch</a:t>
            </a:r>
          </a:p>
        </p:txBody>
      </p:sp>
      <p:sp>
        <p:nvSpPr>
          <p:cNvPr id="14" name="IBox14"/>
          <p:cNvSpPr/>
          <p:nvPr/>
        </p:nvSpPr>
        <p:spPr>
          <a:xfrm>
            <a:off x="4741540" y="1729224"/>
            <a:ext cx="2800000" cy="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5" name="IBT14"/>
          <p:cNvSpPr/>
          <p:nvPr/>
        </p:nvSpPr>
        <p:spPr>
          <a:xfrm>
            <a:off x="4821540" y="1729224"/>
            <a:ext cx="264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Provisioning Engine</a:t>
            </a:r>
          </a:p>
        </p:txBody>
      </p:sp>
      <p:sp>
        <p:nvSpPr>
          <p:cNvPr id="16" name="FA16"/>
          <p:cNvSpPr/>
          <p:nvPr/>
        </p:nvSpPr>
        <p:spPr>
          <a:xfrm flipV="1">
            <a:off x="3610065" y="1959147"/>
            <a:ext cx="1171475" cy="935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17" name="FA17"/>
          <p:cNvSpPr/>
          <p:nvPr/>
        </p:nvSpPr>
        <p:spPr>
          <a:xfrm flipH="1">
            <a:off x="7541539" y="2017326"/>
            <a:ext cx="1102839" cy="17167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SecLbl"/>
          <p:cNvSpPr/>
          <p:nvPr/>
        </p:nvSpPr>
        <p:spPr>
          <a:xfrm>
            <a:off x="457200" y="2572604"/>
            <a:ext cx="113686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0" i="1" dirty="0">
                <a:latin typeface="Calibri"/>
              </a:rPr>
              <a:t>Secure outbound connection — protocol: wss:// (TLS encryption)</a:t>
            </a:r>
          </a:p>
        </p:txBody>
      </p:sp>
      <p:sp>
        <p:nvSpPr>
          <p:cNvPr id="20" name="Lane20"/>
          <p:cNvSpPr/>
          <p:nvPr/>
        </p:nvSpPr>
        <p:spPr>
          <a:xfrm>
            <a:off x="517200" y="3069425"/>
            <a:ext cx="11368680" cy="110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21" name="LaneLbl20"/>
          <p:cNvSpPr/>
          <p:nvPr/>
        </p:nvSpPr>
        <p:spPr>
          <a:xfrm>
            <a:off x="1235935" y="3091717"/>
            <a:ext cx="111686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latin typeface="Calibri"/>
              </a:rPr>
              <a:t>Connector Layer (RCS / On-Premises)</a:t>
            </a:r>
          </a:p>
        </p:txBody>
      </p:sp>
      <p:sp>
        <p:nvSpPr>
          <p:cNvPr id="22" name="IBox22"/>
          <p:cNvSpPr/>
          <p:nvPr/>
        </p:nvSpPr>
        <p:spPr>
          <a:xfrm>
            <a:off x="957200" y="3247703"/>
            <a:ext cx="2800000" cy="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23" name="IBT22"/>
          <p:cNvSpPr/>
          <p:nvPr/>
        </p:nvSpPr>
        <p:spPr>
          <a:xfrm>
            <a:off x="1037200" y="3561393"/>
            <a:ext cx="264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RCS (Remote Connector Server)</a:t>
            </a:r>
          </a:p>
        </p:txBody>
      </p:sp>
      <p:sp>
        <p:nvSpPr>
          <p:cNvPr id="24" name="IBS22"/>
          <p:cNvSpPr/>
          <p:nvPr/>
        </p:nvSpPr>
        <p:spPr>
          <a:xfrm>
            <a:off x="1037200" y="3826820"/>
            <a:ext cx="264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0" i="1" dirty="0">
                <a:latin typeface="Calibri"/>
              </a:rPr>
              <a:t>Hosts custom connector · manages all outbound routing</a:t>
            </a:r>
          </a:p>
        </p:txBody>
      </p:sp>
      <p:sp>
        <p:nvSpPr>
          <p:cNvPr id="25" name="IBox25"/>
          <p:cNvSpPr/>
          <p:nvPr/>
        </p:nvSpPr>
        <p:spPr>
          <a:xfrm>
            <a:off x="8525880" y="3219426"/>
            <a:ext cx="2800000" cy="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26" name="IBT25"/>
          <p:cNvSpPr/>
          <p:nvPr/>
        </p:nvSpPr>
        <p:spPr>
          <a:xfrm>
            <a:off x="8605880" y="3363426"/>
            <a:ext cx="264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Custom Connector</a:t>
            </a:r>
          </a:p>
        </p:txBody>
      </p:sp>
      <p:sp>
        <p:nvSpPr>
          <p:cNvPr id="27" name="IBS25"/>
          <p:cNvSpPr/>
          <p:nvPr/>
        </p:nvSpPr>
        <p:spPr>
          <a:xfrm>
            <a:off x="8605880" y="3619426"/>
            <a:ext cx="264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0" i="1" dirty="0">
                <a:latin typeface="Calibri"/>
              </a:rPr>
              <a:t>Fully depends on RCS · file / MQ / CSV adapter</a:t>
            </a:r>
          </a:p>
        </p:txBody>
      </p:sp>
      <p:sp>
        <p:nvSpPr>
          <p:cNvPr id="29" name="HAL28"/>
          <p:cNvSpPr/>
          <p:nvPr/>
        </p:nvSpPr>
        <p:spPr>
          <a:xfrm>
            <a:off x="3757200" y="3399425"/>
            <a:ext cx="47686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1" dirty="0">
                <a:latin typeface="Calibri"/>
              </a:rPr>
              <a:t>routes via</a:t>
            </a:r>
          </a:p>
        </p:txBody>
      </p:sp>
      <p:sp>
        <p:nvSpPr>
          <p:cNvPr id="30" name="VA30"/>
          <p:cNvSpPr/>
          <p:nvPr/>
        </p:nvSpPr>
        <p:spPr>
          <a:xfrm flipH="1">
            <a:off x="6028419" y="2227076"/>
            <a:ext cx="0" cy="884484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1" name="VAL30"/>
          <p:cNvSpPr/>
          <p:nvPr/>
        </p:nvSpPr>
        <p:spPr>
          <a:xfrm>
            <a:off x="6201540" y="3007133"/>
            <a:ext cx="14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1" dirty="0">
                <a:latin typeface="Calibri"/>
              </a:rPr>
              <a:t>provisioning request</a:t>
            </a:r>
          </a:p>
        </p:txBody>
      </p:sp>
      <p:sp>
        <p:nvSpPr>
          <p:cNvPr id="32" name="AsyncLbl"/>
          <p:cNvSpPr/>
          <p:nvPr/>
        </p:nvSpPr>
        <p:spPr>
          <a:xfrm>
            <a:off x="457200" y="4133696"/>
            <a:ext cx="113686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0" i="1" dirty="0">
                <a:latin typeface="Calibri"/>
              </a:rPr>
              <a:t>Async delivery — file / MQ / CSV feed (no live API endpoint)</a:t>
            </a:r>
          </a:p>
        </p:txBody>
      </p:sp>
      <p:sp>
        <p:nvSpPr>
          <p:cNvPr id="33" name="Lane33"/>
          <p:cNvSpPr/>
          <p:nvPr/>
        </p:nvSpPr>
        <p:spPr>
          <a:xfrm>
            <a:off x="419498" y="4379426"/>
            <a:ext cx="11368680" cy="11500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6B6B6B"/>
            </a:solidFill>
            <a:prstDash val="dash"/>
          </a:ln>
        </p:spPr>
      </p:sp>
      <p:sp>
        <p:nvSpPr>
          <p:cNvPr id="34" name="LaneLbl33"/>
          <p:cNvSpPr/>
          <p:nvPr/>
        </p:nvSpPr>
        <p:spPr>
          <a:xfrm>
            <a:off x="557200" y="4379426"/>
            <a:ext cx="111686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latin typeface="Calibri"/>
              </a:rPr>
              <a:t>Target Application (Disconnected System)</a:t>
            </a:r>
          </a:p>
        </p:txBody>
      </p:sp>
      <p:sp>
        <p:nvSpPr>
          <p:cNvPr id="35" name="EBox35"/>
          <p:cNvSpPr/>
          <p:nvPr/>
        </p:nvSpPr>
        <p:spPr>
          <a:xfrm>
            <a:off x="4541540" y="4469426"/>
            <a:ext cx="3200000" cy="85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6" name="EBT35"/>
          <p:cNvSpPr/>
          <p:nvPr/>
        </p:nvSpPr>
        <p:spPr>
          <a:xfrm>
            <a:off x="4621540" y="4622426"/>
            <a:ext cx="304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latin typeface="Calibri"/>
              </a:rPr>
              <a:t>Target Application</a:t>
            </a:r>
          </a:p>
        </p:txBody>
      </p:sp>
      <p:sp>
        <p:nvSpPr>
          <p:cNvPr id="37" name="EBS35"/>
          <p:cNvSpPr/>
          <p:nvPr/>
        </p:nvSpPr>
        <p:spPr>
          <a:xfrm>
            <a:off x="4621540" y="4911426"/>
            <a:ext cx="3040000" cy="365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0" i="1" dirty="0">
                <a:latin typeface="Calibri"/>
              </a:rPr>
              <a:t>End destination · no live API · consumes file / MQ feed</a:t>
            </a:r>
          </a:p>
        </p:txBody>
      </p:sp>
      <p:sp>
        <p:nvSpPr>
          <p:cNvPr id="38" name="VA38"/>
          <p:cNvSpPr/>
          <p:nvPr/>
        </p:nvSpPr>
        <p:spPr>
          <a:xfrm>
            <a:off x="5994899" y="4169425"/>
            <a:ext cx="0" cy="3000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9" name="VAL38"/>
          <p:cNvSpPr/>
          <p:nvPr/>
        </p:nvSpPr>
        <p:spPr>
          <a:xfrm>
            <a:off x="9985880" y="4191145"/>
            <a:ext cx="14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1" dirty="0">
                <a:latin typeface="Calibri"/>
              </a:rPr>
              <a:t>file / MQ delivery</a:t>
            </a:r>
          </a:p>
        </p:txBody>
      </p:sp>
      <p:sp>
        <p:nvSpPr>
          <p:cNvPr id="40" name="Legend"/>
          <p:cNvSpPr/>
          <p:nvPr/>
        </p:nvSpPr>
        <p:spPr>
          <a:xfrm>
            <a:off x="457200" y="6059426"/>
            <a:ext cx="113686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0" i="1" dirty="0">
                <a:latin typeface="Calibri"/>
              </a:rPr>
              <a:t>Internal component = red border  ·  External system = grey fill  ·  Red arrow = request/call  ·  Dashed zone = platform boundary</a:t>
            </a:r>
          </a:p>
        </p:txBody>
      </p:sp>
      <p:sp>
        <p:nvSpPr>
          <p:cNvPr id="41" name="S129">
            <a:extLst>
              <a:ext uri="{FF2B5EF4-FFF2-40B4-BE49-F238E27FC236}">
                <a16:creationId xmlns:a16="http://schemas.microsoft.com/office/drawing/2014/main" id="{4158B59E-D093-4CA4-A9DE-CE1D0AF00CFD}"/>
              </a:ext>
            </a:extLst>
          </p:cNvPr>
          <p:cNvSpPr/>
          <p:nvPr/>
        </p:nvSpPr>
        <p:spPr>
          <a:xfrm flipV="1">
            <a:off x="3757200" y="3635154"/>
            <a:ext cx="4757602" cy="6406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339</Words>
  <Application>Microsoft Office PowerPoint</Application>
  <PresentationFormat>Widescreen</PresentationFormat>
  <Paragraphs>47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Document — Diagram Standards, Templates &amp; Examples</dc:title>
  <dc:subject>PptxGenJS Presentation</dc:subject>
  <dc:creator>PptxGenJS</dc:creator>
  <cp:lastModifiedBy>Nisheeth Bhardwaj</cp:lastModifiedBy>
  <cp:revision>8</cp:revision>
  <dcterms:created xsi:type="dcterms:W3CDTF">2026-06-29T03:03:15Z</dcterms:created>
  <dcterms:modified xsi:type="dcterms:W3CDTF">2026-07-09T09:10:51Z</dcterms:modified>
</cp:coreProperties>
</file>