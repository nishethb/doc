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dmin Operation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101"/>
          <p:cNvSpPr/>
          <p:nvPr/>
        </p:nvSpPr>
        <p:spPr>
          <a:xfrm>
            <a:off x="457200" y="274320"/>
            <a:ext cx="11368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i="0" dirty="0">
                <a:solidFill>
                  <a:srgbClr val="7A1322"/>
                </a:solidFill>
                <a:latin typeface="Calibri"/>
              </a:rPr>
              <a:t>Block Diagram — Admin Operations</a:t>
            </a:r>
          </a:p>
        </p:txBody>
      </p:sp>
      <p:sp>
        <p:nvSpPr>
          <p:cNvPr id="102" name="T102"/>
          <p:cNvSpPr/>
          <p:nvPr/>
        </p:nvSpPr>
        <p:spPr>
          <a:xfrm>
            <a:off x="457200" y="786384"/>
            <a:ext cx="113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0" i="1" dirty="0">
                <a:solidFill>
                  <a:srgbClr val="6B6B6B"/>
                </a:solidFill>
                <a:latin typeface="Calibri"/>
              </a:rPr>
              <a:t>Covers: Admin User Mgmt  ·  Admin Enrollment  ·  Admin Lock/Unlock  ·  Admin MFA Mgmt  ·  Bank Admin Customer Profile  ·  Copy-Clone User</a:t>
            </a:r>
          </a:p>
        </p:txBody>
      </p:sp>
      <p:sp>
        <p:nvSpPr>
          <p:cNvPr id="103" name="S103"/>
          <p:cNvSpPr/>
          <p:nvPr/>
        </p:nvSpPr>
        <p:spPr>
          <a:xfrm>
            <a:off x="457200" y="1060000"/>
            <a:ext cx="4774845" cy="5530000"/>
          </a:xfrm>
          <a:prstGeom prst="roundRect">
            <a:avLst>
              <a:gd name="adj" fmla="val 3000"/>
            </a:avLst>
          </a:prstGeom>
          <a:solidFill>
            <a:srgbClr val="FBF1F2"/>
          </a:solidFill>
          <a:ln w="12700">
            <a:solidFill>
              <a:srgbClr val="262626"/>
            </a:solidFill>
            <a:prstDash val="dash"/>
          </a:ln>
        </p:spPr>
      </p:sp>
      <p:sp>
        <p:nvSpPr>
          <p:cNvPr id="104" name="T104"/>
          <p:cNvSpPr/>
          <p:nvPr/>
        </p:nvSpPr>
        <p:spPr>
          <a:xfrm>
            <a:off x="557200" y="1110000"/>
            <a:ext cx="4594845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A6192E"/>
                </a:solidFill>
                <a:latin typeface="Calibri"/>
              </a:rPr>
              <a:t>UAP</a:t>
            </a:r>
          </a:p>
        </p:txBody>
      </p:sp>
      <p:sp>
        <p:nvSpPr>
          <p:cNvPr id="105" name="S105"/>
          <p:cNvSpPr/>
          <p:nvPr/>
        </p:nvSpPr>
        <p:spPr>
          <a:xfrm>
            <a:off x="607200" y="1355000"/>
            <a:ext cx="4474845" cy="53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262626"/>
            </a:solidFill>
            <a:prstDash val="solid"/>
          </a:ln>
        </p:spPr>
      </p:sp>
      <p:sp>
        <p:nvSpPr>
          <p:cNvPr id="106" name="T106"/>
          <p:cNvSpPr/>
          <p:nvPr/>
        </p:nvSpPr>
        <p:spPr>
          <a:xfrm>
            <a:off x="682200" y="1418600"/>
            <a:ext cx="4324845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i="0" dirty="0">
                <a:solidFill>
                  <a:srgbClr val="7A1322"/>
                </a:solidFill>
                <a:latin typeface="Calibri"/>
              </a:rPr>
              <a:t>UAP Admin Portal</a:t>
            </a:r>
          </a:p>
        </p:txBody>
      </p:sp>
      <p:sp>
        <p:nvSpPr>
          <p:cNvPr id="107" name="ML107"/>
          <p:cNvSpPr/>
          <p:nvPr/>
        </p:nvSpPr>
        <p:spPr>
          <a:xfrm>
            <a:off x="682200" y="1672600"/>
            <a:ext cx="4324845" cy="18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70" b="0" i="1" dirty="0">
                <a:solidFill>
                  <a:srgbClr val="6B6B6B"/>
                </a:solidFill>
                <a:latin typeface="Calibri"/>
              </a:rPr>
              <a:t>Admin entry point</a:t>
            </a:r>
          </a:p>
          <a:p>
            <a:pPr algn="ctr" indent="0" marL="0">
              <a:buNone/>
            </a:pPr>
            <a:r>
              <a:rPr lang="en-US" sz="870" b="0" i="1" dirty="0">
                <a:solidFill>
                  <a:srgbClr val="6B6B6B"/>
                </a:solidFill>
                <a:latin typeface="Calibri"/>
              </a:rPr>
              <a:t>Initiates all admin operations</a:t>
            </a:r>
          </a:p>
        </p:txBody>
      </p:sp>
      <p:sp>
        <p:nvSpPr>
          <p:cNvPr id="108" name="S108"/>
          <p:cNvSpPr/>
          <p:nvPr/>
        </p:nvSpPr>
        <p:spPr>
          <a:xfrm>
            <a:off x="572200" y="2065000"/>
            <a:ext cx="4544845" cy="4445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262626"/>
            </a:solidFill>
            <a:prstDash val="dash"/>
          </a:ln>
        </p:spPr>
      </p:sp>
      <p:sp>
        <p:nvSpPr>
          <p:cNvPr id="109" name="T109"/>
          <p:cNvSpPr/>
          <p:nvPr/>
        </p:nvSpPr>
        <p:spPr>
          <a:xfrm>
            <a:off x="662200" y="2110000"/>
            <a:ext cx="4384845" cy="19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i="1" dirty="0">
                <a:solidFill>
                  <a:srgbClr val="A6192E"/>
                </a:solidFill>
                <a:latin typeface="Calibri"/>
              </a:rPr>
              <a:t>Admin Operation Capabilities</a:t>
            </a:r>
          </a:p>
        </p:txBody>
      </p:sp>
      <p:sp>
        <p:nvSpPr>
          <p:cNvPr id="110" name="S110"/>
          <p:cNvSpPr/>
          <p:nvPr/>
        </p:nvSpPr>
        <p:spPr>
          <a:xfrm>
            <a:off x="657200" y="2310000"/>
            <a:ext cx="1398281" cy="205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262626"/>
            </a:solidFill>
            <a:prstDash val="solid"/>
          </a:ln>
        </p:spPr>
      </p:sp>
      <p:sp>
        <p:nvSpPr>
          <p:cNvPr id="111" name="T111"/>
          <p:cNvSpPr/>
          <p:nvPr/>
        </p:nvSpPr>
        <p:spPr>
          <a:xfrm>
            <a:off x="732200" y="2556000"/>
            <a:ext cx="1248281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i="0" dirty="0">
                <a:solidFill>
                  <a:srgbClr val="7A1322"/>
                </a:solidFill>
                <a:latin typeface="Calibri"/>
              </a:rPr>
              <a:t>Admin User Mgmt</a:t>
            </a:r>
          </a:p>
        </p:txBody>
      </p:sp>
      <p:sp>
        <p:nvSpPr>
          <p:cNvPr id="112" name="ML112"/>
          <p:cNvSpPr/>
          <p:nvPr/>
        </p:nvSpPr>
        <p:spPr>
          <a:xfrm>
            <a:off x="732200" y="2810000"/>
            <a:ext cx="1248281" cy="152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70" b="0" i="1" dirty="0">
                <a:solidFill>
                  <a:srgbClr val="6B6B6B"/>
                </a:solidFill>
                <a:latin typeface="Calibri"/>
              </a:rPr>
              <a:t>CRUD users / roles</a:t>
            </a:r>
          </a:p>
          <a:p>
            <a:pPr algn="ctr" indent="0" marL="0">
              <a:buNone/>
            </a:pPr>
            <a:r>
              <a:rPr lang="en-US" sz="870" b="0" i="1" dirty="0">
                <a:solidFill>
                  <a:srgbClr val="6B6B6B"/>
                </a:solidFill>
                <a:latin typeface="Calibri"/>
              </a:rPr>
              <a:t>View / edit profile</a:t>
            </a:r>
          </a:p>
          <a:p>
            <a:pPr algn="ctr" indent="0" marL="0">
              <a:buNone/>
            </a:pPr>
            <a:r>
              <a:rPr lang="en-US" sz="870" b="0" i="1" dirty="0">
                <a:solidFill>
                  <a:srgbClr val="6B6B6B"/>
                </a:solidFill>
                <a:latin typeface="Calibri"/>
              </a:rPr>
              <a:t>Search / enable / restore</a:t>
            </a:r>
          </a:p>
          <a:p>
            <a:pPr algn="ctr" indent="0" marL="0">
              <a:buNone/>
            </a:pPr>
            <a:r>
              <a:rPr lang="en-US" sz="870" b="0" i="1" dirty="0">
                <a:solidFill>
                  <a:srgbClr val="6B6B6B"/>
                </a:solidFill>
                <a:latin typeface="Calibri"/>
              </a:rPr>
              <a:t>Profile attribute management</a:t>
            </a:r>
          </a:p>
        </p:txBody>
      </p:sp>
      <p:sp>
        <p:nvSpPr>
          <p:cNvPr id="113" name="S113"/>
          <p:cNvSpPr/>
          <p:nvPr/>
        </p:nvSpPr>
        <p:spPr>
          <a:xfrm>
            <a:off x="2145481" y="2310000"/>
            <a:ext cx="1398281" cy="205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262626"/>
            </a:solidFill>
            <a:prstDash val="solid"/>
          </a:ln>
        </p:spPr>
      </p:sp>
      <p:sp>
        <p:nvSpPr>
          <p:cNvPr id="114" name="T114"/>
          <p:cNvSpPr/>
          <p:nvPr/>
        </p:nvSpPr>
        <p:spPr>
          <a:xfrm>
            <a:off x="2220481" y="2556000"/>
            <a:ext cx="1248281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i="0" dirty="0">
                <a:solidFill>
                  <a:srgbClr val="7A1322"/>
                </a:solidFill>
                <a:latin typeface="Calibri"/>
              </a:rPr>
              <a:t>Admin Lock / Unlock</a:t>
            </a:r>
          </a:p>
        </p:txBody>
      </p:sp>
      <p:sp>
        <p:nvSpPr>
          <p:cNvPr id="115" name="ML115"/>
          <p:cNvSpPr/>
          <p:nvPr/>
        </p:nvSpPr>
        <p:spPr>
          <a:xfrm>
            <a:off x="2220481" y="2810000"/>
            <a:ext cx="1248281" cy="152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70" b="0" i="1" dirty="0">
                <a:solidFill>
                  <a:srgbClr val="6B6B6B"/>
                </a:solidFill>
                <a:latin typeface="Calibri"/>
              </a:rPr>
              <a:t>Lock / unlock user accounts</a:t>
            </a:r>
          </a:p>
          <a:p>
            <a:pPr algn="ctr" indent="0" marL="0">
              <a:buNone/>
            </a:pPr>
            <a:r>
              <a:rPr lang="en-US" sz="870" b="0" i="1" dirty="0">
                <a:solidFill>
                  <a:srgbClr val="6B6B6B"/>
                </a:solidFill>
                <a:latin typeface="Calibri"/>
              </a:rPr>
              <a:t>Fraud lock detection</a:t>
            </a:r>
          </a:p>
          <a:p>
            <a:pPr algn="ctr" indent="0" marL="0">
              <a:buNone/>
            </a:pPr>
            <a:r>
              <a:rPr lang="en-US" sz="870" b="0" i="1" dirty="0">
                <a:solidFill>
                  <a:srgbClr val="6B6B6B"/>
                </a:solidFill>
                <a:latin typeface="Calibri"/>
              </a:rPr>
              <a:t>PIN reset</a:t>
            </a:r>
          </a:p>
          <a:p>
            <a:pPr algn="ctr" indent="0" marL="0">
              <a:buNone/>
            </a:pPr>
            <a:r>
              <a:rPr lang="en-US" sz="870" b="0" i="1" dirty="0">
                <a:solidFill>
                  <a:srgbClr val="6B6B6B"/>
                </a:solidFill>
                <a:latin typeface="Calibri"/>
              </a:rPr>
              <a:t>Lock reason tracking</a:t>
            </a:r>
          </a:p>
        </p:txBody>
      </p:sp>
      <p:sp>
        <p:nvSpPr>
          <p:cNvPr id="116" name="S116"/>
          <p:cNvSpPr/>
          <p:nvPr/>
        </p:nvSpPr>
        <p:spPr>
          <a:xfrm>
            <a:off x="3633762" y="2310000"/>
            <a:ext cx="1398281" cy="205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262626"/>
            </a:solidFill>
            <a:prstDash val="solid"/>
          </a:ln>
        </p:spPr>
      </p:sp>
      <p:sp>
        <p:nvSpPr>
          <p:cNvPr id="117" name="T117"/>
          <p:cNvSpPr/>
          <p:nvPr/>
        </p:nvSpPr>
        <p:spPr>
          <a:xfrm>
            <a:off x="3708762" y="2556000"/>
            <a:ext cx="1248281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i="0" dirty="0">
                <a:solidFill>
                  <a:srgbClr val="7A1322"/>
                </a:solidFill>
                <a:latin typeface="Calibri"/>
              </a:rPr>
              <a:t>Admin MFA Mgmt</a:t>
            </a:r>
          </a:p>
        </p:txBody>
      </p:sp>
      <p:sp>
        <p:nvSpPr>
          <p:cNvPr id="118" name="ML118"/>
          <p:cNvSpPr/>
          <p:nvPr/>
        </p:nvSpPr>
        <p:spPr>
          <a:xfrm>
            <a:off x="3708762" y="2810000"/>
            <a:ext cx="1248281" cy="152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70" b="0" i="1" dirty="0">
                <a:solidFill>
                  <a:srgbClr val="6B6B6B"/>
                </a:solidFill>
                <a:latin typeface="Calibri"/>
              </a:rPr>
              <a:t>Manage customer MFA</a:t>
            </a:r>
          </a:p>
          <a:p>
            <a:pPr algn="ctr" indent="0" marL="0">
              <a:buNone/>
            </a:pPr>
            <a:r>
              <a:rPr lang="en-US" sz="870" b="0" i="1" dirty="0">
                <a:solidFill>
                  <a:srgbClr val="6B6B6B"/>
                </a:solidFill>
                <a:latin typeface="Calibri"/>
              </a:rPr>
              <a:t>Override user MFA methods</a:t>
            </a:r>
          </a:p>
          <a:p>
            <a:pPr algn="ctr" indent="0" marL="0">
              <a:buNone/>
            </a:pPr>
            <a:r>
              <a:rPr lang="en-US" sz="870" b="0" i="1" dirty="0">
                <a:solidFill>
                  <a:srgbClr val="6B6B6B"/>
                </a:solidFill>
                <a:latin typeface="Calibri"/>
              </a:rPr>
              <a:t>MFA device management</a:t>
            </a:r>
          </a:p>
        </p:txBody>
      </p:sp>
      <p:sp>
        <p:nvSpPr>
          <p:cNvPr id="119" name="S119"/>
          <p:cNvSpPr/>
          <p:nvPr/>
        </p:nvSpPr>
        <p:spPr>
          <a:xfrm>
            <a:off x="657200" y="4450000"/>
            <a:ext cx="1398281" cy="205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262626"/>
            </a:solidFill>
            <a:prstDash val="solid"/>
          </a:ln>
        </p:spPr>
      </p:sp>
      <p:sp>
        <p:nvSpPr>
          <p:cNvPr id="120" name="T120"/>
          <p:cNvSpPr/>
          <p:nvPr/>
        </p:nvSpPr>
        <p:spPr>
          <a:xfrm>
            <a:off x="732200" y="4696000"/>
            <a:ext cx="1248281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i="0" dirty="0">
                <a:solidFill>
                  <a:srgbClr val="7A1322"/>
                </a:solidFill>
                <a:latin typeface="Calibri"/>
              </a:rPr>
              <a:t>Bank Admin
Customer Profile</a:t>
            </a:r>
          </a:p>
        </p:txBody>
      </p:sp>
      <p:sp>
        <p:nvSpPr>
          <p:cNvPr id="121" name="ML121"/>
          <p:cNvSpPr/>
          <p:nvPr/>
        </p:nvSpPr>
        <p:spPr>
          <a:xfrm>
            <a:off x="732200" y="4950000"/>
            <a:ext cx="1248281" cy="152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70" b="0" i="1" dirty="0">
                <a:solidFill>
                  <a:srgbClr val="6B6B6B"/>
                </a:solidFill>
                <a:latin typeface="Calibri"/>
              </a:rPr>
              <a:t>CRUD customer profiles</a:t>
            </a:r>
          </a:p>
          <a:p>
            <a:pPr algn="ctr" indent="0" marL="0">
              <a:buNone/>
            </a:pPr>
            <a:r>
              <a:rPr lang="en-US" sz="870" b="0" i="1" dirty="0">
                <a:solidFill>
                  <a:srgbClr val="6B6B6B"/>
                </a:solidFill>
                <a:latin typeface="Calibri"/>
              </a:rPr>
              <a:t>CDL pull on creation</a:t>
            </a:r>
          </a:p>
          <a:p>
            <a:pPr algn="ctr" indent="0" marL="0">
              <a:buNone/>
            </a:pPr>
            <a:r>
              <a:rPr lang="en-US" sz="870" b="0" i="1" dirty="0">
                <a:solidFill>
                  <a:srgbClr val="6B6B6B"/>
                </a:solidFill>
                <a:latin typeface="Calibri"/>
              </a:rPr>
              <a:t>Search customer records</a:t>
            </a:r>
          </a:p>
          <a:p>
            <a:pPr algn="ctr" indent="0" marL="0">
              <a:buNone/>
            </a:pPr>
            <a:r>
              <a:rPr lang="en-US" sz="870" b="0" i="1" dirty="0">
                <a:solidFill>
                  <a:srgbClr val="6B6B6B"/>
                </a:solidFill>
                <a:latin typeface="Calibri"/>
              </a:rPr>
              <a:t>Profile update &amp; audit</a:t>
            </a:r>
          </a:p>
        </p:txBody>
      </p:sp>
      <p:sp>
        <p:nvSpPr>
          <p:cNvPr id="122" name="S122"/>
          <p:cNvSpPr/>
          <p:nvPr/>
        </p:nvSpPr>
        <p:spPr>
          <a:xfrm>
            <a:off x="2145481" y="4450000"/>
            <a:ext cx="1398281" cy="205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262626"/>
            </a:solidFill>
            <a:prstDash val="solid"/>
          </a:ln>
        </p:spPr>
      </p:sp>
      <p:sp>
        <p:nvSpPr>
          <p:cNvPr id="123" name="T123"/>
          <p:cNvSpPr/>
          <p:nvPr/>
        </p:nvSpPr>
        <p:spPr>
          <a:xfrm>
            <a:off x="2220481" y="4696000"/>
            <a:ext cx="1248281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i="0" dirty="0">
                <a:solidFill>
                  <a:srgbClr val="7A1322"/>
                </a:solidFill>
                <a:latin typeface="Calibri"/>
              </a:rPr>
              <a:t>Admin Enrollment</a:t>
            </a:r>
          </a:p>
        </p:txBody>
      </p:sp>
      <p:sp>
        <p:nvSpPr>
          <p:cNvPr id="124" name="ML124"/>
          <p:cNvSpPr/>
          <p:nvPr/>
        </p:nvSpPr>
        <p:spPr>
          <a:xfrm>
            <a:off x="2220481" y="4950000"/>
            <a:ext cx="1248281" cy="152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70" b="0" i="1" dirty="0">
                <a:solidFill>
                  <a:srgbClr val="6B6B6B"/>
                </a:solidFill>
                <a:latin typeface="Calibri"/>
              </a:rPr>
              <a:t>Enrol user authenticators</a:t>
            </a:r>
          </a:p>
          <a:p>
            <a:pPr algn="ctr" indent="0" marL="0">
              <a:buNone/>
            </a:pPr>
            <a:r>
              <a:rPr lang="en-US" sz="870" b="0" i="1" dirty="0">
                <a:solidFill>
                  <a:srgbClr val="6B6B6B"/>
                </a:solidFill>
                <a:latin typeface="Calibri"/>
              </a:rPr>
              <a:t>Delegated registration</a:t>
            </a:r>
          </a:p>
          <a:p>
            <a:pPr algn="ctr" indent="0" marL="0">
              <a:buNone/>
            </a:pPr>
            <a:r>
              <a:rPr lang="en-US" sz="870" b="0" i="1" dirty="0">
                <a:solidFill>
                  <a:srgbClr val="6B6B6B"/>
                </a:solidFill>
                <a:latin typeface="Calibri"/>
              </a:rPr>
              <a:t>Device binding management</a:t>
            </a:r>
          </a:p>
        </p:txBody>
      </p:sp>
      <p:sp>
        <p:nvSpPr>
          <p:cNvPr id="125" name="S125"/>
          <p:cNvSpPr/>
          <p:nvPr/>
        </p:nvSpPr>
        <p:spPr>
          <a:xfrm>
            <a:off x="3633762" y="4450000"/>
            <a:ext cx="1398281" cy="205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262626"/>
            </a:solidFill>
            <a:prstDash val="solid"/>
          </a:ln>
        </p:spPr>
      </p:sp>
      <p:sp>
        <p:nvSpPr>
          <p:cNvPr id="126" name="T126"/>
          <p:cNvSpPr/>
          <p:nvPr/>
        </p:nvSpPr>
        <p:spPr>
          <a:xfrm>
            <a:off x="3708762" y="4696000"/>
            <a:ext cx="1248281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i="0" dirty="0">
                <a:solidFill>
                  <a:srgbClr val="7A1322"/>
                </a:solidFill>
                <a:latin typeface="Calibri"/>
              </a:rPr>
              <a:t>Copy-Clone User</a:t>
            </a:r>
          </a:p>
        </p:txBody>
      </p:sp>
      <p:sp>
        <p:nvSpPr>
          <p:cNvPr id="127" name="ML127"/>
          <p:cNvSpPr/>
          <p:nvPr/>
        </p:nvSpPr>
        <p:spPr>
          <a:xfrm>
            <a:off x="3708762" y="4950000"/>
            <a:ext cx="1248281" cy="152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70" b="0" i="1" dirty="0">
                <a:solidFill>
                  <a:srgbClr val="6B6B6B"/>
                </a:solidFill>
                <a:latin typeface="Calibri"/>
              </a:rPr>
              <a:t>Clone existing user profile</a:t>
            </a:r>
          </a:p>
          <a:p>
            <a:pPr algn="ctr" indent="0" marL="0">
              <a:buNone/>
            </a:pPr>
            <a:r>
              <a:rPr lang="en-US" sz="870" b="0" i="1" dirty="0">
                <a:solidFill>
                  <a:srgbClr val="6B6B6B"/>
                </a:solidFill>
                <a:latin typeface="Calibri"/>
              </a:rPr>
              <a:t>Create new user from template</a:t>
            </a:r>
          </a:p>
          <a:p>
            <a:pPr algn="ctr" indent="0" marL="0">
              <a:buNone/>
            </a:pPr>
            <a:r>
              <a:rPr lang="en-US" sz="870" b="0" i="1" dirty="0">
                <a:solidFill>
                  <a:srgbClr val="6B6B6B"/>
                </a:solidFill>
                <a:latin typeface="Calibri"/>
              </a:rPr>
              <a:t>Entitlement inheritance</a:t>
            </a:r>
          </a:p>
        </p:txBody>
      </p:sp>
      <p:sp>
        <p:nvSpPr>
          <p:cNvPr id="128" name="S128"/>
          <p:cNvSpPr/>
          <p:nvPr/>
        </p:nvSpPr>
        <p:spPr>
          <a:xfrm>
            <a:off x="2844622" y="1895000"/>
            <a:ext cx="0" cy="160000"/>
          </a:xfrm>
          <a:prstGeom prst="line">
            <a:avLst/>
          </a:prstGeom>
          <a:noFill/>
          <a:ln w="19050">
            <a:solidFill>
              <a:srgbClr val="262626"/>
            </a:solidFill>
            <a:prstDash val="solid"/>
            <a:headEnd type="none"/>
            <a:tailEnd type="triangle"/>
          </a:ln>
        </p:spPr>
      </p:sp>
      <p:sp>
        <p:nvSpPr>
          <p:cNvPr id="129" name="T129"/>
          <p:cNvSpPr/>
          <p:nvPr/>
        </p:nvSpPr>
        <p:spPr>
          <a:xfrm>
            <a:off x="2894622" y="1890000"/>
            <a:ext cx="1200000" cy="17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0" i="1" dirty="0">
                <a:solidFill>
                  <a:srgbClr val="6B6B6B"/>
                </a:solidFill>
                <a:latin typeface="Calibri"/>
              </a:rPr>
              <a:t>Executes admin journey</a:t>
            </a:r>
          </a:p>
        </p:txBody>
      </p:sp>
      <p:sp>
        <p:nvSpPr>
          <p:cNvPr id="130" name="S130"/>
          <p:cNvSpPr/>
          <p:nvPr/>
        </p:nvSpPr>
        <p:spPr>
          <a:xfrm>
            <a:off x="5092045" y="1620000"/>
            <a:ext cx="452880" cy="0"/>
          </a:xfrm>
          <a:prstGeom prst="line">
            <a:avLst/>
          </a:prstGeom>
          <a:noFill/>
          <a:ln w="19050">
            <a:solidFill>
              <a:srgbClr val="262626"/>
            </a:solidFill>
            <a:prstDash val="solid"/>
            <a:headEnd type="none"/>
            <a:tailEnd type="triangle"/>
          </a:ln>
        </p:spPr>
      </p:sp>
      <p:sp>
        <p:nvSpPr>
          <p:cNvPr id="131" name="T131"/>
          <p:cNvSpPr/>
          <p:nvPr/>
        </p:nvSpPr>
        <p:spPr>
          <a:xfrm>
            <a:off x="5062045" y="1435000"/>
            <a:ext cx="512880" cy="17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0" i="1" dirty="0">
                <a:solidFill>
                  <a:srgbClr val="6B6B6B"/>
                </a:solidFill>
                <a:latin typeface="Calibri"/>
              </a:rPr>
              <a:t>OIDC</a:t>
            </a:r>
          </a:p>
        </p:txBody>
      </p:sp>
      <p:sp>
        <p:nvSpPr>
          <p:cNvPr id="132" name="S132"/>
          <p:cNvSpPr/>
          <p:nvPr/>
        </p:nvSpPr>
        <p:spPr>
          <a:xfrm>
            <a:off x="5092045" y="1720000"/>
            <a:ext cx="452880" cy="0"/>
          </a:xfrm>
          <a:prstGeom prst="line">
            <a:avLst/>
          </a:prstGeom>
          <a:noFill/>
          <a:ln w="19050">
            <a:solidFill>
              <a:srgbClr val="262626"/>
            </a:solidFill>
            <a:prstDash val="dash"/>
            <a:headEnd type="triangle"/>
            <a:tailEnd type="none"/>
          </a:ln>
        </p:spPr>
      </p:sp>
      <p:sp>
        <p:nvSpPr>
          <p:cNvPr id="133" name="T133"/>
          <p:cNvSpPr/>
          <p:nvPr/>
        </p:nvSpPr>
        <p:spPr>
          <a:xfrm>
            <a:off x="5062045" y="1742000"/>
            <a:ext cx="512880" cy="17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0" i="1" dirty="0">
                <a:solidFill>
                  <a:srgbClr val="6B6B6B"/>
                </a:solidFill>
                <a:latin typeface="Calibri"/>
              </a:rPr>
              <a:t>response</a:t>
            </a:r>
          </a:p>
        </p:txBody>
      </p:sp>
      <p:sp>
        <p:nvSpPr>
          <p:cNvPr id="134" name="S134"/>
          <p:cNvSpPr/>
          <p:nvPr/>
        </p:nvSpPr>
        <p:spPr>
          <a:xfrm>
            <a:off x="5127045" y="4227500"/>
            <a:ext cx="417880" cy="0"/>
          </a:xfrm>
          <a:prstGeom prst="line">
            <a:avLst/>
          </a:prstGeom>
          <a:noFill/>
          <a:ln w="19050">
            <a:solidFill>
              <a:srgbClr val="262626"/>
            </a:solidFill>
            <a:prstDash val="solid"/>
            <a:headEnd type="none"/>
            <a:tailEnd type="triangle"/>
          </a:ln>
        </p:spPr>
      </p:sp>
      <p:sp>
        <p:nvSpPr>
          <p:cNvPr id="135" name="T135"/>
          <p:cNvSpPr/>
          <p:nvPr/>
        </p:nvSpPr>
        <p:spPr>
          <a:xfrm>
            <a:off x="5085985" y="4042500"/>
            <a:ext cx="500000" cy="17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0" i="1" dirty="0">
                <a:solidFill>
                  <a:srgbClr val="6B6B6B"/>
                </a:solidFill>
                <a:latin typeface="Calibri"/>
              </a:rPr>
              <a:t>admin ops call</a:t>
            </a:r>
          </a:p>
        </p:txBody>
      </p:sp>
      <p:sp>
        <p:nvSpPr>
          <p:cNvPr id="136" name="S136"/>
          <p:cNvSpPr/>
          <p:nvPr/>
        </p:nvSpPr>
        <p:spPr>
          <a:xfrm>
            <a:off x="5127045" y="4347500"/>
            <a:ext cx="417880" cy="0"/>
          </a:xfrm>
          <a:prstGeom prst="line">
            <a:avLst/>
          </a:prstGeom>
          <a:noFill/>
          <a:ln w="19050">
            <a:solidFill>
              <a:srgbClr val="262626"/>
            </a:solidFill>
            <a:prstDash val="dash"/>
            <a:headEnd type="triangle"/>
            <a:tailEnd type="none"/>
          </a:ln>
        </p:spPr>
      </p:sp>
      <p:sp>
        <p:nvSpPr>
          <p:cNvPr id="137" name="T137"/>
          <p:cNvSpPr/>
          <p:nvPr/>
        </p:nvSpPr>
        <p:spPr>
          <a:xfrm>
            <a:off x="5085985" y="4369500"/>
            <a:ext cx="500000" cy="17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0" i="1" dirty="0">
                <a:solidFill>
                  <a:srgbClr val="6B6B6B"/>
                </a:solidFill>
                <a:latin typeface="Calibri"/>
              </a:rPr>
              <a:t>result</a:t>
            </a:r>
          </a:p>
        </p:txBody>
      </p:sp>
      <p:sp>
        <p:nvSpPr>
          <p:cNvPr id="138" name="S138"/>
          <p:cNvSpPr/>
          <p:nvPr/>
        </p:nvSpPr>
        <p:spPr>
          <a:xfrm>
            <a:off x="5414925" y="1060000"/>
            <a:ext cx="3183230" cy="5530000"/>
          </a:xfrm>
          <a:prstGeom prst="roundRect">
            <a:avLst>
              <a:gd name="adj" fmla="val 3000"/>
            </a:avLst>
          </a:prstGeom>
          <a:solidFill>
            <a:srgbClr val="FBF1F2"/>
          </a:solidFill>
          <a:ln w="12700">
            <a:solidFill>
              <a:srgbClr val="262626"/>
            </a:solidFill>
            <a:prstDash val="dash"/>
          </a:ln>
        </p:spPr>
      </p:sp>
      <p:sp>
        <p:nvSpPr>
          <p:cNvPr id="139" name="T139"/>
          <p:cNvSpPr/>
          <p:nvPr/>
        </p:nvSpPr>
        <p:spPr>
          <a:xfrm>
            <a:off x="5514925" y="1110000"/>
            <a:ext cx="300323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A6192E"/>
                </a:solidFill>
                <a:latin typeface="Calibri"/>
              </a:rPr>
              <a:t>CIA</a:t>
            </a:r>
          </a:p>
        </p:txBody>
      </p:sp>
      <p:sp>
        <p:nvSpPr>
          <p:cNvPr id="140" name="S140"/>
          <p:cNvSpPr/>
          <p:nvPr/>
        </p:nvSpPr>
        <p:spPr>
          <a:xfrm>
            <a:off x="5544925" y="1355000"/>
            <a:ext cx="2923230" cy="2832500"/>
          </a:xfrm>
          <a:prstGeom prst="roundRect">
            <a:avLst>
              <a:gd name="adj" fmla="val 3000"/>
            </a:avLst>
          </a:prstGeom>
          <a:solidFill>
            <a:srgbClr val="EEF4FB"/>
          </a:solidFill>
          <a:ln w="9525">
            <a:solidFill>
              <a:srgbClr val="2C5F8A"/>
            </a:solidFill>
            <a:prstDash val="dash"/>
          </a:ln>
        </p:spPr>
      </p:sp>
      <p:sp>
        <p:nvSpPr>
          <p:cNvPr id="141" name="T141"/>
          <p:cNvSpPr/>
          <p:nvPr/>
        </p:nvSpPr>
        <p:spPr>
          <a:xfrm>
            <a:off x="5634925" y="1400000"/>
            <a:ext cx="2763230" cy="19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i="1" dirty="0">
                <a:solidFill>
                  <a:srgbClr val="2C5F8A"/>
                </a:solidFill>
                <a:latin typeface="Calibri"/>
              </a:rPr>
              <a:t>SaaS</a:t>
            </a:r>
          </a:p>
        </p:txBody>
      </p:sp>
      <p:sp>
        <p:nvSpPr>
          <p:cNvPr id="142" name="S142"/>
          <p:cNvSpPr/>
          <p:nvPr/>
        </p:nvSpPr>
        <p:spPr>
          <a:xfrm>
            <a:off x="5634925" y="1600000"/>
            <a:ext cx="2743230" cy="25725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262626"/>
            </a:solidFill>
            <a:prstDash val="solid"/>
          </a:ln>
        </p:spPr>
      </p:sp>
      <p:sp>
        <p:nvSpPr>
          <p:cNvPr id="143" name="T143"/>
          <p:cNvSpPr/>
          <p:nvPr/>
        </p:nvSpPr>
        <p:spPr>
          <a:xfrm>
            <a:off x="5709925" y="1908700"/>
            <a:ext cx="259323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i="0" dirty="0">
                <a:solidFill>
                  <a:srgbClr val="7A1322"/>
                </a:solidFill>
                <a:latin typeface="Calibri"/>
              </a:rPr>
              <a:t>PingOne AIC</a:t>
            </a:r>
          </a:p>
        </p:txBody>
      </p:sp>
      <p:sp>
        <p:nvSpPr>
          <p:cNvPr id="144" name="ML144"/>
          <p:cNvSpPr/>
          <p:nvPr/>
        </p:nvSpPr>
        <p:spPr>
          <a:xfrm>
            <a:off x="5709925" y="2162700"/>
            <a:ext cx="2593230" cy="198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70" b="0" i="1" dirty="0">
                <a:solidFill>
                  <a:srgbClr val="6B6B6B"/>
                </a:solidFill>
                <a:latin typeface="Calibri"/>
              </a:rPr>
              <a:t>Admin journey engine</a:t>
            </a:r>
          </a:p>
          <a:p>
            <a:pPr algn="ctr" indent="0" marL="0">
              <a:buNone/>
            </a:pPr>
            <a:r>
              <a:rPr lang="en-US" sz="870" b="0" i="1" dirty="0">
                <a:solidFill>
                  <a:srgbClr val="6B6B6B"/>
                </a:solidFill>
                <a:latin typeface="Calibri"/>
              </a:rPr>
              <a:t>OIDC-authenticated sessions</a:t>
            </a:r>
          </a:p>
          <a:p>
            <a:pPr algn="ctr" indent="0" marL="0">
              <a:buNone/>
            </a:pPr>
            <a:r>
              <a:rPr lang="en-US" sz="870" b="0" i="1" dirty="0">
                <a:solidFill>
                  <a:srgbClr val="6B6B6B"/>
                </a:solidFill>
                <a:latin typeface="Calibri"/>
              </a:rPr>
              <a:t>Role-based access control</a:t>
            </a:r>
          </a:p>
          <a:p>
            <a:pPr algn="ctr" indent="0" marL="0">
              <a:buNone/>
            </a:pPr>
            <a:r>
              <a:rPr lang="en-US" sz="870" b="0" i="1" dirty="0">
                <a:solidFill>
                  <a:srgbClr val="6B6B6B"/>
                </a:solidFill>
                <a:latin typeface="Calibri"/>
              </a:rPr>
              <a:t>Dual-approval orchestration</a:t>
            </a:r>
          </a:p>
          <a:p>
            <a:pPr algn="ctr" indent="0" marL="0">
              <a:buNone/>
            </a:pPr>
            <a:r>
              <a:rPr lang="en-US" sz="870" b="0" i="1" dirty="0">
                <a:solidFill>
                  <a:srgbClr val="6B6B6B"/>
                </a:solidFill>
                <a:latin typeface="Calibri"/>
              </a:rPr>
              <a:t>Maker-Checker workflow</a:t>
            </a:r>
          </a:p>
          <a:p>
            <a:pPr algn="ctr" indent="0" marL="0">
              <a:buNone/>
            </a:pPr>
            <a:r>
              <a:rPr lang="en-US" sz="870" b="0" i="1" dirty="0">
                <a:solidFill>
                  <a:srgbClr val="6B6B6B"/>
                </a:solidFill>
                <a:latin typeface="Calibri"/>
              </a:rPr>
              <a:t>Audit event generation</a:t>
            </a:r>
          </a:p>
        </p:txBody>
      </p:sp>
      <p:sp>
        <p:nvSpPr>
          <p:cNvPr id="145" name="S145"/>
          <p:cNvSpPr/>
          <p:nvPr/>
        </p:nvSpPr>
        <p:spPr>
          <a:xfrm>
            <a:off x="5544925" y="4387500"/>
            <a:ext cx="2923230" cy="2117500"/>
          </a:xfrm>
          <a:prstGeom prst="roundRect">
            <a:avLst>
              <a:gd name="adj" fmla="val 3000"/>
            </a:avLst>
          </a:prstGeom>
          <a:solidFill>
            <a:srgbClr val="F0F7EE"/>
          </a:solidFill>
          <a:ln w="9525">
            <a:solidFill>
              <a:srgbClr val="3A6B35"/>
            </a:solidFill>
            <a:prstDash val="dash"/>
          </a:ln>
        </p:spPr>
      </p:sp>
      <p:sp>
        <p:nvSpPr>
          <p:cNvPr id="146" name="T146"/>
          <p:cNvSpPr/>
          <p:nvPr/>
        </p:nvSpPr>
        <p:spPr>
          <a:xfrm>
            <a:off x="5634925" y="4432500"/>
            <a:ext cx="2763230" cy="19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i="1" dirty="0">
                <a:solidFill>
                  <a:srgbClr val="3A6B35"/>
                </a:solidFill>
                <a:latin typeface="Calibri"/>
              </a:rPr>
              <a:t>On-prem</a:t>
            </a:r>
          </a:p>
        </p:txBody>
      </p:sp>
      <p:sp>
        <p:nvSpPr>
          <p:cNvPr id="147" name="S147"/>
          <p:cNvSpPr/>
          <p:nvPr/>
        </p:nvSpPr>
        <p:spPr>
          <a:xfrm>
            <a:off x="5634925" y="4632500"/>
            <a:ext cx="2743230" cy="18575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262626"/>
            </a:solidFill>
            <a:prstDash val="solid"/>
          </a:ln>
        </p:spPr>
      </p:sp>
      <p:sp>
        <p:nvSpPr>
          <p:cNvPr id="148" name="T148"/>
          <p:cNvSpPr/>
          <p:nvPr/>
        </p:nvSpPr>
        <p:spPr>
          <a:xfrm>
            <a:off x="5709925" y="4855400"/>
            <a:ext cx="259323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i="0" dirty="0">
                <a:solidFill>
                  <a:srgbClr val="7A1322"/>
                </a:solidFill>
                <a:latin typeface="Calibri"/>
              </a:rPr>
              <a:t>RCS</a:t>
            </a:r>
          </a:p>
        </p:txBody>
      </p:sp>
      <p:sp>
        <p:nvSpPr>
          <p:cNvPr id="149" name="ML149"/>
          <p:cNvSpPr/>
          <p:nvPr/>
        </p:nvSpPr>
        <p:spPr>
          <a:xfrm>
            <a:off x="5709925" y="5109400"/>
            <a:ext cx="2593230" cy="135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70" b="0" i="1" dirty="0">
                <a:solidFill>
                  <a:srgbClr val="6B6B6B"/>
                </a:solidFill>
                <a:latin typeface="Calibri"/>
              </a:rPr>
              <a:t>Remote Connector Server</a:t>
            </a:r>
          </a:p>
          <a:p>
            <a:pPr algn="ctr" indent="0" marL="0">
              <a:buNone/>
            </a:pPr>
            <a:r>
              <a:rPr lang="en-US" sz="870" b="0" i="1" dirty="0">
                <a:solidFill>
                  <a:srgbClr val="6B6B6B"/>
                </a:solidFill>
                <a:latin typeface="Calibri"/>
              </a:rPr>
              <a:t>Routes all connector traffic</a:t>
            </a:r>
          </a:p>
          <a:p>
            <a:pPr algn="ctr" indent="0" marL="0">
              <a:buNone/>
            </a:pPr>
            <a:r>
              <a:rPr lang="en-US" sz="870" b="0" i="1" dirty="0">
                <a:solidFill>
                  <a:srgbClr val="6B6B6B"/>
                </a:solidFill>
                <a:latin typeface="Calibri"/>
              </a:rPr>
              <a:t>OOTB &amp; custom connectors</a:t>
            </a:r>
          </a:p>
          <a:p>
            <a:pPr algn="ctr" indent="0" marL="0">
              <a:buNone/>
            </a:pPr>
            <a:r>
              <a:rPr lang="en-US" sz="870" b="0" i="1" dirty="0">
                <a:solidFill>
                  <a:srgbClr val="6B6B6B"/>
                </a:solidFill>
                <a:latin typeface="Calibri"/>
              </a:rPr>
              <a:t>Syncs admin identity changes</a:t>
            </a:r>
          </a:p>
          <a:p>
            <a:pPr algn="ctr" indent="0" marL="0">
              <a:buNone/>
            </a:pPr>
            <a:r>
              <a:rPr lang="en-US" sz="870" b="0" i="1" dirty="0">
                <a:solidFill>
                  <a:srgbClr val="6B6B6B"/>
                </a:solidFill>
                <a:latin typeface="Calibri"/>
              </a:rPr>
              <a:t>to connected target systems</a:t>
            </a:r>
          </a:p>
        </p:txBody>
      </p:sp>
      <p:sp>
        <p:nvSpPr>
          <p:cNvPr id="150" name="S150"/>
          <p:cNvSpPr/>
          <p:nvPr/>
        </p:nvSpPr>
        <p:spPr>
          <a:xfrm>
            <a:off x="7006540" y="4197500"/>
            <a:ext cx="0" cy="180000"/>
          </a:xfrm>
          <a:prstGeom prst="line">
            <a:avLst/>
          </a:prstGeom>
          <a:noFill/>
          <a:ln w="19050">
            <a:solidFill>
              <a:srgbClr val="262626"/>
            </a:solidFill>
            <a:prstDash val="solid"/>
            <a:headEnd type="none"/>
            <a:tailEnd type="triangle"/>
          </a:ln>
        </p:spPr>
      </p:sp>
      <p:sp>
        <p:nvSpPr>
          <p:cNvPr id="151" name="T151"/>
          <p:cNvSpPr/>
          <p:nvPr/>
        </p:nvSpPr>
        <p:spPr>
          <a:xfrm>
            <a:off x="7056540" y="4202500"/>
            <a:ext cx="1200000" cy="17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0" i="1" dirty="0">
                <a:solidFill>
                  <a:srgbClr val="6B6B6B"/>
                </a:solidFill>
                <a:latin typeface="Calibri"/>
              </a:rPr>
              <a:t>identity sync</a:t>
            </a:r>
          </a:p>
        </p:txBody>
      </p:sp>
      <p:sp>
        <p:nvSpPr>
          <p:cNvPr id="152" name="S152"/>
          <p:cNvSpPr/>
          <p:nvPr/>
        </p:nvSpPr>
        <p:spPr>
          <a:xfrm>
            <a:off x="8608155" y="2771250"/>
            <a:ext cx="272880" cy="0"/>
          </a:xfrm>
          <a:prstGeom prst="line">
            <a:avLst/>
          </a:prstGeom>
          <a:noFill/>
          <a:ln w="19050">
            <a:solidFill>
              <a:srgbClr val="262626"/>
            </a:solidFill>
            <a:prstDash val="solid"/>
            <a:headEnd type="none"/>
            <a:tailEnd type="triangle"/>
          </a:ln>
        </p:spPr>
      </p:sp>
      <p:sp>
        <p:nvSpPr>
          <p:cNvPr id="153" name="T153"/>
          <p:cNvSpPr/>
          <p:nvPr/>
        </p:nvSpPr>
        <p:spPr>
          <a:xfrm>
            <a:off x="8494595" y="2586250"/>
            <a:ext cx="500000" cy="17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0" i="1" dirty="0">
                <a:solidFill>
                  <a:srgbClr val="6B6B6B"/>
                </a:solidFill>
                <a:latin typeface="Calibri"/>
              </a:rPr>
              <a:t>MFA verify</a:t>
            </a:r>
          </a:p>
        </p:txBody>
      </p:sp>
      <p:sp>
        <p:nvSpPr>
          <p:cNvPr id="154" name="S154"/>
          <p:cNvSpPr/>
          <p:nvPr/>
        </p:nvSpPr>
        <p:spPr>
          <a:xfrm>
            <a:off x="8608155" y="5446250"/>
            <a:ext cx="272880" cy="0"/>
          </a:xfrm>
          <a:prstGeom prst="line">
            <a:avLst/>
          </a:prstGeom>
          <a:noFill/>
          <a:ln w="19050">
            <a:solidFill>
              <a:srgbClr val="262626"/>
            </a:solidFill>
            <a:prstDash val="solid"/>
            <a:headEnd type="none"/>
            <a:tailEnd type="triangle"/>
          </a:ln>
        </p:spPr>
      </p:sp>
      <p:sp>
        <p:nvSpPr>
          <p:cNvPr id="155" name="T155"/>
          <p:cNvSpPr/>
          <p:nvPr/>
        </p:nvSpPr>
        <p:spPr>
          <a:xfrm>
            <a:off x="8494595" y="5261250"/>
            <a:ext cx="500000" cy="17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0" i="1" dirty="0">
                <a:solidFill>
                  <a:srgbClr val="6B6B6B"/>
                </a:solidFill>
                <a:latin typeface="Calibri"/>
              </a:rPr>
              <a:t>data lookup</a:t>
            </a:r>
          </a:p>
        </p:txBody>
      </p:sp>
      <p:sp>
        <p:nvSpPr>
          <p:cNvPr id="156" name="S156"/>
          <p:cNvSpPr/>
          <p:nvPr/>
        </p:nvSpPr>
        <p:spPr>
          <a:xfrm>
            <a:off x="8781035" y="1060000"/>
            <a:ext cx="3044845" cy="5530000"/>
          </a:xfrm>
          <a:prstGeom prst="roundRect">
            <a:avLst>
              <a:gd name="adj" fmla="val 3000"/>
            </a:avLst>
          </a:prstGeom>
          <a:solidFill>
            <a:srgbClr val="F4F4F4"/>
          </a:solidFill>
          <a:ln w="12700">
            <a:solidFill>
              <a:srgbClr val="262626"/>
            </a:solidFill>
            <a:prstDash val="dash"/>
          </a:ln>
        </p:spPr>
      </p:sp>
      <p:sp>
        <p:nvSpPr>
          <p:cNvPr id="157" name="T157"/>
          <p:cNvSpPr/>
          <p:nvPr/>
        </p:nvSpPr>
        <p:spPr>
          <a:xfrm>
            <a:off x="8881035" y="1110000"/>
            <a:ext cx="2864845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6B6B6B"/>
                </a:solidFill>
                <a:latin typeface="Calibri"/>
              </a:rPr>
              <a:t>Support Systems</a:t>
            </a:r>
          </a:p>
        </p:txBody>
      </p:sp>
      <p:sp>
        <p:nvSpPr>
          <p:cNvPr id="158" name="S158"/>
          <p:cNvSpPr/>
          <p:nvPr/>
        </p:nvSpPr>
        <p:spPr>
          <a:xfrm>
            <a:off x="8891035" y="1355000"/>
            <a:ext cx="2824845" cy="247500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159" name="T159"/>
          <p:cNvSpPr/>
          <p:nvPr/>
        </p:nvSpPr>
        <p:spPr>
          <a:xfrm>
            <a:off x="8966035" y="1652000"/>
            <a:ext cx="2674845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i="0" dirty="0">
                <a:solidFill>
                  <a:srgbClr val="262626"/>
                </a:solidFill>
                <a:latin typeface="Calibri"/>
              </a:rPr>
              <a:t>MFA Options</a:t>
            </a:r>
          </a:p>
        </p:txBody>
      </p:sp>
      <p:sp>
        <p:nvSpPr>
          <p:cNvPr id="160" name="ML160"/>
          <p:cNvSpPr/>
          <p:nvPr/>
        </p:nvSpPr>
        <p:spPr>
          <a:xfrm>
            <a:off x="8966035" y="1906000"/>
            <a:ext cx="2674845" cy="189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70" b="0" i="1" dirty="0">
                <a:solidFill>
                  <a:srgbClr val="6B6B6B"/>
                </a:solidFill>
                <a:latin typeface="Calibri"/>
              </a:rPr>
              <a:t>MFA for admin ops</a:t>
            </a:r>
          </a:p>
          <a:p>
            <a:pPr algn="ctr" indent="0" marL="0">
              <a:buNone/>
            </a:pPr>
            <a:r>
              <a:rPr lang="en-US" sz="870" b="0" i="1" dirty="0">
                <a:solidFill>
                  <a:srgbClr val="6B6B6B"/>
                </a:solidFill>
                <a:latin typeface="Calibri"/>
              </a:rPr>
              <a:t>RSA System</a:t>
            </a:r>
          </a:p>
          <a:p>
            <a:pPr algn="ctr" indent="0" marL="0">
              <a:buNone/>
            </a:pPr>
            <a:r>
              <a:rPr lang="en-US" sz="870" b="0" i="1" dirty="0">
                <a:solidFill>
                  <a:srgbClr val="6B6B6B"/>
                </a:solidFill>
                <a:latin typeface="Calibri"/>
              </a:rPr>
              <a:t>OTP / push verification</a:t>
            </a:r>
          </a:p>
          <a:p>
            <a:pPr algn="ctr" indent="0" marL="0">
              <a:buNone/>
            </a:pPr>
            <a:r>
              <a:rPr lang="en-US" sz="870" b="0" i="1" dirty="0">
                <a:solidFill>
                  <a:srgbClr val="6B6B6B"/>
                </a:solidFill>
                <a:latin typeface="Calibri"/>
              </a:rPr>
              <a:t>Token registration</a:t>
            </a:r>
          </a:p>
        </p:txBody>
      </p:sp>
      <p:sp>
        <p:nvSpPr>
          <p:cNvPr id="161" name="S161"/>
          <p:cNvSpPr/>
          <p:nvPr/>
        </p:nvSpPr>
        <p:spPr>
          <a:xfrm>
            <a:off x="8891035" y="4030000"/>
            <a:ext cx="2824845" cy="247500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162" name="T162"/>
          <p:cNvSpPr/>
          <p:nvPr/>
        </p:nvSpPr>
        <p:spPr>
          <a:xfrm>
            <a:off x="8966035" y="4327000"/>
            <a:ext cx="2674845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i="0" dirty="0">
                <a:solidFill>
                  <a:srgbClr val="262626"/>
                </a:solidFill>
                <a:latin typeface="Calibri"/>
              </a:rPr>
              <a:t>Data Sources</a:t>
            </a:r>
          </a:p>
        </p:txBody>
      </p:sp>
      <p:sp>
        <p:nvSpPr>
          <p:cNvPr id="163" name="ML163"/>
          <p:cNvSpPr/>
          <p:nvPr/>
        </p:nvSpPr>
        <p:spPr>
          <a:xfrm>
            <a:off x="8966035" y="4581000"/>
            <a:ext cx="2674845" cy="189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70" b="0" i="1" dirty="0">
                <a:solidFill>
                  <a:srgbClr val="6B6B6B"/>
                </a:solidFill>
                <a:latin typeface="Calibri"/>
              </a:rPr>
              <a:t>Oracle System</a:t>
            </a:r>
          </a:p>
          <a:p>
            <a:pPr algn="ctr" indent="0" marL="0">
              <a:buNone/>
            </a:pPr>
            <a:r>
              <a:rPr lang="en-US" sz="870" b="0" i="1" dirty="0">
                <a:solidFill>
                  <a:srgbClr val="6B6B6B"/>
                </a:solidFill>
                <a:latin typeface="Calibri"/>
              </a:rPr>
              <a:t>CDL System</a:t>
            </a:r>
          </a:p>
          <a:p>
            <a:pPr algn="ctr" indent="0" marL="0">
              <a:buNone/>
            </a:pPr>
            <a:r>
              <a:rPr lang="en-US" sz="870" b="0" i="1" dirty="0">
                <a:solidFill>
                  <a:srgbClr val="6B6B6B"/>
                </a:solidFill>
                <a:latin typeface="Calibri"/>
              </a:rPr>
              <a:t>Profile validation</a:t>
            </a:r>
          </a:p>
          <a:p>
            <a:pPr algn="ctr" indent="0" marL="0">
              <a:buNone/>
            </a:pPr>
            <a:r>
              <a:rPr lang="en-US" sz="870" b="0" i="1" dirty="0">
                <a:solidFill>
                  <a:srgbClr val="6B6B6B"/>
                </a:solidFill>
                <a:latin typeface="Calibri"/>
              </a:rPr>
              <a:t>Data source for admin ops</a:t>
            </a:r>
          </a:p>
        </p:txBody>
      </p:sp>
      <p:sp>
        <p:nvSpPr>
          <p:cNvPr id="164" name="T164"/>
          <p:cNvSpPr/>
          <p:nvPr/>
        </p:nvSpPr>
        <p:spPr>
          <a:xfrm>
            <a:off x="457200" y="6660000"/>
            <a:ext cx="1136868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0" i="1" dirty="0">
                <a:solidFill>
                  <a:srgbClr val="6B6B6B"/>
                </a:solidFill>
                <a:latin typeface="Calibri"/>
              </a:rPr>
              <a:t>Internal = black border  ·  External = grey fill  ·  Black arrow = request/call  ·  Dashed zone = platform boundary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