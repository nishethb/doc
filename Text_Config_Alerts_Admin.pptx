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xt Config Alerts Adm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101"/>
          <p:cNvSpPr/>
          <p:nvPr/>
        </p:nvSpPr>
        <p:spPr>
          <a:xfrm>
            <a:off x="457200" y="274320"/>
            <a:ext cx="113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i="0" dirty="0">
                <a:solidFill>
                  <a:srgbClr val="7A1322"/>
                </a:solidFill>
                <a:latin typeface="Calibri"/>
              </a:rPr>
              <a:t>Block Diagram — Text Configuration &amp; Alerts Administration</a:t>
            </a:r>
          </a:p>
        </p:txBody>
      </p:sp>
      <p:sp>
        <p:nvSpPr>
          <p:cNvPr id="102" name="T102"/>
          <p:cNvSpPr/>
          <p:nvPr/>
        </p:nvSpPr>
        <p:spPr>
          <a:xfrm>
            <a:off x="457200" y="786384"/>
            <a:ext cx="113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0" i="1" dirty="0">
                <a:solidFill>
                  <a:srgbClr val="6B6B6B"/>
                </a:solidFill>
                <a:latin typeface="Calibri"/>
              </a:rPr>
              <a:t>Text Configuration: UI text editable per language group  ·  Alerts Administration: CIAM-specific alerts applied per user</a:t>
            </a:r>
          </a:p>
        </p:txBody>
      </p:sp>
      <p:sp>
        <p:nvSpPr>
          <p:cNvPr id="103" name="S103"/>
          <p:cNvSpPr/>
          <p:nvPr/>
        </p:nvSpPr>
        <p:spPr>
          <a:xfrm>
            <a:off x="457200" y="1060000"/>
            <a:ext cx="6593834" cy="5530000"/>
          </a:xfrm>
          <a:prstGeom prst="roundRect">
            <a:avLst>
              <a:gd name="adj" fmla="val 3000"/>
            </a:avLst>
          </a:prstGeom>
          <a:solidFill>
            <a:srgbClr val="FBF1F2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04" name="T104"/>
          <p:cNvSpPr/>
          <p:nvPr/>
        </p:nvSpPr>
        <p:spPr>
          <a:xfrm>
            <a:off x="557200" y="1110000"/>
            <a:ext cx="6413834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UAP</a:t>
            </a:r>
          </a:p>
        </p:txBody>
      </p:sp>
      <p:sp>
        <p:nvSpPr>
          <p:cNvPr id="105" name="S105"/>
          <p:cNvSpPr/>
          <p:nvPr/>
        </p:nvSpPr>
        <p:spPr>
          <a:xfrm>
            <a:off x="607200" y="1355000"/>
            <a:ext cx="6293834" cy="56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06" name="T106"/>
          <p:cNvSpPr/>
          <p:nvPr/>
        </p:nvSpPr>
        <p:spPr>
          <a:xfrm>
            <a:off x="682200" y="1422200"/>
            <a:ext cx="6143834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solidFill>
                  <a:srgbClr val="7A1322"/>
                </a:solidFill>
                <a:latin typeface="Calibri"/>
              </a:rPr>
              <a:t>UAP Admin Portal</a:t>
            </a:r>
          </a:p>
        </p:txBody>
      </p:sp>
      <p:sp>
        <p:nvSpPr>
          <p:cNvPr id="107" name="ML107"/>
          <p:cNvSpPr/>
          <p:nvPr/>
        </p:nvSpPr>
        <p:spPr>
          <a:xfrm>
            <a:off x="682200" y="1645720"/>
            <a:ext cx="6143834" cy="21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Admin entry point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Text configuration &amp; alerts UI</a:t>
            </a:r>
          </a:p>
          <a:p>
            <a:pPr marL="0" indent="0" algn="ctr">
              <a:buNone/>
            </a:pPr>
            <a:endParaRPr lang="en-US" sz="880" b="0" i="1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108" name="S108"/>
          <p:cNvSpPr/>
          <p:nvPr/>
        </p:nvSpPr>
        <p:spPr>
          <a:xfrm>
            <a:off x="572200" y="2095000"/>
            <a:ext cx="6363834" cy="4415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262626"/>
            </a:solidFill>
            <a:prstDash val="dash"/>
          </a:ln>
        </p:spPr>
      </p:sp>
      <p:sp>
        <p:nvSpPr>
          <p:cNvPr id="109" name="T109"/>
          <p:cNvSpPr/>
          <p:nvPr/>
        </p:nvSpPr>
        <p:spPr>
          <a:xfrm>
            <a:off x="657200" y="2140000"/>
            <a:ext cx="6213834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i="1" dirty="0">
                <a:solidFill>
                  <a:srgbClr val="A6192E"/>
                </a:solidFill>
                <a:latin typeface="Calibri"/>
              </a:rPr>
              <a:t>Admin Configuration</a:t>
            </a:r>
          </a:p>
        </p:txBody>
      </p:sp>
      <p:sp>
        <p:nvSpPr>
          <p:cNvPr id="110" name="S110"/>
          <p:cNvSpPr/>
          <p:nvPr/>
        </p:nvSpPr>
        <p:spPr>
          <a:xfrm>
            <a:off x="662200" y="2345000"/>
            <a:ext cx="3031917" cy="409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11" name="T111"/>
          <p:cNvSpPr/>
          <p:nvPr/>
        </p:nvSpPr>
        <p:spPr>
          <a:xfrm>
            <a:off x="737200" y="2835800"/>
            <a:ext cx="2881917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solidFill>
                  <a:srgbClr val="7A1322"/>
                </a:solidFill>
                <a:latin typeface="Calibri"/>
              </a:rPr>
              <a:t>Text Config
Service</a:t>
            </a:r>
          </a:p>
        </p:txBody>
      </p:sp>
      <p:sp>
        <p:nvSpPr>
          <p:cNvPr id="112" name="ML112"/>
          <p:cNvSpPr/>
          <p:nvPr/>
        </p:nvSpPr>
        <p:spPr>
          <a:xfrm>
            <a:off x="737200" y="3089800"/>
            <a:ext cx="2881917" cy="331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UI text configurable via front-end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Limited texts (e.g. support hours)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Text editor for all saved field texts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Language group control: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Only correct group can edit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their assigned texts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New page field → associated text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must be added alongside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Error handling: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Retain edits on page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Show error message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Allow retry or cancel</a:t>
            </a:r>
          </a:p>
        </p:txBody>
      </p:sp>
      <p:sp>
        <p:nvSpPr>
          <p:cNvPr id="113" name="S113"/>
          <p:cNvSpPr/>
          <p:nvPr/>
        </p:nvSpPr>
        <p:spPr>
          <a:xfrm>
            <a:off x="3814117" y="2345000"/>
            <a:ext cx="3031917" cy="409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14" name="T114"/>
          <p:cNvSpPr/>
          <p:nvPr/>
        </p:nvSpPr>
        <p:spPr>
          <a:xfrm>
            <a:off x="3889117" y="2835800"/>
            <a:ext cx="2881917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solidFill>
                  <a:srgbClr val="7A1322"/>
                </a:solidFill>
                <a:latin typeface="Calibri"/>
              </a:rPr>
              <a:t>Alerts Admin
Service</a:t>
            </a:r>
          </a:p>
        </p:txBody>
      </p:sp>
      <p:sp>
        <p:nvSpPr>
          <p:cNvPr id="115" name="ML115"/>
          <p:cNvSpPr/>
          <p:nvPr/>
        </p:nvSpPr>
        <p:spPr>
          <a:xfrm>
            <a:off x="3889117" y="3089800"/>
            <a:ext cx="2881917" cy="331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CIAM-specific alerts only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Not generic to all entitlements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Admin selects alerts to apply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to a given user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Confirmation displayed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after storing changes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Error handling: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Revert to previous saved state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Display error message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Allow user to retry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or cancel out</a:t>
            </a:r>
          </a:p>
        </p:txBody>
      </p:sp>
      <p:sp>
        <p:nvSpPr>
          <p:cNvPr id="116" name="S116"/>
          <p:cNvSpPr/>
          <p:nvPr/>
        </p:nvSpPr>
        <p:spPr>
          <a:xfrm>
            <a:off x="6911034" y="1580000"/>
            <a:ext cx="32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17" name="T117"/>
          <p:cNvSpPr/>
          <p:nvPr/>
        </p:nvSpPr>
        <p:spPr>
          <a:xfrm>
            <a:off x="6879974" y="1420479"/>
            <a:ext cx="353940" cy="299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>Admin OIDC</a:t>
            </a:r>
          </a:p>
        </p:txBody>
      </p:sp>
      <p:sp>
        <p:nvSpPr>
          <p:cNvPr id="118" name="S118"/>
          <p:cNvSpPr/>
          <p:nvPr/>
        </p:nvSpPr>
        <p:spPr>
          <a:xfrm>
            <a:off x="6911034" y="1690000"/>
            <a:ext cx="457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19" name="T119"/>
          <p:cNvSpPr/>
          <p:nvPr/>
        </p:nvSpPr>
        <p:spPr>
          <a:xfrm>
            <a:off x="6879974" y="1715000"/>
            <a:ext cx="52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i="1" dirty="0">
                <a:solidFill>
                  <a:srgbClr val="6B6B6B"/>
                </a:solidFill>
                <a:latin typeface="Calibri"/>
              </a:rPr>
              <a:t>response</a:t>
            </a:r>
            <a:endParaRPr lang="en-US" sz="820" b="0" i="1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120" name="S120"/>
          <p:cNvSpPr/>
          <p:nvPr/>
        </p:nvSpPr>
        <p:spPr>
          <a:xfrm>
            <a:off x="6946034" y="4247500"/>
            <a:ext cx="287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21" name="T121"/>
          <p:cNvSpPr/>
          <p:nvPr/>
        </p:nvSpPr>
        <p:spPr>
          <a:xfrm>
            <a:off x="6897474" y="4138780"/>
            <a:ext cx="52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>AIC journey call</a:t>
            </a:r>
          </a:p>
        </p:txBody>
      </p:sp>
      <p:sp>
        <p:nvSpPr>
          <p:cNvPr id="122" name="S122"/>
          <p:cNvSpPr/>
          <p:nvPr/>
        </p:nvSpPr>
        <p:spPr>
          <a:xfrm>
            <a:off x="6946034" y="4357500"/>
            <a:ext cx="42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23" name="T123"/>
          <p:cNvSpPr/>
          <p:nvPr/>
        </p:nvSpPr>
        <p:spPr>
          <a:xfrm>
            <a:off x="6897474" y="4382500"/>
            <a:ext cx="52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i="1" dirty="0">
                <a:solidFill>
                  <a:srgbClr val="6B6B6B"/>
                </a:solidFill>
                <a:latin typeface="Calibri"/>
              </a:rPr>
              <a:t>response</a:t>
            </a:r>
            <a:endParaRPr lang="en-US" sz="820" b="0" i="1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124" name="S124"/>
          <p:cNvSpPr/>
          <p:nvPr/>
        </p:nvSpPr>
        <p:spPr>
          <a:xfrm>
            <a:off x="7233914" y="1060000"/>
            <a:ext cx="4591966" cy="5530000"/>
          </a:xfrm>
          <a:prstGeom prst="roundRect">
            <a:avLst>
              <a:gd name="adj" fmla="val 3000"/>
            </a:avLst>
          </a:prstGeom>
          <a:solidFill>
            <a:srgbClr val="FBF1F2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25" name="T125"/>
          <p:cNvSpPr/>
          <p:nvPr/>
        </p:nvSpPr>
        <p:spPr>
          <a:xfrm>
            <a:off x="7333914" y="1110000"/>
            <a:ext cx="4411966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CIA (PingOne AIC)</a:t>
            </a:r>
          </a:p>
        </p:txBody>
      </p:sp>
      <p:sp>
        <p:nvSpPr>
          <p:cNvPr id="126" name="S126"/>
          <p:cNvSpPr/>
          <p:nvPr/>
        </p:nvSpPr>
        <p:spPr>
          <a:xfrm>
            <a:off x="7373914" y="1355000"/>
            <a:ext cx="4311966" cy="51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27" name="T127"/>
          <p:cNvSpPr/>
          <p:nvPr/>
        </p:nvSpPr>
        <p:spPr>
          <a:xfrm>
            <a:off x="7448914" y="1973000"/>
            <a:ext cx="4161966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solidFill>
                  <a:srgbClr val="7A1322"/>
                </a:solidFill>
                <a:latin typeface="Calibri"/>
              </a:rPr>
              <a:t>PingOne AIC</a:t>
            </a:r>
          </a:p>
        </p:txBody>
      </p:sp>
      <p:sp>
        <p:nvSpPr>
          <p:cNvPr id="128" name="ML128"/>
          <p:cNvSpPr/>
          <p:nvPr/>
        </p:nvSpPr>
        <p:spPr>
          <a:xfrm>
            <a:off x="7448914" y="2227000"/>
            <a:ext cx="4161966" cy="4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Journey engine for all config operations</a:t>
            </a:r>
          </a:p>
          <a:p>
            <a:pPr marL="0" indent="0" algn="ctr">
              <a:buNone/>
            </a:pPr>
            <a:endParaRPr lang="en-US" sz="880" b="0" i="1" dirty="0">
              <a:solidFill>
                <a:srgbClr val="6B6B6B"/>
              </a:solidFill>
              <a:latin typeface="Calibri"/>
            </a:endParaRP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Text Configuration journey: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Validate admin language group role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Save updated text configuration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Display confirmation / error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Apply text updates across UAP</a:t>
            </a:r>
          </a:p>
          <a:p>
            <a:pPr marL="0" indent="0" algn="ctr">
              <a:buNone/>
            </a:pPr>
            <a:endParaRPr lang="en-US" sz="880" b="0" i="1" dirty="0">
              <a:solidFill>
                <a:srgbClr val="6B6B6B"/>
              </a:solidFill>
              <a:latin typeface="Calibri"/>
            </a:endParaRP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Alerts Administration journey: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Validate CIAM-specific alert scope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Apply alerts to selected user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Confirm storage or revert on failure</a:t>
            </a:r>
          </a:p>
          <a:p>
            <a:pPr marL="0" indent="0" algn="ctr">
              <a:buNone/>
            </a:pPr>
            <a:endParaRPr lang="en-US" sz="880" b="0" i="1" dirty="0">
              <a:solidFill>
                <a:srgbClr val="6B6B6B"/>
              </a:solidFill>
              <a:latin typeface="Calibri"/>
            </a:endParaRP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All journeys are OIDC-authenticated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Role-based access enforced per journey</a:t>
            </a:r>
          </a:p>
        </p:txBody>
      </p:sp>
      <p:sp>
        <p:nvSpPr>
          <p:cNvPr id="129" name="T129"/>
          <p:cNvSpPr/>
          <p:nvPr/>
        </p:nvSpPr>
        <p:spPr>
          <a:xfrm>
            <a:off x="457200" y="6660000"/>
            <a:ext cx="113686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0" i="1" dirty="0">
                <a:solidFill>
                  <a:srgbClr val="6B6B6B"/>
                </a:solidFill>
                <a:latin typeface="Calibri"/>
              </a:rPr>
              <a:t>Internal = black border  ·  Black arrow = request/call  ·  Dashed zone = platform boundary  ·  All capabilities are UAP features orchestrated via 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259</Words>
  <Application>Microsoft Office PowerPoint</Application>
  <PresentationFormat>Widescreen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Nisheeth Bhardwaj</cp:lastModifiedBy>
  <cp:revision>2</cp:revision>
  <dcterms:created xsi:type="dcterms:W3CDTF">2013-01-27T09:14:16Z</dcterms:created>
  <dcterms:modified xsi:type="dcterms:W3CDTF">2026-07-12T16:18:35Z</dcterms:modified>
  <cp:category/>
</cp:coreProperties>
</file>