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3" r:id="rId4"/>
    <p:sldId id="28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969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Self Servi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101"/>
          <p:cNvSpPr/>
          <p:nvPr/>
        </p:nvSpPr>
        <p:spPr>
          <a:xfrm>
            <a:off x="457200" y="274320"/>
            <a:ext cx="113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latin typeface="Calibri"/>
              </a:rPr>
              <a:t>Block Diagram — User Self-Service</a:t>
            </a:r>
          </a:p>
        </p:txBody>
      </p:sp>
      <p:sp>
        <p:nvSpPr>
          <p:cNvPr id="102" name="T102"/>
          <p:cNvSpPr/>
          <p:nvPr/>
        </p:nvSpPr>
        <p:spPr>
          <a:xfrm>
            <a:off x="457200" y="786384"/>
            <a:ext cx="113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0" i="1" dirty="0">
                <a:latin typeface="Calibri"/>
              </a:rPr>
              <a:t>Covers: Access Self-Service  ·  Device Self-Service  ·  Profile Self-Service  ·  Token Self-Service  ·  MFA Menu  ·  Internal = black border  ·  External = grey fill</a:t>
            </a:r>
          </a:p>
        </p:txBody>
      </p:sp>
      <p:sp>
        <p:nvSpPr>
          <p:cNvPr id="103" name="S103"/>
          <p:cNvSpPr/>
          <p:nvPr/>
        </p:nvSpPr>
        <p:spPr>
          <a:xfrm>
            <a:off x="457200" y="1100000"/>
            <a:ext cx="8400000" cy="545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104"/>
          <p:cNvSpPr/>
          <p:nvPr/>
        </p:nvSpPr>
        <p:spPr>
          <a:xfrm>
            <a:off x="567200" y="1155000"/>
            <a:ext cx="82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UAP Platform Zone</a:t>
            </a:r>
          </a:p>
        </p:txBody>
      </p:sp>
      <p:sp>
        <p:nvSpPr>
          <p:cNvPr id="105" name="S105"/>
          <p:cNvSpPr/>
          <p:nvPr/>
        </p:nvSpPr>
        <p:spPr>
          <a:xfrm>
            <a:off x="637200" y="1420000"/>
            <a:ext cx="2300000" cy="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106"/>
          <p:cNvSpPr/>
          <p:nvPr/>
        </p:nvSpPr>
        <p:spPr>
          <a:xfrm>
            <a:off x="712200" y="1520800"/>
            <a:ext cx="21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UAP Portal</a:t>
            </a:r>
          </a:p>
        </p:txBody>
      </p:sp>
      <p:sp>
        <p:nvSpPr>
          <p:cNvPr id="107" name="ML107"/>
          <p:cNvSpPr/>
          <p:nvPr/>
        </p:nvSpPr>
        <p:spPr>
          <a:xfrm>
            <a:off x="712200" y="1790800"/>
            <a:ext cx="2150000" cy="3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MUFG Exchange Portal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User entry point</a:t>
            </a:r>
          </a:p>
        </p:txBody>
      </p:sp>
      <p:sp>
        <p:nvSpPr>
          <p:cNvPr id="108" name="S108"/>
          <p:cNvSpPr/>
          <p:nvPr/>
        </p:nvSpPr>
        <p:spPr>
          <a:xfrm>
            <a:off x="4333360" y="1420000"/>
            <a:ext cx="2500000" cy="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9" name="T109"/>
          <p:cNvSpPr/>
          <p:nvPr/>
        </p:nvSpPr>
        <p:spPr>
          <a:xfrm>
            <a:off x="4235640" y="1520800"/>
            <a:ext cx="23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PingOne AIC</a:t>
            </a:r>
          </a:p>
        </p:txBody>
      </p:sp>
      <p:sp>
        <p:nvSpPr>
          <p:cNvPr id="110" name="ML110"/>
          <p:cNvSpPr/>
          <p:nvPr/>
        </p:nvSpPr>
        <p:spPr>
          <a:xfrm>
            <a:off x="4398200" y="1790800"/>
            <a:ext cx="2350000" cy="3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Journey Orchestration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Self-service flows</a:t>
            </a:r>
          </a:p>
        </p:txBody>
      </p:sp>
      <p:sp>
        <p:nvSpPr>
          <p:cNvPr id="111" name="S111"/>
          <p:cNvSpPr/>
          <p:nvPr/>
        </p:nvSpPr>
        <p:spPr>
          <a:xfrm flipV="1">
            <a:off x="2947200" y="1720005"/>
            <a:ext cx="1386160" cy="4995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2" name="T112"/>
          <p:cNvSpPr/>
          <p:nvPr/>
        </p:nvSpPr>
        <p:spPr>
          <a:xfrm>
            <a:off x="3061360" y="1530000"/>
            <a:ext cx="951160" cy="160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OIDC</a:t>
            </a:r>
          </a:p>
        </p:txBody>
      </p:sp>
      <p:sp>
        <p:nvSpPr>
          <p:cNvPr id="113" name="S113"/>
          <p:cNvSpPr/>
          <p:nvPr/>
        </p:nvSpPr>
        <p:spPr>
          <a:xfrm>
            <a:off x="2947200" y="1834999"/>
            <a:ext cx="1311160" cy="4995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triangle"/>
            <a:tailEnd type="none"/>
          </a:ln>
        </p:spPr>
      </p:sp>
      <p:sp>
        <p:nvSpPr>
          <p:cNvPr id="114" name="T114"/>
          <p:cNvSpPr/>
          <p:nvPr/>
        </p:nvSpPr>
        <p:spPr>
          <a:xfrm>
            <a:off x="3223920" y="1860000"/>
            <a:ext cx="65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session / tokens</a:t>
            </a:r>
          </a:p>
        </p:txBody>
      </p:sp>
      <p:sp>
        <p:nvSpPr>
          <p:cNvPr id="115" name="S115"/>
          <p:cNvSpPr/>
          <p:nvPr/>
        </p:nvSpPr>
        <p:spPr>
          <a:xfrm>
            <a:off x="577200" y="2360000"/>
            <a:ext cx="8160000" cy="40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16" name="T116"/>
          <p:cNvSpPr/>
          <p:nvPr/>
        </p:nvSpPr>
        <p:spPr>
          <a:xfrm>
            <a:off x="667200" y="2410000"/>
            <a:ext cx="798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i="1" dirty="0">
                <a:latin typeface="Calibri"/>
              </a:rPr>
              <a:t>Self-Service Capabilities (AIC Journeys)</a:t>
            </a:r>
          </a:p>
        </p:txBody>
      </p:sp>
      <p:sp>
        <p:nvSpPr>
          <p:cNvPr id="117" name="S117"/>
          <p:cNvSpPr/>
          <p:nvPr/>
        </p:nvSpPr>
        <p:spPr>
          <a:xfrm>
            <a:off x="5481760" y="2150000"/>
            <a:ext cx="0" cy="20000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8" name="T118"/>
          <p:cNvSpPr/>
          <p:nvPr/>
        </p:nvSpPr>
        <p:spPr>
          <a:xfrm>
            <a:off x="5252280" y="2155000"/>
            <a:ext cx="1700000" cy="19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Executes self-service journey</a:t>
            </a:r>
          </a:p>
        </p:txBody>
      </p:sp>
      <p:sp>
        <p:nvSpPr>
          <p:cNvPr id="119" name="S119"/>
          <p:cNvSpPr/>
          <p:nvPr/>
        </p:nvSpPr>
        <p:spPr>
          <a:xfrm>
            <a:off x="677200" y="2630000"/>
            <a:ext cx="1528000" cy="3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0" name="T120"/>
          <p:cNvSpPr/>
          <p:nvPr/>
        </p:nvSpPr>
        <p:spPr>
          <a:xfrm>
            <a:off x="752200" y="3148000"/>
            <a:ext cx="1378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Access
Self-Service</a:t>
            </a:r>
          </a:p>
        </p:txBody>
      </p:sp>
      <p:sp>
        <p:nvSpPr>
          <p:cNvPr id="121" name="ML121"/>
          <p:cNvSpPr/>
          <p:nvPr/>
        </p:nvSpPr>
        <p:spPr>
          <a:xfrm>
            <a:off x="752200" y="3418000"/>
            <a:ext cx="1378000" cy="28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Request / remove entitlements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View request status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Track approval history</a:t>
            </a:r>
          </a:p>
        </p:txBody>
      </p:sp>
      <p:sp>
        <p:nvSpPr>
          <p:cNvPr id="122" name="S122"/>
          <p:cNvSpPr/>
          <p:nvPr/>
        </p:nvSpPr>
        <p:spPr>
          <a:xfrm>
            <a:off x="2285200" y="2630000"/>
            <a:ext cx="1528000" cy="3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3" name="T123"/>
          <p:cNvSpPr/>
          <p:nvPr/>
        </p:nvSpPr>
        <p:spPr>
          <a:xfrm>
            <a:off x="2360200" y="3148000"/>
            <a:ext cx="1378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Device
Self-Service</a:t>
            </a:r>
          </a:p>
        </p:txBody>
      </p:sp>
      <p:sp>
        <p:nvSpPr>
          <p:cNvPr id="124" name="ML124"/>
          <p:cNvSpPr/>
          <p:nvPr/>
        </p:nvSpPr>
        <p:spPr>
          <a:xfrm>
            <a:off x="2360200" y="3418000"/>
            <a:ext cx="1378000" cy="28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View registered devices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Register / remove device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View activity timestamp</a:t>
            </a:r>
          </a:p>
        </p:txBody>
      </p:sp>
      <p:sp>
        <p:nvSpPr>
          <p:cNvPr id="125" name="S125"/>
          <p:cNvSpPr/>
          <p:nvPr/>
        </p:nvSpPr>
        <p:spPr>
          <a:xfrm>
            <a:off x="3893200" y="2630000"/>
            <a:ext cx="1528000" cy="3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6" name="T126"/>
          <p:cNvSpPr/>
          <p:nvPr/>
        </p:nvSpPr>
        <p:spPr>
          <a:xfrm>
            <a:off x="3968200" y="3148000"/>
            <a:ext cx="1378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Profile
Self-Service</a:t>
            </a:r>
          </a:p>
        </p:txBody>
      </p:sp>
      <p:sp>
        <p:nvSpPr>
          <p:cNvPr id="127" name="ML127"/>
          <p:cNvSpPr/>
          <p:nvPr/>
        </p:nvSpPr>
        <p:spPr>
          <a:xfrm>
            <a:off x="3968200" y="3418000"/>
            <a:ext cx="1378000" cy="28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Manage phone / email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Security settings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Language preferences</a:t>
            </a:r>
          </a:p>
        </p:txBody>
      </p:sp>
      <p:sp>
        <p:nvSpPr>
          <p:cNvPr id="128" name="S128"/>
          <p:cNvSpPr/>
          <p:nvPr/>
        </p:nvSpPr>
        <p:spPr>
          <a:xfrm>
            <a:off x="5501200" y="2630000"/>
            <a:ext cx="1528000" cy="3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9" name="T129"/>
          <p:cNvSpPr/>
          <p:nvPr/>
        </p:nvSpPr>
        <p:spPr>
          <a:xfrm>
            <a:off x="5576200" y="3148000"/>
            <a:ext cx="1378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Token
Self-Service</a:t>
            </a:r>
          </a:p>
        </p:txBody>
      </p:sp>
      <p:sp>
        <p:nvSpPr>
          <p:cNvPr id="130" name="ML130"/>
          <p:cNvSpPr/>
          <p:nvPr/>
        </p:nvSpPr>
        <p:spPr>
          <a:xfrm>
            <a:off x="5576200" y="3418000"/>
            <a:ext cx="1378000" cy="28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Activate mobile token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Re-register RSA SecurID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OTP flow on login</a:t>
            </a:r>
          </a:p>
        </p:txBody>
      </p:sp>
      <p:sp>
        <p:nvSpPr>
          <p:cNvPr id="131" name="S131"/>
          <p:cNvSpPr/>
          <p:nvPr/>
        </p:nvSpPr>
        <p:spPr>
          <a:xfrm>
            <a:off x="7109200" y="2630000"/>
            <a:ext cx="1528000" cy="3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32" name="T132"/>
          <p:cNvSpPr/>
          <p:nvPr/>
        </p:nvSpPr>
        <p:spPr>
          <a:xfrm>
            <a:off x="7184200" y="3148000"/>
            <a:ext cx="1378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MFA Menu</a:t>
            </a:r>
          </a:p>
        </p:txBody>
      </p:sp>
      <p:sp>
        <p:nvSpPr>
          <p:cNvPr id="133" name="ML133"/>
          <p:cNvSpPr/>
          <p:nvPr/>
        </p:nvSpPr>
        <p:spPr>
          <a:xfrm>
            <a:off x="7184200" y="3418000"/>
            <a:ext cx="1378000" cy="288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Enrol authenticators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Manage auth methods</a:t>
            </a:r>
          </a:p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Security page access</a:t>
            </a:r>
          </a:p>
        </p:txBody>
      </p:sp>
      <p:sp>
        <p:nvSpPr>
          <p:cNvPr id="134" name="S134"/>
          <p:cNvSpPr/>
          <p:nvPr/>
        </p:nvSpPr>
        <p:spPr>
          <a:xfrm>
            <a:off x="9040080" y="1100000"/>
            <a:ext cx="2785800" cy="545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35" name="T135"/>
          <p:cNvSpPr/>
          <p:nvPr/>
        </p:nvSpPr>
        <p:spPr>
          <a:xfrm>
            <a:off x="9150080" y="1155000"/>
            <a:ext cx="25858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latin typeface="Calibri"/>
              </a:rPr>
              <a:t>External Systems</a:t>
            </a:r>
          </a:p>
        </p:txBody>
      </p:sp>
      <p:sp>
        <p:nvSpPr>
          <p:cNvPr id="136" name="S136"/>
          <p:cNvSpPr/>
          <p:nvPr/>
        </p:nvSpPr>
        <p:spPr>
          <a:xfrm>
            <a:off x="9130080" y="1380000"/>
            <a:ext cx="2605800" cy="1616666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7" name="T137"/>
          <p:cNvSpPr/>
          <p:nvPr/>
        </p:nvSpPr>
        <p:spPr>
          <a:xfrm>
            <a:off x="9205080" y="1638666"/>
            <a:ext cx="2455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RSA SecurID</a:t>
            </a:r>
          </a:p>
        </p:txBody>
      </p:sp>
      <p:sp>
        <p:nvSpPr>
          <p:cNvPr id="138" name="ML138"/>
          <p:cNvSpPr/>
          <p:nvPr/>
        </p:nvSpPr>
        <p:spPr>
          <a:xfrm>
            <a:off x="9205080" y="1896666"/>
            <a:ext cx="2455800" cy="10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Token registration / OTP</a:t>
            </a:r>
          </a:p>
        </p:txBody>
      </p:sp>
      <p:sp>
        <p:nvSpPr>
          <p:cNvPr id="139" name="S139"/>
          <p:cNvSpPr/>
          <p:nvPr/>
        </p:nvSpPr>
        <p:spPr>
          <a:xfrm>
            <a:off x="9130080" y="3116666"/>
            <a:ext cx="2605800" cy="1616666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0" name="T140"/>
          <p:cNvSpPr/>
          <p:nvPr/>
        </p:nvSpPr>
        <p:spPr>
          <a:xfrm>
            <a:off x="9205080" y="3375332"/>
            <a:ext cx="2455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Approval Workflow</a:t>
            </a:r>
          </a:p>
        </p:txBody>
      </p:sp>
      <p:sp>
        <p:nvSpPr>
          <p:cNvPr id="141" name="ML141"/>
          <p:cNvSpPr/>
          <p:nvPr/>
        </p:nvSpPr>
        <p:spPr>
          <a:xfrm>
            <a:off x="9205080" y="3633332"/>
            <a:ext cx="2455800" cy="10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Entitlement requests</a:t>
            </a:r>
          </a:p>
        </p:txBody>
      </p:sp>
      <p:sp>
        <p:nvSpPr>
          <p:cNvPr id="142" name="S142"/>
          <p:cNvSpPr/>
          <p:nvPr/>
        </p:nvSpPr>
        <p:spPr>
          <a:xfrm>
            <a:off x="9130080" y="4853332"/>
            <a:ext cx="2605800" cy="1616666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3" name="T143"/>
          <p:cNvSpPr/>
          <p:nvPr/>
        </p:nvSpPr>
        <p:spPr>
          <a:xfrm>
            <a:off x="9205080" y="5111998"/>
            <a:ext cx="2455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0" dirty="0">
                <a:latin typeface="Calibri"/>
              </a:rPr>
              <a:t>SEM System</a:t>
            </a:r>
          </a:p>
        </p:txBody>
      </p:sp>
      <p:sp>
        <p:nvSpPr>
          <p:cNvPr id="144" name="ML144"/>
          <p:cNvSpPr/>
          <p:nvPr/>
        </p:nvSpPr>
        <p:spPr>
          <a:xfrm>
            <a:off x="9205080" y="5369998"/>
            <a:ext cx="2455800" cy="10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b="0" i="1" dirty="0">
                <a:latin typeface="Calibri"/>
              </a:rPr>
              <a:t>Profile change requests</a:t>
            </a:r>
          </a:p>
        </p:txBody>
      </p:sp>
      <p:sp>
        <p:nvSpPr>
          <p:cNvPr id="145" name="S145"/>
          <p:cNvSpPr/>
          <p:nvPr/>
        </p:nvSpPr>
        <p:spPr>
          <a:xfrm>
            <a:off x="6823200" y="1842253"/>
            <a:ext cx="2296880" cy="2096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6" name="T146"/>
          <p:cNvSpPr/>
          <p:nvPr/>
        </p:nvSpPr>
        <p:spPr>
          <a:xfrm>
            <a:off x="6071840" y="1607253"/>
            <a:ext cx="338288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Token enrol / OTP</a:t>
            </a:r>
          </a:p>
        </p:txBody>
      </p:sp>
      <p:sp>
        <p:nvSpPr>
          <p:cNvPr id="147" name="S147"/>
          <p:cNvSpPr/>
          <p:nvPr/>
        </p:nvSpPr>
        <p:spPr>
          <a:xfrm>
            <a:off x="8747200" y="3924999"/>
            <a:ext cx="3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8" name="T148"/>
          <p:cNvSpPr/>
          <p:nvPr/>
        </p:nvSpPr>
        <p:spPr>
          <a:xfrm>
            <a:off x="8608640" y="3709679"/>
            <a:ext cx="65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Route for approval</a:t>
            </a:r>
          </a:p>
        </p:txBody>
      </p:sp>
      <p:sp>
        <p:nvSpPr>
          <p:cNvPr id="149" name="S149"/>
          <p:cNvSpPr/>
          <p:nvPr/>
        </p:nvSpPr>
        <p:spPr>
          <a:xfrm>
            <a:off x="8747200" y="5661665"/>
            <a:ext cx="37288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0" name="T150"/>
          <p:cNvSpPr/>
          <p:nvPr/>
        </p:nvSpPr>
        <p:spPr>
          <a:xfrm>
            <a:off x="8608640" y="5446345"/>
            <a:ext cx="650000" cy="18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0" i="1" dirty="0">
                <a:latin typeface="Calibri"/>
              </a:rPr>
              <a:t>Profile change request</a:t>
            </a:r>
          </a:p>
        </p:txBody>
      </p:sp>
      <p:sp>
        <p:nvSpPr>
          <p:cNvPr id="151" name="T151"/>
          <p:cNvSpPr/>
          <p:nvPr/>
        </p:nvSpPr>
        <p:spPr>
          <a:xfrm>
            <a:off x="457200" y="6650000"/>
            <a:ext cx="1136868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 i="1" dirty="0">
                <a:latin typeface="Calibri"/>
              </a:rPr>
              <a:t>Internal component = black border  ·  External system = grey fill  ·  Black arrow = request / call  ·  Dashed zone = platform boundary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Sequence Diagram — HRT Step-Up Authentication (Contact Info Change)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solidFill>
                  <a:srgbClr val="6B6B6B"/>
                </a:solidFill>
                <a:latin typeface="Calibri"/>
              </a:rPr>
              <a:t>Scenario: Customer user navigates to Change My Contact Info — HRT step-up enforced before data displayed (HRT 3 / HRT 5)</a:t>
            </a:r>
          </a:p>
        </p:txBody>
      </p:sp>
      <p:sp>
        <p:nvSpPr>
          <p:cNvPr id="4" name="LHbg_0"/>
          <p:cNvSpPr/>
          <p:nvPr/>
        </p:nvSpPr>
        <p:spPr>
          <a:xfrm>
            <a:off x="94268" y="1170432"/>
            <a:ext cx="1620231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</p:sp>
      <p:sp>
        <p:nvSpPr>
          <p:cNvPr id="5" name="LH_0"/>
          <p:cNvSpPr/>
          <p:nvPr/>
        </p:nvSpPr>
        <p:spPr>
          <a:xfrm>
            <a:off x="2286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Customer</a:t>
            </a:r>
          </a:p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6" name="LHbg_1"/>
          <p:cNvSpPr/>
          <p:nvPr/>
        </p:nvSpPr>
        <p:spPr>
          <a:xfrm>
            <a:off x="2113788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</p:sp>
      <p:sp>
        <p:nvSpPr>
          <p:cNvPr id="7" name="LH_1"/>
          <p:cNvSpPr/>
          <p:nvPr/>
        </p:nvSpPr>
        <p:spPr>
          <a:xfrm>
            <a:off x="2113788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UAP</a:t>
            </a:r>
          </a:p>
        </p:txBody>
      </p:sp>
      <p:sp>
        <p:nvSpPr>
          <p:cNvPr id="8" name="LHbg_2"/>
          <p:cNvSpPr/>
          <p:nvPr/>
        </p:nvSpPr>
        <p:spPr>
          <a:xfrm>
            <a:off x="4204716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LH_2"/>
          <p:cNvSpPr/>
          <p:nvPr/>
        </p:nvSpPr>
        <p:spPr>
          <a:xfrm>
            <a:off x="4204716" y="1255275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MUFG Exchange</a:t>
            </a:r>
          </a:p>
          <a:p>
            <a:pPr marL="0" indent="0" algn="ctr">
              <a:buNone/>
            </a:pPr>
            <a:endParaRPr lang="en-US" sz="115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LHbg_3"/>
          <p:cNvSpPr/>
          <p:nvPr/>
        </p:nvSpPr>
        <p:spPr>
          <a:xfrm>
            <a:off x="6295644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LH_3"/>
          <p:cNvSpPr/>
          <p:nvPr/>
        </p:nvSpPr>
        <p:spPr>
          <a:xfrm>
            <a:off x="6295644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Ping AIC(CIA)</a:t>
            </a:r>
          </a:p>
        </p:txBody>
      </p:sp>
      <p:sp>
        <p:nvSpPr>
          <p:cNvPr id="12" name="LHbg_4"/>
          <p:cNvSpPr/>
          <p:nvPr/>
        </p:nvSpPr>
        <p:spPr>
          <a:xfrm>
            <a:off x="8386572" y="1170432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</p:sp>
      <p:sp>
        <p:nvSpPr>
          <p:cNvPr id="13" name="LH_4"/>
          <p:cNvSpPr/>
          <p:nvPr/>
        </p:nvSpPr>
        <p:spPr>
          <a:xfrm>
            <a:off x="8386572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Ping Protect</a:t>
            </a:r>
          </a:p>
        </p:txBody>
      </p:sp>
      <p:sp>
        <p:nvSpPr>
          <p:cNvPr id="14" name="LHbg_5"/>
          <p:cNvSpPr/>
          <p:nvPr/>
        </p:nvSpPr>
        <p:spPr>
          <a:xfrm>
            <a:off x="10477500" y="1170432"/>
            <a:ext cx="1551099" cy="420624"/>
          </a:xfrm>
          <a:prstGeom prst="roundRect">
            <a:avLst>
              <a:gd name="adj" fmla="val 8000"/>
            </a:avLst>
          </a:prstGeom>
          <a:solidFill>
            <a:srgbClr val="A6192E"/>
          </a:solidFill>
          <a:ln/>
        </p:spPr>
      </p:sp>
      <p:sp>
        <p:nvSpPr>
          <p:cNvPr id="15" name="LH_5"/>
          <p:cNvSpPr/>
          <p:nvPr/>
        </p:nvSpPr>
        <p:spPr>
          <a:xfrm>
            <a:off x="10477500" y="117043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solidFill>
                  <a:srgbClr val="FFFFFF"/>
                </a:solidFill>
                <a:latin typeface="Calibri"/>
              </a:rPr>
              <a:t>RSA SecurID</a:t>
            </a:r>
          </a:p>
        </p:txBody>
      </p:sp>
      <p:sp>
        <p:nvSpPr>
          <p:cNvPr id="16" name="LL_0"/>
          <p:cNvSpPr/>
          <p:nvPr/>
        </p:nvSpPr>
        <p:spPr>
          <a:xfrm>
            <a:off x="86868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LL_1"/>
          <p:cNvSpPr/>
          <p:nvPr/>
        </p:nvSpPr>
        <p:spPr>
          <a:xfrm>
            <a:off x="2959608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LL_2"/>
          <p:cNvSpPr/>
          <p:nvPr/>
        </p:nvSpPr>
        <p:spPr>
          <a:xfrm>
            <a:off x="5050536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LL_3"/>
          <p:cNvSpPr/>
          <p:nvPr/>
        </p:nvSpPr>
        <p:spPr>
          <a:xfrm>
            <a:off x="7141464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LL_4"/>
          <p:cNvSpPr/>
          <p:nvPr/>
        </p:nvSpPr>
        <p:spPr>
          <a:xfrm>
            <a:off x="9232392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LL_5"/>
          <p:cNvSpPr/>
          <p:nvPr/>
        </p:nvSpPr>
        <p:spPr>
          <a:xfrm>
            <a:off x="11323320" y="1636776"/>
            <a:ext cx="0" cy="4626864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Arr_0"/>
          <p:cNvSpPr/>
          <p:nvPr/>
        </p:nvSpPr>
        <p:spPr>
          <a:xfrm>
            <a:off x="868680" y="1794753"/>
            <a:ext cx="20909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23" name="Lbl_0"/>
          <p:cNvSpPr/>
          <p:nvPr/>
        </p:nvSpPr>
        <p:spPr>
          <a:xfrm>
            <a:off x="906388" y="1528728"/>
            <a:ext cx="209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1. Select Change Contact Info</a:t>
            </a:r>
          </a:p>
        </p:txBody>
      </p:sp>
      <p:sp>
        <p:nvSpPr>
          <p:cNvPr id="24" name="Arr_1"/>
          <p:cNvSpPr/>
          <p:nvPr/>
        </p:nvSpPr>
        <p:spPr>
          <a:xfrm>
            <a:off x="2959608" y="2009056"/>
            <a:ext cx="20909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25" name="Lbl_1"/>
          <p:cNvSpPr/>
          <p:nvPr/>
        </p:nvSpPr>
        <p:spPr>
          <a:xfrm>
            <a:off x="3167002" y="1771312"/>
            <a:ext cx="209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2. HTTP request forwarded to </a:t>
            </a:r>
            <a:r>
              <a:rPr lang="en-US" sz="950" dirty="0">
                <a:solidFill>
                  <a:srgbClr val="262626"/>
                </a:solidFill>
                <a:latin typeface="Calibri"/>
              </a:rPr>
              <a:t>Exchange</a:t>
            </a:r>
            <a:endParaRPr lang="en-US" sz="95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6" name="Proc_2"/>
          <p:cNvSpPr/>
          <p:nvPr/>
        </p:nvSpPr>
        <p:spPr>
          <a:xfrm>
            <a:off x="3793236" y="2223359"/>
            <a:ext cx="2514600" cy="329184"/>
          </a:xfrm>
          <a:prstGeom prst="roundRect">
            <a:avLst>
              <a:gd name="adj" fmla="val 8000"/>
            </a:avLst>
          </a:prstGeom>
          <a:solidFill>
            <a:srgbClr val="FBF1F2"/>
          </a:solidFill>
          <a:ln w="9525">
            <a:solidFill>
              <a:srgbClr val="E0B7BD"/>
            </a:solidFill>
            <a:prstDash val="solid"/>
          </a:ln>
        </p:spPr>
      </p:sp>
      <p:sp>
        <p:nvSpPr>
          <p:cNvPr id="27" name="ProcT_2"/>
          <p:cNvSpPr/>
          <p:nvPr/>
        </p:nvSpPr>
        <p:spPr>
          <a:xfrm>
            <a:off x="3793236" y="219801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solidFill>
                  <a:srgbClr val="262626"/>
                </a:solidFill>
                <a:latin typeface="Calibri"/>
              </a:rPr>
              <a:t>3. Evaluate HRT route rule</a:t>
            </a:r>
          </a:p>
        </p:txBody>
      </p:sp>
      <p:sp>
        <p:nvSpPr>
          <p:cNvPr id="28" name="Arr_3"/>
          <p:cNvSpPr/>
          <p:nvPr/>
        </p:nvSpPr>
        <p:spPr>
          <a:xfrm>
            <a:off x="5050536" y="2776240"/>
            <a:ext cx="20909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none"/>
            <a:tailEnd type="triangle"/>
          </a:ln>
        </p:spPr>
      </p:sp>
      <p:sp>
        <p:nvSpPr>
          <p:cNvPr id="29" name="Lbl_3"/>
          <p:cNvSpPr/>
          <p:nvPr/>
        </p:nvSpPr>
        <p:spPr>
          <a:xfrm>
            <a:off x="5050536" y="2538496"/>
            <a:ext cx="209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4. Invoke HRT journey </a:t>
            </a:r>
          </a:p>
        </p:txBody>
      </p:sp>
      <p:sp>
        <p:nvSpPr>
          <p:cNvPr id="30" name="Arr_4"/>
          <p:cNvSpPr/>
          <p:nvPr/>
        </p:nvSpPr>
        <p:spPr>
          <a:xfrm>
            <a:off x="7141464" y="3094240"/>
            <a:ext cx="2090928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Lbl_4"/>
          <p:cNvSpPr/>
          <p:nvPr/>
        </p:nvSpPr>
        <p:spPr>
          <a:xfrm>
            <a:off x="7141464" y="2856496"/>
            <a:ext cx="209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5. Evaluate risk (device/IP)</a:t>
            </a:r>
          </a:p>
        </p:txBody>
      </p:sp>
      <p:sp>
        <p:nvSpPr>
          <p:cNvPr id="32" name="Arr_5"/>
          <p:cNvSpPr/>
          <p:nvPr/>
        </p:nvSpPr>
        <p:spPr>
          <a:xfrm>
            <a:off x="7141464" y="3412240"/>
            <a:ext cx="2090928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33" name="Lbl_5"/>
          <p:cNvSpPr/>
          <p:nvPr/>
        </p:nvSpPr>
        <p:spPr>
          <a:xfrm>
            <a:off x="7141464" y="3174496"/>
            <a:ext cx="209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6. Return risk score + level</a:t>
            </a:r>
          </a:p>
        </p:txBody>
      </p:sp>
      <p:sp>
        <p:nvSpPr>
          <p:cNvPr id="34" name="Arr_6"/>
          <p:cNvSpPr/>
          <p:nvPr/>
        </p:nvSpPr>
        <p:spPr>
          <a:xfrm>
            <a:off x="7141464" y="3730240"/>
            <a:ext cx="4181856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5" name="Lbl_6"/>
          <p:cNvSpPr/>
          <p:nvPr/>
        </p:nvSpPr>
        <p:spPr>
          <a:xfrm>
            <a:off x="7141464" y="3492496"/>
            <a:ext cx="418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7. Trigger OTP / Push step-up</a:t>
            </a:r>
          </a:p>
        </p:txBody>
      </p:sp>
      <p:sp>
        <p:nvSpPr>
          <p:cNvPr id="36" name="Arr_7"/>
          <p:cNvSpPr/>
          <p:nvPr/>
        </p:nvSpPr>
        <p:spPr>
          <a:xfrm>
            <a:off x="868680" y="4048240"/>
            <a:ext cx="6272784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37" name="Lbl_7"/>
          <p:cNvSpPr/>
          <p:nvPr/>
        </p:nvSpPr>
        <p:spPr>
          <a:xfrm>
            <a:off x="868680" y="3810496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8. Present MFA challenge to user</a:t>
            </a:r>
          </a:p>
        </p:txBody>
      </p:sp>
      <p:sp>
        <p:nvSpPr>
          <p:cNvPr id="38" name="Arr_8"/>
          <p:cNvSpPr/>
          <p:nvPr/>
        </p:nvSpPr>
        <p:spPr>
          <a:xfrm>
            <a:off x="868680" y="4366240"/>
            <a:ext cx="104546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9" name="Lbl_8"/>
          <p:cNvSpPr/>
          <p:nvPr/>
        </p:nvSpPr>
        <p:spPr>
          <a:xfrm>
            <a:off x="868680" y="4128496"/>
            <a:ext cx="1045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9. Submit OTP / push approval</a:t>
            </a:r>
          </a:p>
        </p:txBody>
      </p:sp>
      <p:sp>
        <p:nvSpPr>
          <p:cNvPr id="40" name="Arr_9"/>
          <p:cNvSpPr/>
          <p:nvPr/>
        </p:nvSpPr>
        <p:spPr>
          <a:xfrm>
            <a:off x="7141464" y="4684240"/>
            <a:ext cx="4181856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41" name="Lbl_9"/>
          <p:cNvSpPr/>
          <p:nvPr/>
        </p:nvSpPr>
        <p:spPr>
          <a:xfrm>
            <a:off x="7141464" y="4446496"/>
            <a:ext cx="418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10. Store HRT token to user</a:t>
            </a:r>
          </a:p>
        </p:txBody>
      </p:sp>
      <p:sp>
        <p:nvSpPr>
          <p:cNvPr id="42" name="Arr_10"/>
          <p:cNvSpPr/>
          <p:nvPr/>
        </p:nvSpPr>
        <p:spPr>
          <a:xfrm>
            <a:off x="868680" y="5002240"/>
            <a:ext cx="6272784" cy="0"/>
          </a:xfrm>
          <a:prstGeom prst="line">
            <a:avLst/>
          </a:prstGeom>
          <a:noFill/>
          <a:ln w="19050">
            <a:solidFill>
              <a:srgbClr val="7A1322"/>
            </a:solidFill>
            <a:prstDash val="dash"/>
            <a:headEnd type="triangle"/>
            <a:tailEnd type="none"/>
          </a:ln>
        </p:spPr>
      </p:sp>
      <p:sp>
        <p:nvSpPr>
          <p:cNvPr id="43" name="Lbl_10"/>
          <p:cNvSpPr/>
          <p:nvPr/>
        </p:nvSpPr>
        <p:spPr>
          <a:xfrm>
            <a:off x="1031240" y="4764496"/>
            <a:ext cx="6272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0" i="0" dirty="0">
                <a:solidFill>
                  <a:srgbClr val="262626"/>
                </a:solidFill>
                <a:latin typeface="Calibri"/>
              </a:rPr>
              <a:t>11. Redirect — display Contact Info page</a:t>
            </a:r>
          </a:p>
        </p:txBody>
      </p:sp>
      <p:sp>
        <p:nvSpPr>
          <p:cNvPr id="44" name="Legend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rgbClr val="6B6B6B"/>
                </a:solidFill>
                <a:latin typeface="Calibri"/>
              </a:rPr>
              <a:t>Red solid → request / call  ·  Dark-red dashed → response / return  ·  Red-tint box → processing step  ·  Steps numbered top → bottom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latin typeface="Calibri"/>
              </a:rPr>
              <a:t>Block Diagram — Dynatrace Integration &amp; Monitoring (DYN)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latin typeface="Calibri"/>
              </a:rPr>
              <a:t>Dynatrace agents across all CIAM components · Client+server trace correlation · Unified dashboards · Proactive alerting · Synthetic transactions</a:t>
            </a:r>
          </a:p>
        </p:txBody>
      </p:sp>
      <p:sp>
        <p:nvSpPr>
          <p:cNvPr id="4" name="Zone_0"/>
          <p:cNvSpPr/>
          <p:nvPr/>
        </p:nvSpPr>
        <p:spPr>
          <a:xfrm>
            <a:off x="457200" y="1417320"/>
            <a:ext cx="8055171" cy="43434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Lbl_0"/>
          <p:cNvSpPr/>
          <p:nvPr/>
        </p:nvSpPr>
        <p:spPr>
          <a:xfrm>
            <a:off x="548640" y="1481328"/>
            <a:ext cx="7872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latin typeface="Calibri"/>
              </a:rPr>
              <a:t>Dynatrace integration and Monitoring</a:t>
            </a:r>
          </a:p>
        </p:txBody>
      </p:sp>
      <p:sp>
        <p:nvSpPr>
          <p:cNvPr id="6" name="Box_0_0"/>
          <p:cNvSpPr/>
          <p:nvPr/>
        </p:nvSpPr>
        <p:spPr>
          <a:xfrm>
            <a:off x="594360" y="1835648"/>
            <a:ext cx="7780851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7" name="BT_0_0"/>
          <p:cNvSpPr/>
          <p:nvPr/>
        </p:nvSpPr>
        <p:spPr>
          <a:xfrm>
            <a:off x="685800" y="1924630"/>
            <a:ext cx="759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Login &amp; Authentication</a:t>
            </a:r>
          </a:p>
        </p:txBody>
      </p:sp>
      <p:sp>
        <p:nvSpPr>
          <p:cNvPr id="8" name="BS_0_0_0"/>
          <p:cNvSpPr/>
          <p:nvPr/>
        </p:nvSpPr>
        <p:spPr>
          <a:xfrm>
            <a:off x="685800" y="2238950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Login page, HRT step-up, SSO</a:t>
            </a:r>
          </a:p>
        </p:txBody>
      </p:sp>
      <p:sp>
        <p:nvSpPr>
          <p:cNvPr id="9" name="BS_0_0_1"/>
          <p:cNvSpPr/>
          <p:nvPr/>
        </p:nvSpPr>
        <p:spPr>
          <a:xfrm>
            <a:off x="685800" y="2482213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Synthetic transaction probes</a:t>
            </a:r>
          </a:p>
        </p:txBody>
      </p:sp>
      <p:sp>
        <p:nvSpPr>
          <p:cNvPr id="10" name="Box_0_1"/>
          <p:cNvSpPr/>
          <p:nvPr/>
        </p:nvSpPr>
        <p:spPr>
          <a:xfrm>
            <a:off x="594360" y="2816916"/>
            <a:ext cx="7780851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1" name="BT_0_1"/>
          <p:cNvSpPr/>
          <p:nvPr/>
        </p:nvSpPr>
        <p:spPr>
          <a:xfrm>
            <a:off x="685800" y="2905898"/>
            <a:ext cx="759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Provisioning &amp; Admin</a:t>
            </a:r>
          </a:p>
        </p:txBody>
      </p:sp>
      <p:sp>
        <p:nvSpPr>
          <p:cNvPr id="12" name="BS_0_1_0"/>
          <p:cNvSpPr/>
          <p:nvPr/>
        </p:nvSpPr>
        <p:spPr>
          <a:xfrm>
            <a:off x="685800" y="3220218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User provisioning flows</a:t>
            </a:r>
          </a:p>
        </p:txBody>
      </p:sp>
      <p:sp>
        <p:nvSpPr>
          <p:cNvPr id="13" name="BS_0_1_1"/>
          <p:cNvSpPr/>
          <p:nvPr/>
        </p:nvSpPr>
        <p:spPr>
          <a:xfrm>
            <a:off x="685800" y="3463481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UAP admin activities, EIP calls</a:t>
            </a:r>
          </a:p>
        </p:txBody>
      </p:sp>
      <p:sp>
        <p:nvSpPr>
          <p:cNvPr id="14" name="Box_0_2"/>
          <p:cNvSpPr/>
          <p:nvPr/>
        </p:nvSpPr>
        <p:spPr>
          <a:xfrm>
            <a:off x="594360" y="3798184"/>
            <a:ext cx="7780851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BT_0_2"/>
          <p:cNvSpPr/>
          <p:nvPr/>
        </p:nvSpPr>
        <p:spPr>
          <a:xfrm>
            <a:off x="685800" y="3887166"/>
            <a:ext cx="759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Platform Services</a:t>
            </a:r>
          </a:p>
        </p:txBody>
      </p:sp>
      <p:sp>
        <p:nvSpPr>
          <p:cNvPr id="16" name="BS_0_2_0"/>
          <p:cNvSpPr/>
          <p:nvPr/>
        </p:nvSpPr>
        <p:spPr>
          <a:xfrm>
            <a:off x="685800" y="4201486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RCS, IDG/PingGateway, PingProtect</a:t>
            </a:r>
          </a:p>
        </p:txBody>
      </p:sp>
      <p:sp>
        <p:nvSpPr>
          <p:cNvPr id="17" name="BS_0_2_1"/>
          <p:cNvSpPr/>
          <p:nvPr/>
        </p:nvSpPr>
        <p:spPr>
          <a:xfrm>
            <a:off x="685800" y="4444749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PingOne AIC journeys</a:t>
            </a:r>
          </a:p>
        </p:txBody>
      </p:sp>
      <p:sp>
        <p:nvSpPr>
          <p:cNvPr id="18" name="Box_0_3"/>
          <p:cNvSpPr/>
          <p:nvPr/>
        </p:nvSpPr>
        <p:spPr>
          <a:xfrm>
            <a:off x="594360" y="4779452"/>
            <a:ext cx="7780851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BT_0_3"/>
          <p:cNvSpPr/>
          <p:nvPr/>
        </p:nvSpPr>
        <p:spPr>
          <a:xfrm>
            <a:off x="685800" y="4868434"/>
            <a:ext cx="759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UAP Portal</a:t>
            </a:r>
          </a:p>
        </p:txBody>
      </p:sp>
      <p:sp>
        <p:nvSpPr>
          <p:cNvPr id="20" name="BS_0_3_0"/>
          <p:cNvSpPr/>
          <p:nvPr/>
        </p:nvSpPr>
        <p:spPr>
          <a:xfrm>
            <a:off x="685800" y="5182754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Front-end user interface</a:t>
            </a:r>
          </a:p>
        </p:txBody>
      </p:sp>
      <p:sp>
        <p:nvSpPr>
          <p:cNvPr id="21" name="BS_0_3_1"/>
          <p:cNvSpPr/>
          <p:nvPr/>
        </p:nvSpPr>
        <p:spPr>
          <a:xfrm>
            <a:off x="685800" y="5426017"/>
            <a:ext cx="7597971" cy="243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1" dirty="0">
                <a:latin typeface="Calibri"/>
              </a:rPr>
              <a:t>Browser-side RUM agent</a:t>
            </a:r>
          </a:p>
        </p:txBody>
      </p:sp>
      <p:sp>
        <p:nvSpPr>
          <p:cNvPr id="22" name="Zone_1"/>
          <p:cNvSpPr/>
          <p:nvPr/>
        </p:nvSpPr>
        <p:spPr>
          <a:xfrm>
            <a:off x="8603811" y="1417320"/>
            <a:ext cx="3222068" cy="4343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3" name="ZLbl_1"/>
          <p:cNvSpPr/>
          <p:nvPr/>
        </p:nvSpPr>
        <p:spPr>
          <a:xfrm>
            <a:off x="8695251" y="1481328"/>
            <a:ext cx="3039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latin typeface="Calibri"/>
              </a:rPr>
              <a:t>External System</a:t>
            </a:r>
          </a:p>
        </p:txBody>
      </p:sp>
      <p:sp>
        <p:nvSpPr>
          <p:cNvPr id="24" name="Box_1_0"/>
          <p:cNvSpPr/>
          <p:nvPr/>
        </p:nvSpPr>
        <p:spPr>
          <a:xfrm>
            <a:off x="8740971" y="1835648"/>
            <a:ext cx="2947748" cy="187109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5" name="BT_1_0"/>
          <p:cNvSpPr/>
          <p:nvPr/>
        </p:nvSpPr>
        <p:spPr>
          <a:xfrm>
            <a:off x="8832411" y="2022757"/>
            <a:ext cx="27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Dynatrace</a:t>
            </a:r>
          </a:p>
        </p:txBody>
      </p:sp>
      <p:sp>
        <p:nvSpPr>
          <p:cNvPr id="26" name="BS_1_0_0"/>
          <p:cNvSpPr/>
          <p:nvPr/>
        </p:nvSpPr>
        <p:spPr>
          <a:xfrm>
            <a:off x="8832411" y="2337077"/>
            <a:ext cx="2764868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APM &amp; Observability Platform</a:t>
            </a:r>
          </a:p>
        </p:txBody>
      </p:sp>
      <p:sp>
        <p:nvSpPr>
          <p:cNvPr id="27" name="Box_1_1"/>
          <p:cNvSpPr/>
          <p:nvPr/>
        </p:nvSpPr>
        <p:spPr>
          <a:xfrm>
            <a:off x="8740971" y="3798184"/>
            <a:ext cx="2947748" cy="187109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8" name="BT_1_1"/>
          <p:cNvSpPr/>
          <p:nvPr/>
        </p:nvSpPr>
        <p:spPr>
          <a:xfrm>
            <a:off x="8832411" y="3985293"/>
            <a:ext cx="2764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Capabilities</a:t>
            </a:r>
          </a:p>
        </p:txBody>
      </p:sp>
      <p:sp>
        <p:nvSpPr>
          <p:cNvPr id="29" name="BS_1_1_0"/>
          <p:cNvSpPr/>
          <p:nvPr/>
        </p:nvSpPr>
        <p:spPr>
          <a:xfrm>
            <a:off x="8832411" y="4299613"/>
            <a:ext cx="2764868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Performance metrics · Error detection · Client+server traces · Dashboards · Alerts</a:t>
            </a:r>
          </a:p>
        </p:txBody>
      </p:sp>
      <p:sp>
        <p:nvSpPr>
          <p:cNvPr id="30" name="CArr_30"/>
          <p:cNvSpPr/>
          <p:nvPr/>
        </p:nvSpPr>
        <p:spPr>
          <a:xfrm>
            <a:off x="8512371" y="28651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1" name="CbgA_31"/>
          <p:cNvSpPr/>
          <p:nvPr/>
        </p:nvSpPr>
        <p:spPr>
          <a:xfrm>
            <a:off x="8312371" y="25851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CLbl_32"/>
          <p:cNvSpPr/>
          <p:nvPr/>
        </p:nvSpPr>
        <p:spPr>
          <a:xfrm>
            <a:off x="8312371" y="25851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Agent telemetry</a:t>
            </a:r>
          </a:p>
        </p:txBody>
      </p:sp>
      <p:sp>
        <p:nvSpPr>
          <p:cNvPr id="33" name="CArr_33"/>
          <p:cNvSpPr/>
          <p:nvPr/>
        </p:nvSpPr>
        <p:spPr>
          <a:xfrm>
            <a:off x="8512371" y="43129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dash"/>
            <a:headEnd type="triangle"/>
            <a:tailEnd type="none"/>
          </a:ln>
        </p:spPr>
      </p:sp>
      <p:sp>
        <p:nvSpPr>
          <p:cNvPr id="34" name="CbgA_34"/>
          <p:cNvSpPr/>
          <p:nvPr/>
        </p:nvSpPr>
        <p:spPr>
          <a:xfrm>
            <a:off x="8312371" y="40329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CLbl_35"/>
          <p:cNvSpPr/>
          <p:nvPr/>
        </p:nvSpPr>
        <p:spPr>
          <a:xfrm>
            <a:off x="8312371" y="40329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Alert / dashboard update</a:t>
            </a:r>
          </a:p>
        </p:txBody>
      </p:sp>
      <p:sp>
        <p:nvSpPr>
          <p:cNvPr id="36" name="Legend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latin typeface="Calibri"/>
              </a:rPr>
              <a:t>Internal component = red border  ·  External system = grey fill  ·  Red arrow = request/call  ·  Dashed zone = platform boundary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743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i="0" dirty="0">
                <a:latin typeface="Calibri"/>
              </a:rPr>
              <a:t>Block Diagram — EIP Integration (OAuth + REST Translation)</a:t>
            </a:r>
          </a:p>
        </p:txBody>
      </p:sp>
      <p:sp>
        <p:nvSpPr>
          <p:cNvPr id="3" name="Sub"/>
          <p:cNvSpPr/>
          <p:nvPr/>
        </p:nvSpPr>
        <p:spPr>
          <a:xfrm>
            <a:off x="548640" y="786384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i="1" dirty="0">
                <a:latin typeface="Calibri"/>
              </a:rPr>
              <a:t>EIP acts as single gateway: OAuth auth · API translation (SOAP/proprietary → REST) · routing · error handling for all 5 target systems</a:t>
            </a:r>
          </a:p>
        </p:txBody>
      </p:sp>
      <p:sp>
        <p:nvSpPr>
          <p:cNvPr id="4" name="Zone_0"/>
          <p:cNvSpPr/>
          <p:nvPr/>
        </p:nvSpPr>
        <p:spPr>
          <a:xfrm>
            <a:off x="457200" y="1417320"/>
            <a:ext cx="3355740" cy="43434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5" name="ZLbl_0"/>
          <p:cNvSpPr/>
          <p:nvPr/>
        </p:nvSpPr>
        <p:spPr>
          <a:xfrm>
            <a:off x="548640" y="1481328"/>
            <a:ext cx="3172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latin typeface="Calibri"/>
              </a:rPr>
              <a:t>UAP Platform Zone</a:t>
            </a:r>
          </a:p>
        </p:txBody>
      </p:sp>
      <p:sp>
        <p:nvSpPr>
          <p:cNvPr id="6" name="Box_0_0"/>
          <p:cNvSpPr/>
          <p:nvPr/>
        </p:nvSpPr>
        <p:spPr>
          <a:xfrm>
            <a:off x="594360" y="1835648"/>
            <a:ext cx="3081420" cy="1871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7" name="BT_0_0"/>
          <p:cNvSpPr/>
          <p:nvPr/>
        </p:nvSpPr>
        <p:spPr>
          <a:xfrm>
            <a:off x="685800" y="2022757"/>
            <a:ext cx="2898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UAP Portal</a:t>
            </a:r>
          </a:p>
        </p:txBody>
      </p:sp>
      <p:sp>
        <p:nvSpPr>
          <p:cNvPr id="8" name="BS_0_0_0"/>
          <p:cNvSpPr/>
          <p:nvPr/>
        </p:nvSpPr>
        <p:spPr>
          <a:xfrm>
            <a:off x="685800" y="2337077"/>
            <a:ext cx="2898540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User-initiated request entry</a:t>
            </a:r>
          </a:p>
        </p:txBody>
      </p:sp>
      <p:sp>
        <p:nvSpPr>
          <p:cNvPr id="9" name="Box_0_1"/>
          <p:cNvSpPr/>
          <p:nvPr/>
        </p:nvSpPr>
        <p:spPr>
          <a:xfrm>
            <a:off x="594360" y="3798184"/>
            <a:ext cx="3081420" cy="1871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0" name="BT_0_1"/>
          <p:cNvSpPr/>
          <p:nvPr/>
        </p:nvSpPr>
        <p:spPr>
          <a:xfrm>
            <a:off x="685800" y="3985293"/>
            <a:ext cx="2898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latin typeface="Calibri"/>
              </a:rPr>
              <a:t>CIA</a:t>
            </a:r>
            <a:endParaRPr lang="en-US" sz="1150" b="1" i="0" dirty="0">
              <a:latin typeface="Calibri"/>
            </a:endParaRPr>
          </a:p>
        </p:txBody>
      </p:sp>
      <p:sp>
        <p:nvSpPr>
          <p:cNvPr id="11" name="BS_0_1_0"/>
          <p:cNvSpPr/>
          <p:nvPr/>
        </p:nvSpPr>
        <p:spPr>
          <a:xfrm>
            <a:off x="685800" y="4299613"/>
            <a:ext cx="2898540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Journey orchestration</a:t>
            </a:r>
          </a:p>
        </p:txBody>
      </p:sp>
      <p:sp>
        <p:nvSpPr>
          <p:cNvPr id="12" name="Zone_1"/>
          <p:cNvSpPr/>
          <p:nvPr/>
        </p:nvSpPr>
        <p:spPr>
          <a:xfrm>
            <a:off x="3904380" y="1417320"/>
            <a:ext cx="4382880" cy="4343400"/>
          </a:xfrm>
          <a:prstGeom prst="roundRect">
            <a:avLst>
              <a:gd name="adj" fmla="val 5000"/>
            </a:avLst>
          </a:prstGeom>
          <a:solidFill>
            <a:srgbClr val="FBF1F2"/>
          </a:solidFill>
          <a:ln w="12700">
            <a:solidFill>
              <a:srgbClr val="A6192E"/>
            </a:solidFill>
            <a:prstDash val="dash"/>
          </a:ln>
        </p:spPr>
      </p:sp>
      <p:sp>
        <p:nvSpPr>
          <p:cNvPr id="13" name="ZLbl_1"/>
          <p:cNvSpPr/>
          <p:nvPr/>
        </p:nvSpPr>
        <p:spPr>
          <a:xfrm>
            <a:off x="3995820" y="1481328"/>
            <a:ext cx="42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latin typeface="Calibri"/>
              </a:rPr>
              <a:t>EIP Gateway</a:t>
            </a:r>
          </a:p>
        </p:txBody>
      </p:sp>
      <p:sp>
        <p:nvSpPr>
          <p:cNvPr id="14" name="Box_1_0"/>
          <p:cNvSpPr/>
          <p:nvPr/>
        </p:nvSpPr>
        <p:spPr>
          <a:xfrm>
            <a:off x="4041540" y="1835648"/>
            <a:ext cx="4200000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5" name="BT_1_0"/>
          <p:cNvSpPr/>
          <p:nvPr/>
        </p:nvSpPr>
        <p:spPr>
          <a:xfrm>
            <a:off x="4132980" y="1924630"/>
            <a:ext cx="401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OAuth Authentication</a:t>
            </a:r>
          </a:p>
        </p:txBody>
      </p:sp>
      <p:sp>
        <p:nvSpPr>
          <p:cNvPr id="16" name="BS_1_0_0"/>
          <p:cNvSpPr/>
          <p:nvPr/>
        </p:nvSpPr>
        <p:spPr>
          <a:xfrm>
            <a:off x="4132980" y="2238950"/>
            <a:ext cx="4017120" cy="4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Access token acquisition</a:t>
            </a:r>
          </a:p>
        </p:txBody>
      </p:sp>
      <p:sp>
        <p:nvSpPr>
          <p:cNvPr id="17" name="Box_1_1"/>
          <p:cNvSpPr/>
          <p:nvPr/>
        </p:nvSpPr>
        <p:spPr>
          <a:xfrm>
            <a:off x="4041540" y="2816916"/>
            <a:ext cx="4200000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18" name="BT_1_1"/>
          <p:cNvSpPr/>
          <p:nvPr/>
        </p:nvSpPr>
        <p:spPr>
          <a:xfrm>
            <a:off x="4132980" y="2905898"/>
            <a:ext cx="401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API Translation</a:t>
            </a:r>
          </a:p>
        </p:txBody>
      </p:sp>
      <p:sp>
        <p:nvSpPr>
          <p:cNvPr id="19" name="BS_1_1_0"/>
          <p:cNvSpPr/>
          <p:nvPr/>
        </p:nvSpPr>
        <p:spPr>
          <a:xfrm>
            <a:off x="4132980" y="3220218"/>
            <a:ext cx="4017120" cy="4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SOAP / proprietary → REST</a:t>
            </a:r>
          </a:p>
        </p:txBody>
      </p:sp>
      <p:sp>
        <p:nvSpPr>
          <p:cNvPr id="20" name="Box_1_2"/>
          <p:cNvSpPr/>
          <p:nvPr/>
        </p:nvSpPr>
        <p:spPr>
          <a:xfrm>
            <a:off x="4041540" y="3798184"/>
            <a:ext cx="4200000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1" name="BT_1_2"/>
          <p:cNvSpPr/>
          <p:nvPr/>
        </p:nvSpPr>
        <p:spPr>
          <a:xfrm>
            <a:off x="4132980" y="3887166"/>
            <a:ext cx="401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Request Routing</a:t>
            </a:r>
          </a:p>
        </p:txBody>
      </p:sp>
      <p:sp>
        <p:nvSpPr>
          <p:cNvPr id="22" name="BS_1_2_0"/>
          <p:cNvSpPr/>
          <p:nvPr/>
        </p:nvSpPr>
        <p:spPr>
          <a:xfrm>
            <a:off x="4132980" y="4201486"/>
            <a:ext cx="4017120" cy="4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Routes to correct target system</a:t>
            </a:r>
          </a:p>
        </p:txBody>
      </p:sp>
      <p:sp>
        <p:nvSpPr>
          <p:cNvPr id="23" name="Box_1_3"/>
          <p:cNvSpPr/>
          <p:nvPr/>
        </p:nvSpPr>
        <p:spPr>
          <a:xfrm>
            <a:off x="4041540" y="4779452"/>
            <a:ext cx="4200000" cy="8898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A6192E"/>
            </a:solidFill>
            <a:prstDash val="solid"/>
          </a:ln>
        </p:spPr>
      </p:sp>
      <p:sp>
        <p:nvSpPr>
          <p:cNvPr id="24" name="BT_1_3"/>
          <p:cNvSpPr/>
          <p:nvPr/>
        </p:nvSpPr>
        <p:spPr>
          <a:xfrm>
            <a:off x="4132980" y="4868434"/>
            <a:ext cx="401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Error Handling</a:t>
            </a:r>
          </a:p>
        </p:txBody>
      </p:sp>
      <p:sp>
        <p:nvSpPr>
          <p:cNvPr id="25" name="BS_1_3_0"/>
          <p:cNvSpPr/>
          <p:nvPr/>
        </p:nvSpPr>
        <p:spPr>
          <a:xfrm>
            <a:off x="4132980" y="5182754"/>
            <a:ext cx="4017120" cy="486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Returns error to caller on failure</a:t>
            </a:r>
          </a:p>
        </p:txBody>
      </p:sp>
      <p:sp>
        <p:nvSpPr>
          <p:cNvPr id="26" name="Zone_2"/>
          <p:cNvSpPr/>
          <p:nvPr/>
        </p:nvSpPr>
        <p:spPr>
          <a:xfrm>
            <a:off x="8470140" y="1417320"/>
            <a:ext cx="3355740" cy="4343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7" name="ZLbl_2"/>
          <p:cNvSpPr/>
          <p:nvPr/>
        </p:nvSpPr>
        <p:spPr>
          <a:xfrm>
            <a:off x="8561580" y="1481328"/>
            <a:ext cx="3172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latin typeface="Calibri"/>
              </a:rPr>
              <a:t>Target Systems</a:t>
            </a:r>
          </a:p>
        </p:txBody>
      </p:sp>
      <p:sp>
        <p:nvSpPr>
          <p:cNvPr id="28" name="Box_2_0"/>
          <p:cNvSpPr/>
          <p:nvPr/>
        </p:nvSpPr>
        <p:spPr>
          <a:xfrm>
            <a:off x="8607300" y="1835648"/>
            <a:ext cx="3081420" cy="187109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29" name="BT_2_0"/>
          <p:cNvSpPr/>
          <p:nvPr/>
        </p:nvSpPr>
        <p:spPr>
          <a:xfrm>
            <a:off x="8698740" y="2022757"/>
            <a:ext cx="2898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LQC  ·  TBS  ·  Y48</a:t>
            </a:r>
          </a:p>
        </p:txBody>
      </p:sp>
      <p:sp>
        <p:nvSpPr>
          <p:cNvPr id="30" name="BS_2_0_0"/>
          <p:cNvSpPr/>
          <p:nvPr/>
        </p:nvSpPr>
        <p:spPr>
          <a:xfrm>
            <a:off x="8698740" y="2337077"/>
            <a:ext cx="2898540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REST / MQ endpoints</a:t>
            </a:r>
          </a:p>
        </p:txBody>
      </p:sp>
      <p:sp>
        <p:nvSpPr>
          <p:cNvPr id="31" name="Box_2_1"/>
          <p:cNvSpPr/>
          <p:nvPr/>
        </p:nvSpPr>
        <p:spPr>
          <a:xfrm>
            <a:off x="8607300" y="3798184"/>
            <a:ext cx="3081420" cy="187109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32" name="BT_2_1"/>
          <p:cNvSpPr/>
          <p:nvPr/>
        </p:nvSpPr>
        <p:spPr>
          <a:xfrm>
            <a:off x="8698740" y="3985293"/>
            <a:ext cx="2898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0" dirty="0">
                <a:latin typeface="Calibri"/>
              </a:rPr>
              <a:t>DTB  ·  SPY</a:t>
            </a:r>
          </a:p>
        </p:txBody>
      </p:sp>
      <p:sp>
        <p:nvSpPr>
          <p:cNvPr id="33" name="BS_2_1_0"/>
          <p:cNvSpPr/>
          <p:nvPr/>
        </p:nvSpPr>
        <p:spPr>
          <a:xfrm>
            <a:off x="8698740" y="4299613"/>
            <a:ext cx="2898540" cy="1369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REST / SAML SP</a:t>
            </a:r>
          </a:p>
        </p:txBody>
      </p:sp>
      <p:sp>
        <p:nvSpPr>
          <p:cNvPr id="34" name="CArr_34"/>
          <p:cNvSpPr/>
          <p:nvPr/>
        </p:nvSpPr>
        <p:spPr>
          <a:xfrm>
            <a:off x="3812940" y="28651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5" name="CbgA_35"/>
          <p:cNvSpPr/>
          <p:nvPr/>
        </p:nvSpPr>
        <p:spPr>
          <a:xfrm>
            <a:off x="3612940" y="25851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CLbl_36"/>
          <p:cNvSpPr/>
          <p:nvPr/>
        </p:nvSpPr>
        <p:spPr>
          <a:xfrm>
            <a:off x="3612940" y="25851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Route via EIP</a:t>
            </a:r>
          </a:p>
        </p:txBody>
      </p:sp>
      <p:sp>
        <p:nvSpPr>
          <p:cNvPr id="37" name="CArr_37"/>
          <p:cNvSpPr/>
          <p:nvPr/>
        </p:nvSpPr>
        <p:spPr>
          <a:xfrm>
            <a:off x="8378700" y="28651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solid"/>
            <a:headEnd type="none"/>
            <a:tailEnd type="triangle"/>
          </a:ln>
        </p:spPr>
      </p:sp>
      <p:sp>
        <p:nvSpPr>
          <p:cNvPr id="38" name="CbgA_38"/>
          <p:cNvSpPr/>
          <p:nvPr/>
        </p:nvSpPr>
        <p:spPr>
          <a:xfrm>
            <a:off x="8178700" y="25851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CLbl_39"/>
          <p:cNvSpPr/>
          <p:nvPr/>
        </p:nvSpPr>
        <p:spPr>
          <a:xfrm>
            <a:off x="8178700" y="25851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REST/SOAP API call</a:t>
            </a:r>
          </a:p>
        </p:txBody>
      </p:sp>
      <p:sp>
        <p:nvSpPr>
          <p:cNvPr id="40" name="CArr_40"/>
          <p:cNvSpPr/>
          <p:nvPr/>
        </p:nvSpPr>
        <p:spPr>
          <a:xfrm>
            <a:off x="8378700" y="43129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dash"/>
            <a:headEnd type="triangle"/>
            <a:tailEnd type="none"/>
          </a:ln>
        </p:spPr>
      </p:sp>
      <p:sp>
        <p:nvSpPr>
          <p:cNvPr id="41" name="CbgA_41"/>
          <p:cNvSpPr/>
          <p:nvPr/>
        </p:nvSpPr>
        <p:spPr>
          <a:xfrm>
            <a:off x="8178700" y="40329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CLbl_42"/>
          <p:cNvSpPr/>
          <p:nvPr/>
        </p:nvSpPr>
        <p:spPr>
          <a:xfrm>
            <a:off x="8178700" y="40329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Response</a:t>
            </a:r>
          </a:p>
        </p:txBody>
      </p:sp>
      <p:sp>
        <p:nvSpPr>
          <p:cNvPr id="43" name="CArr_43"/>
          <p:cNvSpPr/>
          <p:nvPr/>
        </p:nvSpPr>
        <p:spPr>
          <a:xfrm>
            <a:off x="3812940" y="4312920"/>
            <a:ext cx="91440" cy="0"/>
          </a:xfrm>
          <a:prstGeom prst="line">
            <a:avLst/>
          </a:prstGeom>
          <a:noFill/>
          <a:ln w="19050">
            <a:solidFill>
              <a:srgbClr val="A6192E"/>
            </a:solidFill>
            <a:prstDash val="dash"/>
            <a:headEnd type="triangle"/>
            <a:tailEnd type="none"/>
          </a:ln>
        </p:spPr>
      </p:sp>
      <p:sp>
        <p:nvSpPr>
          <p:cNvPr id="44" name="CbgA_44"/>
          <p:cNvSpPr/>
          <p:nvPr/>
        </p:nvSpPr>
        <p:spPr>
          <a:xfrm>
            <a:off x="3612940" y="4032920"/>
            <a:ext cx="4914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CLbl_45"/>
          <p:cNvSpPr/>
          <p:nvPr/>
        </p:nvSpPr>
        <p:spPr>
          <a:xfrm>
            <a:off x="3612940" y="4032920"/>
            <a:ext cx="4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0" i="0" dirty="0">
                <a:latin typeface="Calibri"/>
              </a:rPr>
              <a:t>Result</a:t>
            </a:r>
          </a:p>
        </p:txBody>
      </p:sp>
      <p:sp>
        <p:nvSpPr>
          <p:cNvPr id="46" name="Legend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0" i="1" dirty="0">
                <a:latin typeface="Calibri"/>
              </a:rPr>
              <a:t>Internal component = red border  ·  External system = grey fill  ·  Red arrow = request/call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585</Words>
  <Application>Microsoft Office PowerPoint</Application>
  <PresentationFormat>Widescreen</PresentationFormat>
  <Paragraphs>114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Nisheeth Bhardwaj</cp:lastModifiedBy>
  <cp:revision>5</cp:revision>
  <dcterms:created xsi:type="dcterms:W3CDTF">2013-01-27T09:14:16Z</dcterms:created>
  <dcterms:modified xsi:type="dcterms:W3CDTF">2026-07-09T11:45:06Z</dcterms:modified>
  <cp:category/>
</cp:coreProperties>
</file>