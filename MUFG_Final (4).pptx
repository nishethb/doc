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Document — Diagram Standards, Templates &amp; Examples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2514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MUFG CIAM  ·  use on every sequence, block, and flow diagram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10058400" cy="2240280"/>
          </a:xfrm>
          <a:prstGeom prst="roundRect">
            <a:avLst>
              <a:gd name="adj" fmla="val 2041"/>
            </a:avLst>
          </a:prstGeom>
          <a:solidFill>
            <a:srgbClr val="FB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3566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 pack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3977640"/>
            <a:ext cx="9418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(slide 2) define the colours, fonts, arrows, and numbering — use them on every diagram.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(slides 3–4) are skeletons: duplicate one, rename the boxes, replace the &lt;placeholders&gt;.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(slides 5–6) show the expected level of detail — match it; don’t leave things to assumption.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restyle. Consistency is what removes rework when we consolidate the document.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  ·  MUFG  ·  Ping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standards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292608" cy="292608"/>
          </a:xfrm>
          <a:prstGeom prst="roundRect">
            <a:avLst>
              <a:gd name="adj" fmla="val 9375"/>
            </a:avLst>
          </a:prstGeom>
          <a:solidFill>
            <a:srgbClr val="A6192E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9961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red · #A6192E
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· request arrows · accents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2039112"/>
            <a:ext cx="292608" cy="292608"/>
          </a:xfrm>
          <a:prstGeom prst="roundRect">
            <a:avLst>
              <a:gd name="adj" fmla="val 9375"/>
            </a:avLst>
          </a:prstGeom>
          <a:solidFill>
            <a:srgbClr val="7A1322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0253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red · #7A1322
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· return arrows (dashed)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542032"/>
            <a:ext cx="292608" cy="292608"/>
          </a:xfrm>
          <a:prstGeom prst="roundRect">
            <a:avLst>
              <a:gd name="adj" fmla="val 9375"/>
            </a:avLst>
          </a:prstGeom>
          <a:solidFill>
            <a:srgbClr val="262626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5054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· #262626
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&amp; label text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3044952"/>
            <a:ext cx="292608" cy="292608"/>
          </a:xfrm>
          <a:prstGeom prst="roundRect">
            <a:avLst>
              <a:gd name="adj" fmla="val 9375"/>
            </a:avLst>
          </a:prstGeom>
          <a:solidFill>
            <a:srgbClr val="6B6B6B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00837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 grey · #6B6B6B
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captions, secondary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547872"/>
            <a:ext cx="292608" cy="292608"/>
          </a:xfrm>
          <a:prstGeom prst="roundRect">
            <a:avLst>
              <a:gd name="adj" fmla="val 9375"/>
            </a:avLst>
          </a:prstGeom>
          <a:solidFill>
            <a:srgbClr val="9AA0A6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51129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 grey · #9AA0A6
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lifelines (dashed)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4050792"/>
            <a:ext cx="292608" cy="292608"/>
          </a:xfrm>
          <a:prstGeom prst="roundRect">
            <a:avLst>
              <a:gd name="adj" fmla="val 9375"/>
            </a:avLst>
          </a:prstGeom>
          <a:solidFill>
            <a:srgbClr val="FBF1F2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01421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tint · #FBF1F2
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notes · zones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553712"/>
            <a:ext cx="292608" cy="292608"/>
          </a:xfrm>
          <a:prstGeom prst="roundRect">
            <a:avLst>
              <a:gd name="adj" fmla="val 9375"/>
            </a:avLst>
          </a:prstGeom>
          <a:solidFill>
            <a:srgbClr val="E0B7BD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51713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border · #E0B7BD
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/ callout outline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5056632"/>
            <a:ext cx="292608" cy="292608"/>
          </a:xfrm>
          <a:prstGeom prst="roundRect">
            <a:avLst>
              <a:gd name="adj" fmla="val 9375"/>
            </a:avLst>
          </a:prstGeom>
          <a:solidFill>
            <a:srgbClr val="F1F1F1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0200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grey · #F1F1F1
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external-system fill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3484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&amp; layout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434840" y="1508760"/>
            <a:ext cx="3246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Titles: Calibri Bold, 14pt, dark red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/ lifeline headers: Calibri Bold, 12–13pt, white on red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Calibri, 10pt, ink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Notes: Calibri, 9pt, grey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Canvas: 16:9 widescreen, white background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every step — time top → bottom, actors left → right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labels short; one idea per arrow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0100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Lines, arrows &amp; shapes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595360" y="1554480"/>
            <a:ext cx="0" cy="36576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9281160" y="157276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 (dashed, grey)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92440" y="2395728"/>
            <a:ext cx="100584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9281160" y="223113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/ sync call (red, solid)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92440" y="3054096"/>
            <a:ext cx="1005840" cy="0"/>
          </a:xfrm>
          <a:prstGeom prst="line">
            <a:avLst/>
          </a:prstGeom>
          <a:noFill/>
          <a:ln w="1905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9281160" y="288950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/ return (dark red, dashed)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92440" y="3557016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FBF1F2"/>
          </a:solidFill>
          <a:ln w="9525">
            <a:solidFill>
              <a:srgbClr val="E0B7B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81160" y="354787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/ self step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92440" y="4206240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92440" y="42062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281160" y="420624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— internal (red border)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92440" y="4864608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92440" y="486460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281160" y="48646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 (grey fill)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— sequence diagram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this slide · rename the lifelines · replace &lt;placeholders&gt; · keep colours, arrows &amp; numbering as-is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5780" y="1234440"/>
            <a:ext cx="1691640" cy="420624"/>
          </a:xfrm>
          <a:prstGeom prst="roundRect">
            <a:avLst>
              <a:gd name="adj" fmla="val 10870"/>
            </a:avLst>
          </a:prstGeom>
          <a:solidFill>
            <a:srgbClr val="A6192E"/>
          </a:solidFill>
          <a:ln/>
        </p:spPr>
      </p:sp>
      <p:sp>
        <p:nvSpPr>
          <p:cNvPr id="5" name="Text 3"/>
          <p:cNvSpPr/>
          <p:nvPr/>
        </p:nvSpPr>
        <p:spPr>
          <a:xfrm>
            <a:off x="52578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811780" y="1234440"/>
            <a:ext cx="1691640" cy="420624"/>
          </a:xfrm>
          <a:prstGeom prst="roundRect">
            <a:avLst>
              <a:gd name="adj" fmla="val 10870"/>
            </a:avLst>
          </a:prstGeom>
          <a:solidFill>
            <a:srgbClr val="A6192E"/>
          </a:solidFill>
          <a:ln/>
        </p:spPr>
      </p:sp>
      <p:sp>
        <p:nvSpPr>
          <p:cNvPr id="8" name="Text 6"/>
          <p:cNvSpPr/>
          <p:nvPr/>
        </p:nvSpPr>
        <p:spPr>
          <a:xfrm>
            <a:off x="281178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189220" y="1234440"/>
            <a:ext cx="1691640" cy="420624"/>
          </a:xfrm>
          <a:prstGeom prst="roundRect">
            <a:avLst>
              <a:gd name="adj" fmla="val 10870"/>
            </a:avLst>
          </a:prstGeom>
          <a:solidFill>
            <a:srgbClr val="A6192E"/>
          </a:solidFill>
          <a:ln/>
        </p:spPr>
      </p:sp>
      <p:sp>
        <p:nvSpPr>
          <p:cNvPr id="11" name="Text 9"/>
          <p:cNvSpPr/>
          <p:nvPr/>
        </p:nvSpPr>
        <p:spPr>
          <a:xfrm>
            <a:off x="518922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7566660" y="1234440"/>
            <a:ext cx="1691640" cy="420624"/>
          </a:xfrm>
          <a:prstGeom prst="roundRect">
            <a:avLst>
              <a:gd name="adj" fmla="val 10870"/>
            </a:avLst>
          </a:prstGeom>
          <a:solidFill>
            <a:srgbClr val="A6192E"/>
          </a:solidFill>
          <a:ln/>
        </p:spPr>
      </p:sp>
      <p:sp>
        <p:nvSpPr>
          <p:cNvPr id="14" name="Text 12"/>
          <p:cNvSpPr/>
          <p:nvPr/>
        </p:nvSpPr>
        <p:spPr>
          <a:xfrm>
            <a:off x="756666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9944100" y="1234440"/>
            <a:ext cx="1691640" cy="420624"/>
          </a:xfrm>
          <a:prstGeom prst="roundRect">
            <a:avLst>
              <a:gd name="adj" fmla="val 10870"/>
            </a:avLst>
          </a:prstGeom>
          <a:solidFill>
            <a:srgbClr val="A6192E"/>
          </a:solidFill>
          <a:ln/>
        </p:spPr>
      </p:sp>
      <p:sp>
        <p:nvSpPr>
          <p:cNvPr id="17" name="Text 15"/>
          <p:cNvSpPr/>
          <p:nvPr/>
        </p:nvSpPr>
        <p:spPr>
          <a:xfrm>
            <a:off x="9944100" y="123444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789920" y="1700784"/>
            <a:ext cx="0" cy="428853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657600" y="2148840"/>
            <a:ext cx="237744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657600" y="18745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&lt;request&gt;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2715768"/>
            <a:ext cx="237744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035040" y="24414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&lt;forward&gt;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269480" y="3118104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FBF1F2"/>
          </a:solidFill>
          <a:ln w="9525">
            <a:solidFill>
              <a:srgbClr val="E0B7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31181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&lt;processing step&gt;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0" y="3849624"/>
            <a:ext cx="4754880" cy="0"/>
          </a:xfrm>
          <a:prstGeom prst="line">
            <a:avLst/>
          </a:prstGeom>
          <a:noFill/>
          <a:ln w="19050">
            <a:solidFill>
              <a:srgbClr val="7A1322"/>
            </a:solidFill>
            <a:prstDash val="dash"/>
            <a:headEnd type="triangl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3657600" y="357530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&lt;return&gt;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371600" y="4416552"/>
            <a:ext cx="2286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triangl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1371600" y="44531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&lt;pass result&gt;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0" y="4983480"/>
            <a:ext cx="4754880" cy="0"/>
          </a:xfrm>
          <a:prstGeom prst="line">
            <a:avLst/>
          </a:prstGeom>
          <a:noFill/>
          <a:ln w="19050">
            <a:solidFill>
              <a:srgbClr val="7A1322"/>
            </a:solidFill>
            <a:prstDash val="dash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3657600" y="470916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&lt;validate / async&gt;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→ request   ·   Dark-red dashed → response / validate   ·   Red-tint box → processing   ·   number every step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— block diagram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this slide · rename boxes, add/remove components · label every connector · internal = red border, external = grey fill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406640" cy="3931920"/>
          </a:xfrm>
          <a:prstGeom prst="roundRect">
            <a:avLst>
              <a:gd name="adj" fmla="val 1163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/ trust boundary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34440" y="2377440"/>
            <a:ext cx="22860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377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2377440"/>
            <a:ext cx="22860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377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4023360"/>
            <a:ext cx="22860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4023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69680" y="2377440"/>
            <a:ext cx="2560320" cy="1005840"/>
          </a:xfrm>
          <a:prstGeom prst="roundRect">
            <a:avLst>
              <a:gd name="adj" fmla="val 4545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0" y="23774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20440" y="2880360"/>
            <a:ext cx="105156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520440" y="261518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&lt;flow&gt;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15000" y="3383280"/>
            <a:ext cx="0" cy="64008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806440" y="35204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&lt;flow&gt;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0" y="2880360"/>
            <a:ext cx="201168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triangl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6949440" y="26151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&lt;call&gt;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5751576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7332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component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08960" y="5751576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57332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60720" y="5897880"/>
            <a:ext cx="73152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583680" y="5733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(label the flow)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601200" y="5751576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0058400" y="57332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/ boundary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login sequence (returning user, risk-based)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 built to the standard — returning DSH user, RSA already enrolled. This is the level of detail to match.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2860" y="1170432"/>
            <a:ext cx="1691640" cy="420624"/>
          </a:xfrm>
          <a:prstGeom prst="roundRect">
            <a:avLst>
              <a:gd name="adj" fmla="val 10870"/>
            </a:avLst>
          </a:prstGeom>
          <a:solidFill>
            <a:srgbClr val="A6192E"/>
          </a:solidFill>
          <a:ln/>
        </p:spPr>
      </p:sp>
      <p:sp>
        <p:nvSpPr>
          <p:cNvPr id="5" name="Text 3"/>
          <p:cNvSpPr/>
          <p:nvPr/>
        </p:nvSpPr>
        <p:spPr>
          <a:xfrm>
            <a:off x="22860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043684" y="1170432"/>
            <a:ext cx="1691640" cy="420624"/>
          </a:xfrm>
          <a:prstGeom prst="roundRect">
            <a:avLst>
              <a:gd name="adj" fmla="val 10870"/>
            </a:avLst>
          </a:prstGeom>
          <a:solidFill>
            <a:srgbClr val="A6192E"/>
          </a:solidFill>
          <a:ln/>
        </p:spPr>
      </p:sp>
      <p:sp>
        <p:nvSpPr>
          <p:cNvPr id="8" name="Text 6"/>
          <p:cNvSpPr/>
          <p:nvPr/>
        </p:nvSpPr>
        <p:spPr>
          <a:xfrm>
            <a:off x="2043684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89504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064508" y="1170432"/>
            <a:ext cx="1691640" cy="420624"/>
          </a:xfrm>
          <a:prstGeom prst="roundRect">
            <a:avLst>
              <a:gd name="adj" fmla="val 10870"/>
            </a:avLst>
          </a:prstGeom>
          <a:solidFill>
            <a:srgbClr val="A6192E"/>
          </a:solidFill>
          <a:ln/>
        </p:spPr>
      </p:sp>
      <p:sp>
        <p:nvSpPr>
          <p:cNvPr id="11" name="Text 9"/>
          <p:cNvSpPr/>
          <p:nvPr/>
        </p:nvSpPr>
        <p:spPr>
          <a:xfrm>
            <a:off x="4064508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10328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085332" y="1170432"/>
            <a:ext cx="1691640" cy="420624"/>
          </a:xfrm>
          <a:prstGeom prst="roundRect">
            <a:avLst>
              <a:gd name="adj" fmla="val 10870"/>
            </a:avLst>
          </a:prstGeom>
          <a:solidFill>
            <a:srgbClr val="A6192E"/>
          </a:solidFill>
          <a:ln/>
        </p:spPr>
      </p:sp>
      <p:sp>
        <p:nvSpPr>
          <p:cNvPr id="14" name="Text 12"/>
          <p:cNvSpPr/>
          <p:nvPr/>
        </p:nvSpPr>
        <p:spPr>
          <a:xfrm>
            <a:off x="6085332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31152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106156" y="1170432"/>
            <a:ext cx="1691640" cy="420624"/>
          </a:xfrm>
          <a:prstGeom prst="roundRect">
            <a:avLst>
              <a:gd name="adj" fmla="val 10870"/>
            </a:avLst>
          </a:prstGeom>
          <a:solidFill>
            <a:srgbClr val="A6192E"/>
          </a:solidFill>
          <a:ln/>
        </p:spPr>
      </p:sp>
      <p:sp>
        <p:nvSpPr>
          <p:cNvPr id="17" name="Text 15"/>
          <p:cNvSpPr/>
          <p:nvPr/>
        </p:nvSpPr>
        <p:spPr>
          <a:xfrm>
            <a:off x="8106156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Protect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51976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0126980" y="1170432"/>
            <a:ext cx="1691640" cy="420624"/>
          </a:xfrm>
          <a:prstGeom prst="roundRect">
            <a:avLst>
              <a:gd name="adj" fmla="val 10870"/>
            </a:avLst>
          </a:prstGeom>
          <a:solidFill>
            <a:srgbClr val="A6192E"/>
          </a:solidFill>
          <a:ln/>
        </p:spPr>
      </p:sp>
      <p:sp>
        <p:nvSpPr>
          <p:cNvPr id="20" name="Text 18"/>
          <p:cNvSpPr/>
          <p:nvPr/>
        </p:nvSpPr>
        <p:spPr>
          <a:xfrm>
            <a:off x="10126980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SecurID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972800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868680" y="1691640"/>
            <a:ext cx="2020824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868680" y="141732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portal, click Log in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889504" y="2025396"/>
            <a:ext cx="2020824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889504" y="175107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OIDC authorize request (via EIP)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10328" y="2359152"/>
            <a:ext cx="2020824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4910328" y="2084832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Start login journey — present credentials page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68680" y="2692908"/>
            <a:ext cx="6062472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68680" y="2418588"/>
            <a:ext cx="6062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Submit username + password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73852" y="2862072"/>
            <a:ext cx="2514600" cy="329184"/>
          </a:xfrm>
          <a:prstGeom prst="roundRect">
            <a:avLst>
              <a:gd name="adj" fmla="val 13889"/>
            </a:avLst>
          </a:prstGeom>
          <a:solidFill>
            <a:srgbClr val="FBF1F2"/>
          </a:solidFill>
          <a:ln w="9525">
            <a:solidFill>
              <a:srgbClr val="E0B7B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73852" y="28620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Validate credentials vs Ping Directory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931152" y="3360420"/>
            <a:ext cx="2020824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6931152" y="339699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Evaluate risk (device, IP, velocity)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931152" y="3694176"/>
            <a:ext cx="2020824" cy="0"/>
          </a:xfrm>
          <a:prstGeom prst="line">
            <a:avLst/>
          </a:prstGeom>
          <a:noFill/>
          <a:ln w="19050">
            <a:solidFill>
              <a:srgbClr val="7A1322"/>
            </a:solidFill>
            <a:prstDash val="dash"/>
            <a:headEnd type="triangle"/>
            <a:tailEnd type="none"/>
          </a:ln>
        </p:spPr>
      </p:sp>
      <p:sp>
        <p:nvSpPr>
          <p:cNvPr id="35" name="Text 33"/>
          <p:cNvSpPr/>
          <p:nvPr/>
        </p:nvSpPr>
        <p:spPr>
          <a:xfrm>
            <a:off x="6931152" y="34198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Return risk score + level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73852" y="3863340"/>
            <a:ext cx="2514600" cy="329184"/>
          </a:xfrm>
          <a:prstGeom prst="roundRect">
            <a:avLst>
              <a:gd name="adj" fmla="val 13889"/>
            </a:avLst>
          </a:prstGeom>
          <a:solidFill>
            <a:srgbClr val="FBF1F2"/>
          </a:solidFill>
          <a:ln w="9525">
            <a:solidFill>
              <a:srgbClr val="E0B7B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73852" y="38633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Policy: Low → proceed; Med/High → step-up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931152" y="4361688"/>
            <a:ext cx="4041648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6931152" y="439826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[if step-up] Trigger SecurID (OTP / push)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931152" y="4695444"/>
            <a:ext cx="4041648" cy="0"/>
          </a:xfrm>
          <a:prstGeom prst="line">
            <a:avLst/>
          </a:prstGeom>
          <a:noFill/>
          <a:ln w="19050">
            <a:solidFill>
              <a:srgbClr val="7A1322"/>
            </a:solidFill>
            <a:prstDash val="dash"/>
            <a:headEnd type="triangle"/>
            <a:tailEnd type="none"/>
          </a:ln>
        </p:spPr>
      </p:sp>
      <p:sp>
        <p:nvSpPr>
          <p:cNvPr id="41" name="Text 39"/>
          <p:cNvSpPr/>
          <p:nvPr/>
        </p:nvSpPr>
        <p:spPr>
          <a:xfrm>
            <a:off x="6931152" y="442112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Step-up result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673852" y="4864608"/>
            <a:ext cx="2514600" cy="329184"/>
          </a:xfrm>
          <a:prstGeom prst="roundRect">
            <a:avLst>
              <a:gd name="adj" fmla="val 13889"/>
            </a:avLst>
          </a:prstGeom>
          <a:solidFill>
            <a:srgbClr val="FBF1F2"/>
          </a:solidFill>
          <a:ln w="9525">
            <a:solidFill>
              <a:srgbClr val="E0B7B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73852" y="486460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Set session, ACR/AMR, store risk to user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910328" y="5362956"/>
            <a:ext cx="2020824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triangle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4910328" y="5399532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Issue auth code → ID + access tokens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889504" y="5696712"/>
            <a:ext cx="2020824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triangle"/>
            <a:tailEnd type="none"/>
          </a:ln>
        </p:spPr>
      </p:sp>
      <p:sp>
        <p:nvSpPr>
          <p:cNvPr id="47" name="Text 45"/>
          <p:cNvSpPr/>
          <p:nvPr/>
        </p:nvSpPr>
        <p:spPr>
          <a:xfrm>
            <a:off x="2889504" y="5422392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Return tokens (via EIP)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68680" y="6030468"/>
            <a:ext cx="2020824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triangle"/>
            <a:tailEnd type="none"/>
          </a:ln>
        </p:spPr>
      </p:sp>
      <p:sp>
        <p:nvSpPr>
          <p:cNvPr id="49" name="Text 47"/>
          <p:cNvSpPr/>
          <p:nvPr/>
        </p:nvSpPr>
        <p:spPr>
          <a:xfrm>
            <a:off x="868680" y="5756148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Logged in — render portal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high-level architecture (target state)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 built to the standard. Internal = red border, connected / legacy = grey. Every component carries its role; every connector is labelled.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377440" cy="4343400"/>
          </a:xfrm>
          <a:prstGeom prst="roundRect">
            <a:avLst>
              <a:gd name="adj" fmla="val 1923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66928" y="148132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&amp; apps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017520" y="1417320"/>
            <a:ext cx="2240280" cy="4343400"/>
          </a:xfrm>
          <a:prstGeom prst="roundRect">
            <a:avLst>
              <a:gd name="adj" fmla="val 2041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127248" y="1481328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gateway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40680" y="1417320"/>
            <a:ext cx="2788920" cy="4343400"/>
          </a:xfrm>
          <a:prstGeom prst="roundRect">
            <a:avLst>
              <a:gd name="adj" fmla="val 1639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550408" y="1481328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PingOne AIC platform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12480" y="1417320"/>
            <a:ext cx="3291840" cy="4343400"/>
          </a:xfrm>
          <a:prstGeom prst="roundRect">
            <a:avLst>
              <a:gd name="adj" fmla="val 1389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8522208" y="148132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systems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2331720"/>
            <a:ext cx="21031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42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7512" y="289864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Crown-jewel portal · OIDC RP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4360" y="3657600"/>
            <a:ext cx="21031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9684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DTB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7512" y="422452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banking · SAML SP · step-up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54680" y="2331720"/>
            <a:ext cx="19202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26426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27832" y="289864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· north-south ingress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54680" y="3657600"/>
            <a:ext cx="19202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41285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Gateway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27832" y="438454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· Transmit emulation · PEP · token reshaping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577840" y="23317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23957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760720" y="27432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journeys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/ OIDC (PAR, ACR, AMR)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&amp; tokens (CTS)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identities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77840" y="4526280"/>
            <a:ext cx="25146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47457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Protect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50992" y="500176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fraud signals · replaces RSA Outseer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549640" y="2331720"/>
            <a:ext cx="30175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49640" y="25283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Connector Server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622792" y="278434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 AIC to on-prem stores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549640" y="3429000"/>
            <a:ext cx="1435608" cy="9144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49640" y="3648456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Directory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622792" y="3904488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store · users, creds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0131552" y="3429000"/>
            <a:ext cx="1435608" cy="9144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31552" y="3648456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204704" y="3904488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data source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549640" y="4526280"/>
            <a:ext cx="3017520" cy="9144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49640" y="47457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SecurID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622792" y="500176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authenticator · OTP / push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697480" y="2880360"/>
            <a:ext cx="4572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2377440" y="2578608"/>
            <a:ext cx="109728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2377440" y="25694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/ SAML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074920" y="2880360"/>
            <a:ext cx="50292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828032" y="2578608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4828032" y="25694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092440" y="2880360"/>
            <a:ext cx="4572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635240" y="2578608"/>
            <a:ext cx="13716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7635240" y="2569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step-up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835140" y="4297680"/>
            <a:ext cx="0" cy="22860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972300" y="4288536"/>
            <a:ext cx="86868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6972300" y="427939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eval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9262872" y="3200400"/>
            <a:ext cx="0" cy="22860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8567928" y="3191256"/>
            <a:ext cx="64008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8567928" y="31821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0844784" y="3200400"/>
            <a:ext cx="0" cy="22860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10149840" y="3191256"/>
            <a:ext cx="64008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10149840" y="31821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shown as zones · every component carries its role · every connector is labelled — match this level of detail.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RT Block Diagra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00000"/>
            <a:ext cx="11091672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 pitchFamily="34" charset="0"/>
              </a:rPr>
              <a:t>Block Diagram — Security &amp; High Risk Transaction (HRT)</a:t>
            </a:r>
          </a:p>
        </p:txBody>
      </p:sp>
      <p:sp>
        <p:nvSpPr>
          <p:cNvPr id="3" name="Subtitle"/>
          <p:cNvSpPr/>
          <p:nvPr/>
        </p:nvSpPr>
        <p:spPr>
          <a:xfrm>
            <a:off x="548640" y="650000"/>
            <a:ext cx="11091672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</a:rPr>
              <a:t>Internal = red border · External = grey fill · HRT step-up enforced before sensitive data changes · MFA challenge via PingOne Protect</a:t>
            </a:r>
          </a:p>
        </p:txBody>
      </p:sp>
      <p:sp>
        <p:nvSpPr>
          <p:cNvPr id="4" name="Zone_UAP"/>
          <p:cNvSpPr/>
          <p:nvPr/>
        </p:nvSpPr>
        <p:spPr>
          <a:xfrm>
            <a:off x="548640" y="1000000"/>
            <a:ext cx="7200000" cy="5400000"/>
          </a:xfrm>
          <a:prstGeom prst="roundRect">
            <a:avLst>
              <a:gd name="adj" fmla="val 10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Zone_UAP_Label"/>
          <p:cNvSpPr/>
          <p:nvPr/>
        </p:nvSpPr>
        <p:spPr>
          <a:xfrm>
            <a:off x="700000" y="1050000"/>
            <a:ext cx="25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6192E"/>
                </a:solidFill>
                <a:latin typeface="Calibri" pitchFamily="34" charset="0"/>
              </a:rPr>
              <a:t>UAP Platform Zone</a:t>
            </a:r>
          </a:p>
        </p:txBody>
      </p:sp>
      <p:sp>
        <p:nvSpPr>
          <p:cNvPr id="6" name="Box_UAP"/>
          <p:cNvSpPr/>
          <p:nvPr/>
        </p:nvSpPr>
        <p:spPr>
          <a:xfrm>
            <a:off x="700000" y="1400000"/>
            <a:ext cx="22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7" name="Box_UAP_Label"/>
          <p:cNvSpPr/>
          <p:nvPr/>
        </p:nvSpPr>
        <p:spPr>
          <a:xfrm>
            <a:off x="700000" y="1400000"/>
            <a:ext cx="22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 pitchFamily="34" charset="0"/>
              </a:rPr>
              <a:t>UAP</a:t>
            </a:r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</a:rPr>
              <a:t>MUFG Exchange Portal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Initiates HRT actions</a:t>
            </a:r>
          </a:p>
        </p:txBody>
      </p:sp>
      <p:sp>
        <p:nvSpPr>
          <p:cNvPr id="8" name="Box_AIC"/>
          <p:cNvSpPr/>
          <p:nvPr/>
        </p:nvSpPr>
        <p:spPr>
          <a:xfrm>
            <a:off x="700000" y="2600000"/>
            <a:ext cx="22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9" name="Box_AIC_Label"/>
          <p:cNvSpPr/>
          <p:nvPr/>
        </p:nvSpPr>
        <p:spPr>
          <a:xfrm>
            <a:off x="700000" y="2600000"/>
            <a:ext cx="22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 pitchFamily="34" charset="0"/>
              </a:rPr>
              <a:t>PingOne AIC</a:t>
            </a:r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</a:rPr>
              <a:t>HRT Journey Engine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Step-up auth orchestration</a:t>
            </a:r>
          </a:p>
        </p:txBody>
      </p:sp>
      <p:sp>
        <p:nvSpPr>
          <p:cNvPr id="10" name="Box_PGW"/>
          <p:cNvSpPr/>
          <p:nvPr/>
        </p:nvSpPr>
        <p:spPr>
          <a:xfrm>
            <a:off x="3300000" y="1400000"/>
            <a:ext cx="22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" name="Box_PGW_Label"/>
          <p:cNvSpPr/>
          <p:nvPr/>
        </p:nvSpPr>
        <p:spPr>
          <a:xfrm>
            <a:off x="3300000" y="1400000"/>
            <a:ext cx="22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 pitchFamily="34" charset="0"/>
              </a:rPr>
              <a:t>PingGateway 2026.3</a:t>
            </a:r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</a:rPr>
              <a:t>HRT Interception Filter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Route eval + Groovy scripts</a:t>
            </a:r>
          </a:p>
        </p:txBody>
      </p:sp>
      <p:sp>
        <p:nvSpPr>
          <p:cNvPr id="12" name="Box_Protect"/>
          <p:cNvSpPr/>
          <p:nvPr/>
        </p:nvSpPr>
        <p:spPr>
          <a:xfrm>
            <a:off x="3300000" y="2600000"/>
            <a:ext cx="22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3" name="Box_Protect_Label"/>
          <p:cNvSpPr/>
          <p:nvPr/>
        </p:nvSpPr>
        <p:spPr>
          <a:xfrm>
            <a:off x="3300000" y="2600000"/>
            <a:ext cx="22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 pitchFamily="34" charset="0"/>
              </a:rPr>
              <a:t>PingOne Protect</a:t>
            </a:r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</a:rPr>
              <a:t>Risk Evaluation Engine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Device, IP, velocity signals</a:t>
            </a:r>
          </a:p>
        </p:txBody>
      </p:sp>
      <p:sp>
        <p:nvSpPr>
          <p:cNvPr id="14" name="Box_PDir"/>
          <p:cNvSpPr/>
          <p:nvPr/>
        </p:nvSpPr>
        <p:spPr>
          <a:xfrm>
            <a:off x="3300000" y="3800000"/>
            <a:ext cx="22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5" name="Box_PDir_Label"/>
          <p:cNvSpPr/>
          <p:nvPr/>
        </p:nvSpPr>
        <p:spPr>
          <a:xfrm>
            <a:off x="3300000" y="3800000"/>
            <a:ext cx="22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 pitchFamily="34" charset="0"/>
              </a:rPr>
              <a:t>Ping Directory</a:t>
            </a:r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</a:rPr>
              <a:t>User Identity Store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HRT token storage</a:t>
            </a:r>
          </a:p>
        </p:txBody>
      </p:sp>
      <p:sp>
        <p:nvSpPr>
          <p:cNvPr id="16" name="Zone_Ext"/>
          <p:cNvSpPr/>
          <p:nvPr/>
        </p:nvSpPr>
        <p:spPr>
          <a:xfrm>
            <a:off x="8100000" y="1000000"/>
            <a:ext cx="3500000" cy="5400000"/>
          </a:xfrm>
          <a:prstGeom prst="roundRect">
            <a:avLst>
              <a:gd name="adj" fmla="val 1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7" name="Zone_Ext_Label"/>
          <p:cNvSpPr/>
          <p:nvPr/>
        </p:nvSpPr>
        <p:spPr>
          <a:xfrm>
            <a:off x="8250000" y="1050000"/>
            <a:ext cx="25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B6B6B"/>
                </a:solidFill>
                <a:latin typeface="Calibri" pitchFamily="34" charset="0"/>
              </a:rPr>
              <a:t>External Systems</a:t>
            </a:r>
          </a:p>
        </p:txBody>
      </p:sp>
      <p:sp>
        <p:nvSpPr>
          <p:cNvPr id="18" name="Box_RSA"/>
          <p:cNvSpPr/>
          <p:nvPr/>
        </p:nvSpPr>
        <p:spPr>
          <a:xfrm>
            <a:off x="8300000" y="1400000"/>
            <a:ext cx="2200000" cy="9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9" name="Box_RSA_Label"/>
          <p:cNvSpPr/>
          <p:nvPr/>
        </p:nvSpPr>
        <p:spPr>
          <a:xfrm>
            <a:off x="8300000" y="1400000"/>
            <a:ext cx="22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</a:rPr>
              <a:t>RSA SecurID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OTP / Push MFA provider</a:t>
            </a:r>
          </a:p>
        </p:txBody>
      </p:sp>
      <p:sp>
        <p:nvSpPr>
          <p:cNvPr id="20" name="Box_DTB"/>
          <p:cNvSpPr/>
          <p:nvPr/>
        </p:nvSpPr>
        <p:spPr>
          <a:xfrm>
            <a:off x="8300000" y="2600000"/>
            <a:ext cx="2200000" cy="9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1" name="Box_DTB_Label"/>
          <p:cNvSpPr/>
          <p:nvPr/>
        </p:nvSpPr>
        <p:spPr>
          <a:xfrm>
            <a:off x="8300000" y="2600000"/>
            <a:ext cx="22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</a:rPr>
              <a:t>DTB Application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Transaction banking SAML SP</a:t>
            </a:r>
          </a:p>
        </p:txBody>
      </p:sp>
      <p:sp>
        <p:nvSpPr>
          <p:cNvPr id="22" name="Box_EIP"/>
          <p:cNvSpPr/>
          <p:nvPr/>
        </p:nvSpPr>
        <p:spPr>
          <a:xfrm>
            <a:off x="8300000" y="3800000"/>
            <a:ext cx="2200000" cy="9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3" name="Box_EIP_Label"/>
          <p:cNvSpPr/>
          <p:nvPr/>
        </p:nvSpPr>
        <p:spPr>
          <a:xfrm>
            <a:off x="8300000" y="3800000"/>
            <a:ext cx="22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</a:rPr>
              <a:t>EIP / API Gateway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HRT token relay to DTB</a:t>
            </a:r>
          </a:p>
        </p:txBody>
      </p:sp>
      <p:sp>
        <p:nvSpPr>
          <p:cNvPr id="30" name="Arrow_UAP_PGW"/>
          <p:cNvSpPr/>
          <p:nvPr/>
        </p:nvSpPr>
        <p:spPr>
          <a:xfrm>
            <a:off x="2900000" y="1850000"/>
            <a:ext cx="4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1" name="Label_UAP_PGW"/>
          <p:cNvSpPr/>
          <p:nvPr/>
        </p:nvSpPr>
        <p:spPr>
          <a:xfrm>
            <a:off x="2900000" y="1700000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HRT trigger</a:t>
            </a:r>
          </a:p>
        </p:txBody>
      </p:sp>
      <p:sp>
        <p:nvSpPr>
          <p:cNvPr id="32" name="Arrow_UAP_AIC"/>
          <p:cNvSpPr/>
          <p:nvPr/>
        </p:nvSpPr>
        <p:spPr>
          <a:xfrm>
            <a:off x="1800000" y="2300000"/>
            <a:ext cx="0" cy="30000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3" name="Label_UAP_AIC"/>
          <p:cNvSpPr/>
          <p:nvPr/>
        </p:nvSpPr>
        <p:spPr>
          <a:xfrm>
            <a:off x="1850000" y="2300000"/>
            <a:ext cx="9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Auth challenge</a:t>
            </a:r>
          </a:p>
        </p:txBody>
      </p:sp>
      <p:sp>
        <p:nvSpPr>
          <p:cNvPr id="34" name="Arrow_PGW_Protect"/>
          <p:cNvSpPr/>
          <p:nvPr/>
        </p:nvSpPr>
        <p:spPr>
          <a:xfrm>
            <a:off x="4400000" y="2300000"/>
            <a:ext cx="0" cy="30000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5" name="Label_PGW_Protect"/>
          <p:cNvSpPr/>
          <p:nvPr/>
        </p:nvSpPr>
        <p:spPr>
          <a:xfrm>
            <a:off x="4450000" y="2330000"/>
            <a:ext cx="10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Risk score request</a:t>
            </a:r>
          </a:p>
        </p:txBody>
      </p:sp>
      <p:sp>
        <p:nvSpPr>
          <p:cNvPr id="36" name="Arrow_AIC_PDir"/>
          <p:cNvSpPr/>
          <p:nvPr/>
        </p:nvSpPr>
        <p:spPr>
          <a:xfrm>
            <a:off x="2900000" y="3050000"/>
            <a:ext cx="4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7" name="Label_AIC_PDir"/>
          <p:cNvSpPr/>
          <p:nvPr/>
        </p:nvSpPr>
        <p:spPr>
          <a:xfrm>
            <a:off x="2900000" y="2870000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Store token</a:t>
            </a:r>
          </a:p>
        </p:txBody>
      </p:sp>
      <p:sp>
        <p:nvSpPr>
          <p:cNvPr id="38" name="Arrow_AIC_RSA"/>
          <p:cNvSpPr/>
          <p:nvPr/>
        </p:nvSpPr>
        <p:spPr>
          <a:xfrm>
            <a:off x="5500000" y="3050000"/>
            <a:ext cx="28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9" name="Label_AIC_RSA"/>
          <p:cNvSpPr/>
          <p:nvPr/>
        </p:nvSpPr>
        <p:spPr>
          <a:xfrm>
            <a:off x="6000000" y="2870000"/>
            <a:ext cx="15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OTP/Push MFA trigger</a:t>
            </a:r>
          </a:p>
        </p:txBody>
      </p:sp>
      <p:sp>
        <p:nvSpPr>
          <p:cNvPr id="40" name="Arrow_PGW_EIP"/>
          <p:cNvSpPr/>
          <p:nvPr/>
        </p:nvSpPr>
        <p:spPr>
          <a:xfrm>
            <a:off x="5500000" y="4250000"/>
            <a:ext cx="2800000" cy="0"/>
          </a:xfrm>
          <a:prstGeom prst="line">
            <a:avLst/>
          </a:prstGeom>
          <a:noFill/>
          <a:ln w="19050">
            <a:solidFill>
              <a:srgbClr val="7A1322"/>
            </a:solidFill>
            <a:prstDash val="dash"/>
            <a:tailEnd type="triangle"/>
          </a:ln>
        </p:spPr>
      </p:sp>
      <p:sp>
        <p:nvSpPr>
          <p:cNvPr id="41" name="Label_PGW_EIP"/>
          <p:cNvSpPr/>
          <p:nvPr/>
        </p:nvSpPr>
        <p:spPr>
          <a:xfrm>
            <a:off x="6000000" y="4070000"/>
            <a:ext cx="15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1322"/>
                </a:solidFill>
                <a:latin typeface="Calibri" pitchFamily="34" charset="0"/>
              </a:rPr>
              <a:t>HRT token relay</a:t>
            </a:r>
          </a:p>
        </p:txBody>
      </p:sp>
      <p:sp>
        <p:nvSpPr>
          <p:cNvPr id="50" name="Leg1_Box"/>
          <p:cNvSpPr/>
          <p:nvPr/>
        </p:nvSpPr>
        <p:spPr>
          <a:xfrm>
            <a:off x="548640" y="5900000"/>
            <a:ext cx="300000" cy="2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51" name="Leg1_Text"/>
          <p:cNvSpPr/>
          <p:nvPr/>
        </p:nvSpPr>
        <p:spPr>
          <a:xfrm>
            <a:off x="900000" y="5890000"/>
            <a:ext cx="20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</a:rPr>
              <a:t>Internal component (red border)</a:t>
            </a:r>
          </a:p>
        </p:txBody>
      </p:sp>
      <p:sp>
        <p:nvSpPr>
          <p:cNvPr id="52" name="Leg2_Box"/>
          <p:cNvSpPr/>
          <p:nvPr/>
        </p:nvSpPr>
        <p:spPr>
          <a:xfrm>
            <a:off x="3200000" y="5900000"/>
            <a:ext cx="300000" cy="22000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53" name="Leg2_Text"/>
          <p:cNvSpPr/>
          <p:nvPr/>
        </p:nvSpPr>
        <p:spPr>
          <a:xfrm>
            <a:off x="3550000" y="5890000"/>
            <a:ext cx="20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</a:rPr>
              <a:t>External system (grey fill)</a:t>
            </a:r>
          </a:p>
        </p:txBody>
      </p:sp>
      <p:sp>
        <p:nvSpPr>
          <p:cNvPr id="54" name="Leg3_Arrow"/>
          <p:cNvSpPr/>
          <p:nvPr/>
        </p:nvSpPr>
        <p:spPr>
          <a:xfrm>
            <a:off x="6200000" y="601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55" name="Leg3_Text"/>
          <p:cNvSpPr/>
          <p:nvPr/>
        </p:nvSpPr>
        <p:spPr>
          <a:xfrm>
            <a:off x="6750000" y="5890000"/>
            <a:ext cx="15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</a:rPr>
              <a:t>Request / call</a:t>
            </a:r>
          </a:p>
        </p:txBody>
      </p:sp>
      <p:sp>
        <p:nvSpPr>
          <p:cNvPr id="56" name="Leg4_Arrow"/>
          <p:cNvSpPr/>
          <p:nvPr/>
        </p:nvSpPr>
        <p:spPr>
          <a:xfrm>
            <a:off x="8800000" y="6010000"/>
            <a:ext cx="500000" cy="0"/>
          </a:xfrm>
          <a:prstGeom prst="line">
            <a:avLst/>
          </a:prstGeom>
          <a:noFill/>
          <a:ln w="19050">
            <a:solidFill>
              <a:srgbClr val="7A1322"/>
            </a:solidFill>
            <a:prstDash val="dash"/>
            <a:tailEnd type="triangle"/>
          </a:ln>
        </p:spPr>
      </p:sp>
      <p:sp>
        <p:nvSpPr>
          <p:cNvPr id="57" name="Leg4_Text"/>
          <p:cNvSpPr/>
          <p:nvPr/>
        </p:nvSpPr>
        <p:spPr>
          <a:xfrm>
            <a:off x="9350000" y="5890000"/>
            <a:ext cx="20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</a:rPr>
              <a:t>Response / return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HRT Sequence Diagra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18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Calibri" pitchFamily="34" charset="0"/>
              </a:rPr>
              <a:t>Sequence Diagram — HRT Step-Up Authentication (Contact Info Change)</a:t>
            </a:r>
          </a:p>
        </p:txBody>
      </p:sp>
      <p:sp>
        <p:nvSpPr>
          <p:cNvPr id="3" name="Subtitle"/>
          <p:cNvSpPr/>
          <p:nvPr/>
        </p:nvSpPr>
        <p:spPr>
          <a:xfrm>
            <a:off x="548640" y="61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</a:rPr>
              <a:t>Scenario: Customer user navigates to Change My Contact Information page — HRT step-up enforced before data displayed (HRT 3 / HRT 5)</a:t>
            </a:r>
          </a:p>
        </p:txBody>
      </p:sp>
      <p:sp>
        <p:nvSpPr>
          <p:cNvPr id="10" name="LH_User"/>
          <p:cNvSpPr/>
          <p:nvPr/>
        </p:nvSpPr>
        <p:spPr>
          <a:xfrm>
            <a:off x="630000" y="900000"/>
            <a:ext cx="1100000" cy="42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Customer User</a:t>
            </a:r>
          </a:p>
        </p:txBody>
      </p:sp>
      <p:sp>
        <p:nvSpPr>
          <p:cNvPr id="11" name="LH_UAP"/>
          <p:cNvSpPr/>
          <p:nvPr/>
        </p:nvSpPr>
        <p:spPr>
          <a:xfrm>
            <a:off x="1930000" y="900000"/>
            <a:ext cx="1100000" cy="42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UAP</a:t>
            </a:r>
          </a:p>
        </p:txBody>
      </p:sp>
      <p:sp>
        <p:nvSpPr>
          <p:cNvPr id="12" name="LH_PGW"/>
          <p:cNvSpPr/>
          <p:nvPr/>
        </p:nvSpPr>
        <p:spPr>
          <a:xfrm>
            <a:off x="3330000" y="900000"/>
            <a:ext cx="1200000" cy="42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PingGateway</a:t>
            </a:r>
          </a:p>
        </p:txBody>
      </p:sp>
      <p:sp>
        <p:nvSpPr>
          <p:cNvPr id="13" name="LH_AIC"/>
          <p:cNvSpPr/>
          <p:nvPr/>
        </p:nvSpPr>
        <p:spPr>
          <a:xfrm>
            <a:off x="4830000" y="900000"/>
            <a:ext cx="1100000" cy="42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PingOne AIC</a:t>
            </a:r>
          </a:p>
        </p:txBody>
      </p:sp>
      <p:sp>
        <p:nvSpPr>
          <p:cNvPr id="14" name="LH_Protect"/>
          <p:cNvSpPr/>
          <p:nvPr/>
        </p:nvSpPr>
        <p:spPr>
          <a:xfrm>
            <a:off x="6230000" y="900000"/>
            <a:ext cx="1100000" cy="42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Ping Protect</a:t>
            </a:r>
          </a:p>
        </p:txBody>
      </p:sp>
      <p:sp>
        <p:nvSpPr>
          <p:cNvPr id="15" name="LH_RSA"/>
          <p:cNvSpPr/>
          <p:nvPr/>
        </p:nvSpPr>
        <p:spPr>
          <a:xfrm>
            <a:off x="7630000" y="900000"/>
            <a:ext cx="1100000" cy="42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RSA SecurID</a:t>
            </a:r>
          </a:p>
        </p:txBody>
      </p:sp>
      <p:sp>
        <p:nvSpPr>
          <p:cNvPr id="16" name="LH_PDir"/>
          <p:cNvSpPr/>
          <p:nvPr/>
        </p:nvSpPr>
        <p:spPr>
          <a:xfrm>
            <a:off x="9230000" y="900000"/>
            <a:ext cx="1200000" cy="42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Ping Directory</a:t>
            </a:r>
          </a:p>
        </p:txBody>
      </p:sp>
      <p:sp>
        <p:nvSpPr>
          <p:cNvPr id="20" name="LL_User"/>
          <p:cNvSpPr/>
          <p:nvPr/>
        </p:nvSpPr>
        <p:spPr>
          <a:xfrm>
            <a:off x="1180000" y="132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1" name="LL_UAP"/>
          <p:cNvSpPr/>
          <p:nvPr/>
        </p:nvSpPr>
        <p:spPr>
          <a:xfrm>
            <a:off x="2480000" y="132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2" name="LL_PGW"/>
          <p:cNvSpPr/>
          <p:nvPr/>
        </p:nvSpPr>
        <p:spPr>
          <a:xfrm>
            <a:off x="3930000" y="132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3" name="LL_AIC"/>
          <p:cNvSpPr/>
          <p:nvPr/>
        </p:nvSpPr>
        <p:spPr>
          <a:xfrm>
            <a:off x="5380000" y="132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4" name="LL_Protect"/>
          <p:cNvSpPr/>
          <p:nvPr/>
        </p:nvSpPr>
        <p:spPr>
          <a:xfrm>
            <a:off x="6780000" y="132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5" name="LL_RSA"/>
          <p:cNvSpPr/>
          <p:nvPr/>
        </p:nvSpPr>
        <p:spPr>
          <a:xfrm>
            <a:off x="8180000" y="132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6" name="LL_PDir"/>
          <p:cNvSpPr/>
          <p:nvPr/>
        </p:nvSpPr>
        <p:spPr>
          <a:xfrm>
            <a:off x="9830000" y="132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30" name="Arr1"/>
          <p:cNvSpPr/>
          <p:nvPr/>
        </p:nvSpPr>
        <p:spPr>
          <a:xfrm>
            <a:off x="1180000" y="1550000"/>
            <a:ext cx="13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1" name="Lbl1"/>
          <p:cNvSpPr/>
          <p:nvPr/>
        </p:nvSpPr>
        <p:spPr>
          <a:xfrm>
            <a:off x="1200000" y="1380000"/>
            <a:ext cx="18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1. Select Change Contact Info</a:t>
            </a:r>
          </a:p>
        </p:txBody>
      </p:sp>
      <p:sp>
        <p:nvSpPr>
          <p:cNvPr id="32" name="Arr2"/>
          <p:cNvSpPr/>
          <p:nvPr/>
        </p:nvSpPr>
        <p:spPr>
          <a:xfrm>
            <a:off x="2480000" y="1950000"/>
            <a:ext cx="145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3" name="Lbl2"/>
          <p:cNvSpPr/>
          <p:nvPr/>
        </p:nvSpPr>
        <p:spPr>
          <a:xfrm>
            <a:off x="2500000" y="1780000"/>
            <a:ext cx="141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2. HTTP request forwarded</a:t>
            </a:r>
          </a:p>
        </p:txBody>
      </p:sp>
      <p:sp>
        <p:nvSpPr>
          <p:cNvPr id="34" name="Proc3"/>
          <p:cNvSpPr/>
          <p:nvPr/>
        </p:nvSpPr>
        <p:spPr>
          <a:xfrm>
            <a:off x="3680000" y="2150000"/>
            <a:ext cx="50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</a:rPr>
              <a:t>3. Evaluate HRT route rule</a:t>
            </a:r>
          </a:p>
        </p:txBody>
      </p:sp>
      <p:sp>
        <p:nvSpPr>
          <p:cNvPr id="36" name="Arr4"/>
          <p:cNvSpPr/>
          <p:nvPr/>
        </p:nvSpPr>
        <p:spPr>
          <a:xfrm>
            <a:off x="3930000" y="2750000"/>
            <a:ext cx="145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7" name="Lbl4"/>
          <p:cNvSpPr/>
          <p:nvPr/>
        </p:nvSpPr>
        <p:spPr>
          <a:xfrm>
            <a:off x="3950000" y="2580000"/>
            <a:ext cx="141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4. Invoke HRT journey (REST)</a:t>
            </a:r>
          </a:p>
        </p:txBody>
      </p:sp>
      <p:sp>
        <p:nvSpPr>
          <p:cNvPr id="38" name="Arr5"/>
          <p:cNvSpPr/>
          <p:nvPr/>
        </p:nvSpPr>
        <p:spPr>
          <a:xfrm>
            <a:off x="5380000" y="3150000"/>
            <a:ext cx="14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9" name="Lbl5"/>
          <p:cNvSpPr/>
          <p:nvPr/>
        </p:nvSpPr>
        <p:spPr>
          <a:xfrm>
            <a:off x="5400000" y="2980000"/>
            <a:ext cx="13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5. Evaluate risk (device/IP)</a:t>
            </a:r>
          </a:p>
        </p:txBody>
      </p:sp>
      <p:sp>
        <p:nvSpPr>
          <p:cNvPr id="40" name="Arr6"/>
          <p:cNvSpPr/>
          <p:nvPr/>
        </p:nvSpPr>
        <p:spPr>
          <a:xfrm>
            <a:off x="5380000" y="3550000"/>
            <a:ext cx="14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1" name="Lbl6"/>
          <p:cNvSpPr/>
          <p:nvPr/>
        </p:nvSpPr>
        <p:spPr>
          <a:xfrm>
            <a:off x="5400000" y="3380000"/>
            <a:ext cx="13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</a:rPr>
              <a:t>6. Return risk score + level</a:t>
            </a:r>
          </a:p>
        </p:txBody>
      </p:sp>
      <p:sp>
        <p:nvSpPr>
          <p:cNvPr id="42" name="Arr7"/>
          <p:cNvSpPr/>
          <p:nvPr/>
        </p:nvSpPr>
        <p:spPr>
          <a:xfrm>
            <a:off x="5380000" y="3950000"/>
            <a:ext cx="2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3" name="Lbl7"/>
          <p:cNvSpPr/>
          <p:nvPr/>
        </p:nvSpPr>
        <p:spPr>
          <a:xfrm>
            <a:off x="5400000" y="3780000"/>
            <a:ext cx="2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7. Trigger OTP / Push step-up</a:t>
            </a:r>
          </a:p>
        </p:txBody>
      </p:sp>
      <p:sp>
        <p:nvSpPr>
          <p:cNvPr id="44" name="Arr8"/>
          <p:cNvSpPr/>
          <p:nvPr/>
        </p:nvSpPr>
        <p:spPr>
          <a:xfrm>
            <a:off x="1180000" y="4350000"/>
            <a:ext cx="70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5" name="Lbl8"/>
          <p:cNvSpPr/>
          <p:nvPr/>
        </p:nvSpPr>
        <p:spPr>
          <a:xfrm>
            <a:off x="3000000" y="4180000"/>
            <a:ext cx="30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</a:rPr>
              <a:t>8. Present MFA challenge to user</a:t>
            </a:r>
          </a:p>
        </p:txBody>
      </p:sp>
      <p:sp>
        <p:nvSpPr>
          <p:cNvPr id="46" name="Arr9"/>
          <p:cNvSpPr/>
          <p:nvPr/>
        </p:nvSpPr>
        <p:spPr>
          <a:xfrm>
            <a:off x="1180000" y="4750000"/>
            <a:ext cx="70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7" name="Lbl9"/>
          <p:cNvSpPr/>
          <p:nvPr/>
        </p:nvSpPr>
        <p:spPr>
          <a:xfrm>
            <a:off x="3000000" y="4580000"/>
            <a:ext cx="30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9. Submit OTP / push approval</a:t>
            </a:r>
          </a:p>
        </p:txBody>
      </p:sp>
      <p:sp>
        <p:nvSpPr>
          <p:cNvPr id="48" name="Arr10"/>
          <p:cNvSpPr/>
          <p:nvPr/>
        </p:nvSpPr>
        <p:spPr>
          <a:xfrm>
            <a:off x="5380000" y="5150000"/>
            <a:ext cx="445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9" name="Lbl10"/>
          <p:cNvSpPr/>
          <p:nvPr/>
        </p:nvSpPr>
        <p:spPr>
          <a:xfrm>
            <a:off x="6500000" y="4980000"/>
            <a:ext cx="22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10. Store HRT token to user</a:t>
            </a:r>
          </a:p>
        </p:txBody>
      </p:sp>
      <p:sp>
        <p:nvSpPr>
          <p:cNvPr id="50" name="Arr11"/>
          <p:cNvSpPr/>
          <p:nvPr/>
        </p:nvSpPr>
        <p:spPr>
          <a:xfrm>
            <a:off x="1180000" y="5550000"/>
            <a:ext cx="275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51" name="Lbl11"/>
          <p:cNvSpPr/>
          <p:nvPr/>
        </p:nvSpPr>
        <p:spPr>
          <a:xfrm>
            <a:off x="1200000" y="5380000"/>
            <a:ext cx="271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</a:rPr>
              <a:t>11. Redirect — display Contact Info page</a:t>
            </a:r>
          </a:p>
        </p:txBody>
      </p:sp>
      <p:sp>
        <p:nvSpPr>
          <p:cNvPr id="60" name="Legend"/>
          <p:cNvSpPr/>
          <p:nvPr/>
        </p:nvSpPr>
        <p:spPr>
          <a:xfrm>
            <a:off x="548640" y="6500000"/>
            <a:ext cx="1109167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</a:rPr>
              <a:t>Red solid → request / call  Dark-red dashed → response / return  Red-tint box → processing step  Number every step top → bottom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SS Block Diagra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00000"/>
            <a:ext cx="11091672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 pitchFamily="34" charset="0"/>
              </a:rPr>
              <a:t>Block Diagram — User Self-Service</a:t>
            </a:r>
          </a:p>
        </p:txBody>
      </p:sp>
      <p:sp>
        <p:nvSpPr>
          <p:cNvPr id="3" name="Subtitle"/>
          <p:cNvSpPr/>
          <p:nvPr/>
        </p:nvSpPr>
        <p:spPr>
          <a:xfrm>
            <a:off x="548640" y="650000"/>
            <a:ext cx="11091672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</a:rPr>
              <a:t>Covers: Access Self-Service · Device Self-Service · Profile Self-Service · Token Self-Service · MFA Menu · Internal = red border · External = grey fill</a:t>
            </a:r>
          </a:p>
        </p:txBody>
      </p:sp>
      <p:sp>
        <p:nvSpPr>
          <p:cNvPr id="4" name="Zone_UAP"/>
          <p:cNvSpPr/>
          <p:nvPr/>
        </p:nvSpPr>
        <p:spPr>
          <a:xfrm>
            <a:off x="548640" y="980000"/>
            <a:ext cx="7500000" cy="5450000"/>
          </a:xfrm>
          <a:prstGeom prst="roundRect">
            <a:avLst>
              <a:gd name="adj" fmla="val 8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Zone_UAP_Lbl"/>
          <p:cNvSpPr/>
          <p:nvPr/>
        </p:nvSpPr>
        <p:spPr>
          <a:xfrm>
            <a:off x="720000" y="1030000"/>
            <a:ext cx="30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6192E"/>
                </a:solidFill>
                <a:latin typeface="Calibri" pitchFamily="34" charset="0"/>
              </a:rPr>
              <a:t>UAP Platform Zone</a:t>
            </a:r>
          </a:p>
        </p:txBody>
      </p:sp>
      <p:sp>
        <p:nvSpPr>
          <p:cNvPr id="6" name="Box_UAP"/>
          <p:cNvSpPr/>
          <p:nvPr/>
        </p:nvSpPr>
        <p:spPr>
          <a:xfrm>
            <a:off x="720000" y="1360000"/>
            <a:ext cx="2000000" cy="8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7" name="Box_UAP_Lbl"/>
          <p:cNvSpPr/>
          <p:nvPr/>
        </p:nvSpPr>
        <p:spPr>
          <a:xfrm>
            <a:off x="720000" y="1360000"/>
            <a:ext cx="2000000" cy="8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 pitchFamily="34" charset="0"/>
              </a:rPr>
              <a:t>UAP Portal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MUFG Exchange Portal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</a:rPr>
              <a:t>User entry point</a:t>
            </a:r>
          </a:p>
        </p:txBody>
      </p:sp>
      <p:sp>
        <p:nvSpPr>
          <p:cNvPr id="8" name="Box_AIC"/>
          <p:cNvSpPr/>
          <p:nvPr/>
        </p:nvSpPr>
        <p:spPr>
          <a:xfrm>
            <a:off x="3000000" y="1360000"/>
            <a:ext cx="2000000" cy="8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9" name="Box_AIC_Lbl"/>
          <p:cNvSpPr/>
          <p:nvPr/>
        </p:nvSpPr>
        <p:spPr>
          <a:xfrm>
            <a:off x="3000000" y="1360000"/>
            <a:ext cx="2000000" cy="8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 pitchFamily="34" charset="0"/>
              </a:rPr>
              <a:t>PingOne AIC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Journey Orchestration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</a:rPr>
              <a:t>Self-service flows</a:t>
            </a:r>
          </a:p>
        </p:txBody>
      </p:sp>
      <p:sp>
        <p:nvSpPr>
          <p:cNvPr id="10" name="Box_PDir"/>
          <p:cNvSpPr/>
          <p:nvPr/>
        </p:nvSpPr>
        <p:spPr>
          <a:xfrm>
            <a:off x="5500000" y="1360000"/>
            <a:ext cx="2000000" cy="8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" name="Box_PDir_Lbl"/>
          <p:cNvSpPr/>
          <p:nvPr/>
        </p:nvSpPr>
        <p:spPr>
          <a:xfrm>
            <a:off x="5500000" y="1360000"/>
            <a:ext cx="2000000" cy="8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 pitchFamily="34" charset="0"/>
              </a:rPr>
              <a:t>Ping Directory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User Identity Store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</a:rPr>
              <a:t>Profile, devices, tokens</a:t>
            </a:r>
          </a:p>
        </p:txBody>
      </p:sp>
      <p:sp>
        <p:nvSpPr>
          <p:cNvPr id="12" name="Zone_SS"/>
          <p:cNvSpPr/>
          <p:nvPr/>
        </p:nvSpPr>
        <p:spPr>
          <a:xfrm>
            <a:off x="720000" y="2400000"/>
            <a:ext cx="7200000" cy="1900000"/>
          </a:xfrm>
          <a:prstGeom prst="roundRect">
            <a:avLst>
              <a:gd name="adj" fmla="val 800"/>
            </a:avLst>
          </a:prstGeom>
          <a:solidFill>
            <a:srgbClr val="FFFFFF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Zone_SS_Lbl"/>
          <p:cNvSpPr/>
          <p:nvPr/>
        </p:nvSpPr>
        <p:spPr>
          <a:xfrm>
            <a:off x="850000" y="2450000"/>
            <a:ext cx="30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 pitchFamily="34" charset="0"/>
              </a:rPr>
              <a:t>Self-Service Capabilities (AIC Journeys)</a:t>
            </a:r>
          </a:p>
        </p:txBody>
      </p:sp>
      <p:sp>
        <p:nvSpPr>
          <p:cNvPr id="14" name="Cap_Access"/>
          <p:cNvSpPr/>
          <p:nvPr/>
        </p:nvSpPr>
        <p:spPr>
          <a:xfrm>
            <a:off x="800000" y="2720000"/>
            <a:ext cx="1280000" cy="1400000"/>
          </a:xfrm>
          <a:prstGeom prst="roundRect">
            <a:avLst>
              <a:gd name="adj" fmla="val 20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5" name="Cap_Access_Lbl"/>
          <p:cNvSpPr/>
          <p:nvPr/>
        </p:nvSpPr>
        <p:spPr>
          <a:xfrm>
            <a:off x="800000" y="2720000"/>
            <a:ext cx="1280000" cy="1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 pitchFamily="34" charset="0"/>
              </a:rPr>
              <a:t>Access Self-Service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Request / remove entitlements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View request status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Track approval history</a:t>
            </a:r>
          </a:p>
        </p:txBody>
      </p:sp>
      <p:sp>
        <p:nvSpPr>
          <p:cNvPr id="16" name="Cap_Device"/>
          <p:cNvSpPr/>
          <p:nvPr/>
        </p:nvSpPr>
        <p:spPr>
          <a:xfrm>
            <a:off x="2180000" y="2720000"/>
            <a:ext cx="1280000" cy="1400000"/>
          </a:xfrm>
          <a:prstGeom prst="roundRect">
            <a:avLst>
              <a:gd name="adj" fmla="val 20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7" name="Cap_Device_Lbl"/>
          <p:cNvSpPr/>
          <p:nvPr/>
        </p:nvSpPr>
        <p:spPr>
          <a:xfrm>
            <a:off x="2180000" y="2720000"/>
            <a:ext cx="1280000" cy="1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 pitchFamily="34" charset="0"/>
              </a:rPr>
              <a:t>Device Self-Service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View registered devices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Register / remove device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View activity timestamp</a:t>
            </a:r>
          </a:p>
        </p:txBody>
      </p:sp>
      <p:sp>
        <p:nvSpPr>
          <p:cNvPr id="18" name="Cap_Profile"/>
          <p:cNvSpPr/>
          <p:nvPr/>
        </p:nvSpPr>
        <p:spPr>
          <a:xfrm>
            <a:off x="3560000" y="2720000"/>
            <a:ext cx="1280000" cy="1400000"/>
          </a:xfrm>
          <a:prstGeom prst="roundRect">
            <a:avLst>
              <a:gd name="adj" fmla="val 20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Cap_Profile_Lbl"/>
          <p:cNvSpPr/>
          <p:nvPr/>
        </p:nvSpPr>
        <p:spPr>
          <a:xfrm>
            <a:off x="3560000" y="2720000"/>
            <a:ext cx="1280000" cy="1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 pitchFamily="34" charset="0"/>
              </a:rPr>
              <a:t>Profile Self-Service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Manage phone / email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Security settings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Language preferences</a:t>
            </a:r>
          </a:p>
        </p:txBody>
      </p:sp>
      <p:sp>
        <p:nvSpPr>
          <p:cNvPr id="20" name="Cap_Token"/>
          <p:cNvSpPr/>
          <p:nvPr/>
        </p:nvSpPr>
        <p:spPr>
          <a:xfrm>
            <a:off x="4940000" y="2720000"/>
            <a:ext cx="1280000" cy="1400000"/>
          </a:xfrm>
          <a:prstGeom prst="roundRect">
            <a:avLst>
              <a:gd name="adj" fmla="val 20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1" name="Cap_Token_Lbl"/>
          <p:cNvSpPr/>
          <p:nvPr/>
        </p:nvSpPr>
        <p:spPr>
          <a:xfrm>
            <a:off x="4940000" y="2720000"/>
            <a:ext cx="1280000" cy="1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 pitchFamily="34" charset="0"/>
              </a:rPr>
              <a:t>Token Self-Service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Activate mobile token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Re-register RSA SecurID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OTP flow on login</a:t>
            </a:r>
          </a:p>
        </p:txBody>
      </p:sp>
      <p:sp>
        <p:nvSpPr>
          <p:cNvPr id="22" name="Cap_MFA"/>
          <p:cNvSpPr/>
          <p:nvPr/>
        </p:nvSpPr>
        <p:spPr>
          <a:xfrm>
            <a:off x="6320000" y="2720000"/>
            <a:ext cx="1280000" cy="1400000"/>
          </a:xfrm>
          <a:prstGeom prst="roundRect">
            <a:avLst>
              <a:gd name="adj" fmla="val 20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3" name="Cap_MFA_Lbl"/>
          <p:cNvSpPr/>
          <p:nvPr/>
        </p:nvSpPr>
        <p:spPr>
          <a:xfrm>
            <a:off x="6320000" y="2720000"/>
            <a:ext cx="1280000" cy="14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 pitchFamily="34" charset="0"/>
              </a:rPr>
              <a:t>MFA Menu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Enroll authenticators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Manage auth methods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 pitchFamily="34" charset="0"/>
              </a:rPr>
              <a:t>Security page access</a:t>
            </a:r>
          </a:p>
        </p:txBody>
      </p:sp>
      <p:sp>
        <p:nvSpPr>
          <p:cNvPr id="30" name="Arr_UAP_AIC"/>
          <p:cNvSpPr/>
          <p:nvPr/>
        </p:nvSpPr>
        <p:spPr>
          <a:xfrm>
            <a:off x="2720000" y="1785000"/>
            <a:ext cx="28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1" name="Lbl_UAP_AIC"/>
          <p:cNvSpPr/>
          <p:nvPr/>
        </p:nvSpPr>
        <p:spPr>
          <a:xfrm>
            <a:off x="2730000" y="1640000"/>
            <a:ext cx="2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 pitchFamily="34" charset="0"/>
              </a:rPr>
              <a:t>OIDC / journey</a:t>
            </a:r>
          </a:p>
        </p:txBody>
      </p:sp>
      <p:sp>
        <p:nvSpPr>
          <p:cNvPr id="32" name="Arr_AIC_PDir"/>
          <p:cNvSpPr/>
          <p:nvPr/>
        </p:nvSpPr>
        <p:spPr>
          <a:xfrm>
            <a:off x="5000000" y="1785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3" name="Lbl_AIC_PDir"/>
          <p:cNvSpPr/>
          <p:nvPr/>
        </p:nvSpPr>
        <p:spPr>
          <a:xfrm>
            <a:off x="5020000" y="1640000"/>
            <a:ext cx="4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 pitchFamily="34" charset="0"/>
              </a:rPr>
              <a:t>Read / write user</a:t>
            </a:r>
          </a:p>
        </p:txBody>
      </p:sp>
      <p:sp>
        <p:nvSpPr>
          <p:cNvPr id="34" name="Arr_AIC_SS"/>
          <p:cNvSpPr/>
          <p:nvPr/>
        </p:nvSpPr>
        <p:spPr>
          <a:xfrm>
            <a:off x="4000000" y="2210000"/>
            <a:ext cx="0" cy="19000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5" name="Lbl_AIC_SS"/>
          <p:cNvSpPr/>
          <p:nvPr/>
        </p:nvSpPr>
        <p:spPr>
          <a:xfrm>
            <a:off x="4050000" y="2200000"/>
            <a:ext cx="1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 pitchFamily="34" charset="0"/>
              </a:rPr>
              <a:t>Executes self-service journey</a:t>
            </a:r>
          </a:p>
        </p:txBody>
      </p:sp>
      <p:sp>
        <p:nvSpPr>
          <p:cNvPr id="40" name="Zone_Ext"/>
          <p:cNvSpPr/>
          <p:nvPr/>
        </p:nvSpPr>
        <p:spPr>
          <a:xfrm>
            <a:off x="8350000" y="980000"/>
            <a:ext cx="3250000" cy="5450000"/>
          </a:xfrm>
          <a:prstGeom prst="roundRect">
            <a:avLst>
              <a:gd name="adj" fmla="val 8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1" name="Zone_Ext_Lbl"/>
          <p:cNvSpPr/>
          <p:nvPr/>
        </p:nvSpPr>
        <p:spPr>
          <a:xfrm>
            <a:off x="8500000" y="1030000"/>
            <a:ext cx="25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B6B6B"/>
                </a:solidFill>
                <a:latin typeface="Calibri" pitchFamily="34" charset="0"/>
              </a:rPr>
              <a:t>External Systems</a:t>
            </a:r>
          </a:p>
        </p:txBody>
      </p:sp>
      <p:sp>
        <p:nvSpPr>
          <p:cNvPr id="42" name="Ext_RSA"/>
          <p:cNvSpPr/>
          <p:nvPr/>
        </p:nvSpPr>
        <p:spPr>
          <a:xfrm>
            <a:off x="8550000" y="1360000"/>
            <a:ext cx="2000000" cy="8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3" name="Ext_RSA_Lbl"/>
          <p:cNvSpPr/>
          <p:nvPr/>
        </p:nvSpPr>
        <p:spPr>
          <a:xfrm>
            <a:off x="8550000" y="1360000"/>
            <a:ext cx="2000000" cy="8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 pitchFamily="34" charset="0"/>
              </a:rPr>
              <a:t>RSA SecurID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Token registration / OTP</a:t>
            </a:r>
          </a:p>
        </p:txBody>
      </p:sp>
      <p:sp>
        <p:nvSpPr>
          <p:cNvPr id="44" name="Ext_Approval"/>
          <p:cNvSpPr/>
          <p:nvPr/>
        </p:nvSpPr>
        <p:spPr>
          <a:xfrm>
            <a:off x="8550000" y="2350000"/>
            <a:ext cx="2000000" cy="8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5" name="Ext_Approval_Lbl"/>
          <p:cNvSpPr/>
          <p:nvPr/>
        </p:nvSpPr>
        <p:spPr>
          <a:xfrm>
            <a:off x="8550000" y="2350000"/>
            <a:ext cx="2000000" cy="8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 pitchFamily="34" charset="0"/>
              </a:rPr>
              <a:t>Approval Workflow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Entitlement requests</a:t>
            </a:r>
          </a:p>
        </p:txBody>
      </p:sp>
      <p:sp>
        <p:nvSpPr>
          <p:cNvPr id="46" name="Ext_SEM"/>
          <p:cNvSpPr/>
          <p:nvPr/>
        </p:nvSpPr>
        <p:spPr>
          <a:xfrm>
            <a:off x="8550000" y="3350000"/>
            <a:ext cx="2000000" cy="8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7" name="Ext_SEM_Lbl"/>
          <p:cNvSpPr/>
          <p:nvPr/>
        </p:nvSpPr>
        <p:spPr>
          <a:xfrm>
            <a:off x="8550000" y="3350000"/>
            <a:ext cx="2000000" cy="8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 pitchFamily="34" charset="0"/>
              </a:rPr>
              <a:t>SEM System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</a:rPr>
              <a:t>Profile change requests</a:t>
            </a:r>
          </a:p>
        </p:txBody>
      </p:sp>
      <p:sp>
        <p:nvSpPr>
          <p:cNvPr id="50" name="Arr_AIC_RSA"/>
          <p:cNvSpPr/>
          <p:nvPr/>
        </p:nvSpPr>
        <p:spPr>
          <a:xfrm>
            <a:off x="7500000" y="1760000"/>
            <a:ext cx="105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51" name="Lbl_AIC_RSA"/>
          <p:cNvSpPr/>
          <p:nvPr/>
        </p:nvSpPr>
        <p:spPr>
          <a:xfrm>
            <a:off x="7520000" y="1610000"/>
            <a:ext cx="101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 pitchFamily="34" charset="0"/>
              </a:rPr>
              <a:t>Token enrol / OTP</a:t>
            </a:r>
          </a:p>
        </p:txBody>
      </p:sp>
      <p:sp>
        <p:nvSpPr>
          <p:cNvPr id="52" name="Arr_AIC_Approval"/>
          <p:cNvSpPr/>
          <p:nvPr/>
        </p:nvSpPr>
        <p:spPr>
          <a:xfrm>
            <a:off x="7500000" y="2750000"/>
            <a:ext cx="105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53" name="Lbl_AIC_Approval"/>
          <p:cNvSpPr/>
          <p:nvPr/>
        </p:nvSpPr>
        <p:spPr>
          <a:xfrm>
            <a:off x="7520000" y="2600000"/>
            <a:ext cx="101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 pitchFamily="34" charset="0"/>
              </a:rPr>
              <a:t>Route for approval</a:t>
            </a:r>
          </a:p>
        </p:txBody>
      </p:sp>
      <p:sp>
        <p:nvSpPr>
          <p:cNvPr id="54" name="Arr_AIC_SEM"/>
          <p:cNvSpPr/>
          <p:nvPr/>
        </p:nvSpPr>
        <p:spPr>
          <a:xfrm>
            <a:off x="7500000" y="3750000"/>
            <a:ext cx="105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55" name="Lbl_AIC_SEM"/>
          <p:cNvSpPr/>
          <p:nvPr/>
        </p:nvSpPr>
        <p:spPr>
          <a:xfrm>
            <a:off x="7520000" y="3600000"/>
            <a:ext cx="101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 pitchFamily="34" charset="0"/>
              </a:rPr>
              <a:t>Profile change request</a:t>
            </a:r>
          </a:p>
        </p:txBody>
      </p:sp>
      <p:sp>
        <p:nvSpPr>
          <p:cNvPr id="60" name="Leg_Int_Box"/>
          <p:cNvSpPr/>
          <p:nvPr/>
        </p:nvSpPr>
        <p:spPr>
          <a:xfrm>
            <a:off x="548640" y="5950000"/>
            <a:ext cx="280000" cy="21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61" name="Leg_Int_Lbl"/>
          <p:cNvSpPr/>
          <p:nvPr/>
        </p:nvSpPr>
        <p:spPr>
          <a:xfrm>
            <a:off x="880000" y="5940000"/>
            <a:ext cx="20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</a:rPr>
              <a:t>Internal component</a:t>
            </a:r>
          </a:p>
        </p:txBody>
      </p:sp>
      <p:sp>
        <p:nvSpPr>
          <p:cNvPr id="62" name="Leg_Ext_Box"/>
          <p:cNvSpPr/>
          <p:nvPr/>
        </p:nvSpPr>
        <p:spPr>
          <a:xfrm>
            <a:off x="3200000" y="5950000"/>
            <a:ext cx="280000" cy="21000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63" name="Leg_Ext_Lbl"/>
          <p:cNvSpPr/>
          <p:nvPr/>
        </p:nvSpPr>
        <p:spPr>
          <a:xfrm>
            <a:off x="3530000" y="5940000"/>
            <a:ext cx="20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</a:rPr>
              <a:t>External system</a:t>
            </a:r>
          </a:p>
        </p:txBody>
      </p:sp>
      <p:sp>
        <p:nvSpPr>
          <p:cNvPr id="64" name="Leg_Arr"/>
          <p:cNvSpPr/>
          <p:nvPr/>
        </p:nvSpPr>
        <p:spPr>
          <a:xfrm>
            <a:off x="6200000" y="6055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65" name="Leg_Arr_Lbl"/>
          <p:cNvSpPr/>
          <p:nvPr/>
        </p:nvSpPr>
        <p:spPr>
          <a:xfrm>
            <a:off x="6750000" y="5940000"/>
            <a:ext cx="1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</a:rPr>
              <a:t>Request / call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USS Sequence Diagra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18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Calibri" pitchFamily="34" charset="0"/>
              </a:rPr>
              <a:t>Sequence Diagram — User Self-Service (Access Entitlement Request)</a:t>
            </a:r>
          </a:p>
        </p:txBody>
      </p:sp>
      <p:sp>
        <p:nvSpPr>
          <p:cNvPr id="3" name="Subtitle"/>
          <p:cNvSpPr/>
          <p:nvPr/>
        </p:nvSpPr>
        <p:spPr>
          <a:xfrm>
            <a:off x="548640" y="61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</a:rPr>
              <a:t>Scenario: Logged-in user requests a new entitlement via Access Self-Service — routed through AIC journey to approval workflow then provisioned</a:t>
            </a:r>
          </a:p>
        </p:txBody>
      </p:sp>
      <p:sp>
        <p:nvSpPr>
          <p:cNvPr id="10" name="LH_User"/>
          <p:cNvSpPr/>
          <p:nvPr/>
        </p:nvSpPr>
        <p:spPr>
          <a:xfrm>
            <a:off x="370000" y="92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User</a:t>
            </a:r>
          </a:p>
        </p:txBody>
      </p:sp>
      <p:sp>
        <p:nvSpPr>
          <p:cNvPr id="11" name="LH_UAP"/>
          <p:cNvSpPr/>
          <p:nvPr/>
        </p:nvSpPr>
        <p:spPr>
          <a:xfrm>
            <a:off x="1770000" y="92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UAP Portal</a:t>
            </a:r>
          </a:p>
        </p:txBody>
      </p:sp>
      <p:sp>
        <p:nvSpPr>
          <p:cNvPr id="12" name="LH_AIC"/>
          <p:cNvSpPr/>
          <p:nvPr/>
        </p:nvSpPr>
        <p:spPr>
          <a:xfrm>
            <a:off x="3370000" y="92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PingOne AIC</a:t>
            </a:r>
          </a:p>
        </p:txBody>
      </p:sp>
      <p:sp>
        <p:nvSpPr>
          <p:cNvPr id="13" name="LH_PDir"/>
          <p:cNvSpPr/>
          <p:nvPr/>
        </p:nvSpPr>
        <p:spPr>
          <a:xfrm>
            <a:off x="4970000" y="92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Ping Directory</a:t>
            </a:r>
          </a:p>
        </p:txBody>
      </p:sp>
      <p:sp>
        <p:nvSpPr>
          <p:cNvPr id="14" name="LH_Approval"/>
          <p:cNvSpPr/>
          <p:nvPr/>
        </p:nvSpPr>
        <p:spPr>
          <a:xfrm>
            <a:off x="6570000" y="920000"/>
            <a:ext cx="13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Approval Workflow</a:t>
            </a:r>
          </a:p>
        </p:txBody>
      </p:sp>
      <p:sp>
        <p:nvSpPr>
          <p:cNvPr id="15" name="LH_Admin"/>
          <p:cNvSpPr/>
          <p:nvPr/>
        </p:nvSpPr>
        <p:spPr>
          <a:xfrm>
            <a:off x="8470000" y="92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Approver (Admin)</a:t>
            </a:r>
          </a:p>
        </p:txBody>
      </p:sp>
      <p:sp>
        <p:nvSpPr>
          <p:cNvPr id="20" name="LL_User"/>
          <p:cNvSpPr/>
          <p:nvPr/>
        </p:nvSpPr>
        <p:spPr>
          <a:xfrm>
            <a:off x="920000" y="1310000"/>
            <a:ext cx="0" cy="505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1" name="LL_UAP"/>
          <p:cNvSpPr/>
          <p:nvPr/>
        </p:nvSpPr>
        <p:spPr>
          <a:xfrm>
            <a:off x="2320000" y="1310000"/>
            <a:ext cx="0" cy="505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2" name="LL_AIC"/>
          <p:cNvSpPr/>
          <p:nvPr/>
        </p:nvSpPr>
        <p:spPr>
          <a:xfrm>
            <a:off x="3920000" y="1310000"/>
            <a:ext cx="0" cy="505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3" name="LL_PDir"/>
          <p:cNvSpPr/>
          <p:nvPr/>
        </p:nvSpPr>
        <p:spPr>
          <a:xfrm>
            <a:off x="5520000" y="1310000"/>
            <a:ext cx="0" cy="505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4" name="LL_Approval"/>
          <p:cNvSpPr/>
          <p:nvPr/>
        </p:nvSpPr>
        <p:spPr>
          <a:xfrm>
            <a:off x="7220000" y="1310000"/>
            <a:ext cx="0" cy="505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5" name="LL_Admin"/>
          <p:cNvSpPr/>
          <p:nvPr/>
        </p:nvSpPr>
        <p:spPr>
          <a:xfrm>
            <a:off x="9020000" y="1310000"/>
            <a:ext cx="0" cy="505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30" name="A1"/>
          <p:cNvSpPr/>
          <p:nvPr/>
        </p:nvSpPr>
        <p:spPr>
          <a:xfrm>
            <a:off x="920000" y="1560000"/>
            <a:ext cx="14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1" name="L1"/>
          <p:cNvSpPr/>
          <p:nvPr/>
        </p:nvSpPr>
        <p:spPr>
          <a:xfrm>
            <a:off x="940000" y="1390000"/>
            <a:ext cx="13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1. Access self-service portal</a:t>
            </a:r>
          </a:p>
        </p:txBody>
      </p:sp>
      <p:sp>
        <p:nvSpPr>
          <p:cNvPr id="32" name="A2"/>
          <p:cNvSpPr/>
          <p:nvPr/>
        </p:nvSpPr>
        <p:spPr>
          <a:xfrm>
            <a:off x="2320000" y="196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3" name="L2"/>
          <p:cNvSpPr/>
          <p:nvPr/>
        </p:nvSpPr>
        <p:spPr>
          <a:xfrm>
            <a:off x="2340000" y="1790000"/>
            <a:ext cx="19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2. Start Access Self-Service journey</a:t>
            </a:r>
          </a:p>
        </p:txBody>
      </p:sp>
      <p:sp>
        <p:nvSpPr>
          <p:cNvPr id="34" name="A3"/>
          <p:cNvSpPr/>
          <p:nvPr/>
        </p:nvSpPr>
        <p:spPr>
          <a:xfrm>
            <a:off x="3920000" y="236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5" name="L3"/>
          <p:cNvSpPr/>
          <p:nvPr/>
        </p:nvSpPr>
        <p:spPr>
          <a:xfrm>
            <a:off x="3940000" y="2190000"/>
            <a:ext cx="15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3. Fetch available entitlements</a:t>
            </a:r>
          </a:p>
        </p:txBody>
      </p:sp>
      <p:sp>
        <p:nvSpPr>
          <p:cNvPr id="36" name="A4"/>
          <p:cNvSpPr/>
          <p:nvPr/>
        </p:nvSpPr>
        <p:spPr>
          <a:xfrm>
            <a:off x="3920000" y="276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37" name="L4"/>
          <p:cNvSpPr/>
          <p:nvPr/>
        </p:nvSpPr>
        <p:spPr>
          <a:xfrm>
            <a:off x="3940000" y="2590000"/>
            <a:ext cx="15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</a:rPr>
              <a:t>4. Return entitlement list</a:t>
            </a:r>
          </a:p>
        </p:txBody>
      </p:sp>
      <p:sp>
        <p:nvSpPr>
          <p:cNvPr id="38" name="A5"/>
          <p:cNvSpPr/>
          <p:nvPr/>
        </p:nvSpPr>
        <p:spPr>
          <a:xfrm>
            <a:off x="920000" y="3160000"/>
            <a:ext cx="30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39" name="L5"/>
          <p:cNvSpPr/>
          <p:nvPr/>
        </p:nvSpPr>
        <p:spPr>
          <a:xfrm>
            <a:off x="1200000" y="2990000"/>
            <a:ext cx="25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</a:rPr>
              <a:t>5. Present entitlement selection page</a:t>
            </a:r>
          </a:p>
        </p:txBody>
      </p:sp>
      <p:sp>
        <p:nvSpPr>
          <p:cNvPr id="40" name="A6"/>
          <p:cNvSpPr/>
          <p:nvPr/>
        </p:nvSpPr>
        <p:spPr>
          <a:xfrm>
            <a:off x="920000" y="3560000"/>
            <a:ext cx="14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1" name="L6"/>
          <p:cNvSpPr/>
          <p:nvPr/>
        </p:nvSpPr>
        <p:spPr>
          <a:xfrm>
            <a:off x="940000" y="3390000"/>
            <a:ext cx="17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6. Select entitlement &amp; submit</a:t>
            </a:r>
          </a:p>
        </p:txBody>
      </p:sp>
      <p:sp>
        <p:nvSpPr>
          <p:cNvPr id="42" name="A7"/>
          <p:cNvSpPr/>
          <p:nvPr/>
        </p:nvSpPr>
        <p:spPr>
          <a:xfrm>
            <a:off x="3920000" y="3960000"/>
            <a:ext cx="33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3" name="L7"/>
          <p:cNvSpPr/>
          <p:nvPr/>
        </p:nvSpPr>
        <p:spPr>
          <a:xfrm>
            <a:off x="3940000" y="3790000"/>
            <a:ext cx="32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7. Route to approval workflow</a:t>
            </a:r>
          </a:p>
        </p:txBody>
      </p:sp>
      <p:sp>
        <p:nvSpPr>
          <p:cNvPr id="44" name="A8"/>
          <p:cNvSpPr/>
          <p:nvPr/>
        </p:nvSpPr>
        <p:spPr>
          <a:xfrm>
            <a:off x="7220000" y="436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5" name="L8"/>
          <p:cNvSpPr/>
          <p:nvPr/>
        </p:nvSpPr>
        <p:spPr>
          <a:xfrm>
            <a:off x="7240000" y="4190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8. Notify approver (email)</a:t>
            </a:r>
          </a:p>
        </p:txBody>
      </p:sp>
      <p:sp>
        <p:nvSpPr>
          <p:cNvPr id="46" name="A9"/>
          <p:cNvSpPr/>
          <p:nvPr/>
        </p:nvSpPr>
        <p:spPr>
          <a:xfrm>
            <a:off x="7220000" y="476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7" name="L9"/>
          <p:cNvSpPr/>
          <p:nvPr/>
        </p:nvSpPr>
        <p:spPr>
          <a:xfrm>
            <a:off x="7240000" y="4590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</a:rPr>
              <a:t>9. Grant approval</a:t>
            </a:r>
          </a:p>
        </p:txBody>
      </p:sp>
      <p:sp>
        <p:nvSpPr>
          <p:cNvPr id="48" name="A10"/>
          <p:cNvSpPr/>
          <p:nvPr/>
        </p:nvSpPr>
        <p:spPr>
          <a:xfrm>
            <a:off x="3920000" y="516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9" name="L10"/>
          <p:cNvSpPr/>
          <p:nvPr/>
        </p:nvSpPr>
        <p:spPr>
          <a:xfrm>
            <a:off x="3940000" y="4990000"/>
            <a:ext cx="15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</a:rPr>
              <a:t>10. Provision entitlement to user</a:t>
            </a:r>
          </a:p>
        </p:txBody>
      </p:sp>
      <p:sp>
        <p:nvSpPr>
          <p:cNvPr id="50" name="A11"/>
          <p:cNvSpPr/>
          <p:nvPr/>
        </p:nvSpPr>
        <p:spPr>
          <a:xfrm>
            <a:off x="920000" y="5560000"/>
            <a:ext cx="30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51" name="L11"/>
          <p:cNvSpPr/>
          <p:nvPr/>
        </p:nvSpPr>
        <p:spPr>
          <a:xfrm>
            <a:off x="1200000" y="5390000"/>
            <a:ext cx="25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</a:rPr>
              <a:t>11. Confirm — entitlement added</a:t>
            </a:r>
          </a:p>
        </p:txBody>
      </p:sp>
      <p:sp>
        <p:nvSpPr>
          <p:cNvPr id="60" name="Legend"/>
          <p:cNvSpPr/>
          <p:nvPr/>
        </p:nvSpPr>
        <p:spPr>
          <a:xfrm>
            <a:off x="548640" y="650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</a:rPr>
              <a:t>Red solid → request / call  Dark-red dashed → response / return  Number every step top → bottom, actors left → right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dmin Ops Bloc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/>
              </a:rPr>
              <a:t>Block Diagram — Admin Operations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/>
              </a:rPr>
              <a:t>Covers: Admin User Mgmt · Admin Enrollment · Admin Lock/Unlock · Admin MFA Mgmt · Bank Admin Customer Profile · Copy-Clone User</a:t>
            </a:r>
          </a:p>
        </p:txBody>
      </p:sp>
      <p:sp>
        <p:nvSpPr>
          <p:cNvPr id="4" name="ZU"/>
          <p:cNvSpPr/>
          <p:nvPr/>
        </p:nvSpPr>
        <p:spPr>
          <a:xfrm>
            <a:off x="548640" y="960000"/>
            <a:ext cx="7600000" cy="5450000"/>
          </a:xfrm>
          <a:prstGeom prst="roundRect">
            <a:avLst>
              <a:gd name="adj" fmla="val 8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ZUL"/>
          <p:cNvSpPr/>
          <p:nvPr/>
        </p:nvSpPr>
        <p:spPr>
          <a:xfrm>
            <a:off x="720000" y="1010000"/>
            <a:ext cx="28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6192E"/>
                </a:solidFill>
                <a:latin typeface="Calibri"/>
              </a:rPr>
              <a:t>UAP Platform Zone</a:t>
            </a:r>
          </a:p>
        </p:txBody>
      </p:sp>
      <p:sp>
        <p:nvSpPr>
          <p:cNvPr id="6" name="B1"/>
          <p:cNvSpPr/>
          <p:nvPr/>
        </p:nvSpPr>
        <p:spPr>
          <a:xfrm>
            <a:off x="720000" y="1340000"/>
            <a:ext cx="20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7" name="B1L"/>
          <p:cNvSpPr/>
          <p:nvPr/>
        </p:nvSpPr>
        <p:spPr>
          <a:xfrm>
            <a:off x="720000" y="1340000"/>
            <a:ext cx="2000000" cy="8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UAP Admin Portal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Admin entry point</a:t>
            </a:r>
          </a:p>
        </p:txBody>
      </p:sp>
      <p:sp>
        <p:nvSpPr>
          <p:cNvPr id="8" name="B2"/>
          <p:cNvSpPr/>
          <p:nvPr/>
        </p:nvSpPr>
        <p:spPr>
          <a:xfrm>
            <a:off x="3100000" y="1340000"/>
            <a:ext cx="20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9" name="B2L"/>
          <p:cNvSpPr/>
          <p:nvPr/>
        </p:nvSpPr>
        <p:spPr>
          <a:xfrm>
            <a:off x="3100000" y="1340000"/>
            <a:ext cx="2000000" cy="8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PingOne AIC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Admin journey engine</a:t>
            </a:r>
          </a:p>
        </p:txBody>
      </p:sp>
      <p:sp>
        <p:nvSpPr>
          <p:cNvPr id="10" name="B3"/>
          <p:cNvSpPr/>
          <p:nvPr/>
        </p:nvSpPr>
        <p:spPr>
          <a:xfrm>
            <a:off x="5500000" y="1340000"/>
            <a:ext cx="20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" name="B3L"/>
          <p:cNvSpPr/>
          <p:nvPr/>
        </p:nvSpPr>
        <p:spPr>
          <a:xfrm>
            <a:off x="5500000" y="1340000"/>
            <a:ext cx="2000000" cy="8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Ping Directory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User identity store</a:t>
            </a:r>
          </a:p>
        </p:txBody>
      </p:sp>
      <p:sp>
        <p:nvSpPr>
          <p:cNvPr id="12" name="ZC"/>
          <p:cNvSpPr/>
          <p:nvPr/>
        </p:nvSpPr>
        <p:spPr>
          <a:xfrm>
            <a:off x="720000" y="2360000"/>
            <a:ext cx="7300000" cy="3800000"/>
          </a:xfrm>
          <a:prstGeom prst="roundRect">
            <a:avLst>
              <a:gd name="adj" fmla="val 600"/>
            </a:avLst>
          </a:prstGeom>
          <a:solidFill>
            <a:srgbClr val="FFFFFF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ZCL"/>
          <p:cNvSpPr/>
          <p:nvPr/>
        </p:nvSpPr>
        <p:spPr>
          <a:xfrm>
            <a:off x="860000" y="2410000"/>
            <a:ext cx="35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Admin Operation Capabilities (AIC Journeys)</a:t>
            </a:r>
          </a:p>
        </p:txBody>
      </p:sp>
      <p:sp>
        <p:nvSpPr>
          <p:cNvPr id="14" name="C1"/>
          <p:cNvSpPr/>
          <p:nvPr/>
        </p:nvSpPr>
        <p:spPr>
          <a:xfrm>
            <a:off x="800000" y="2700000"/>
            <a:ext cx="2200000" cy="153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5" name="C1L"/>
          <p:cNvSpPr/>
          <p:nvPr/>
        </p:nvSpPr>
        <p:spPr>
          <a:xfrm>
            <a:off x="800000" y="2700000"/>
            <a:ext cx="2200000" cy="153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Admin User Mgmt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CRUD users / roles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View / edit profile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Search / enable / restore</a:t>
            </a:r>
          </a:p>
        </p:txBody>
      </p:sp>
      <p:sp>
        <p:nvSpPr>
          <p:cNvPr id="16" name="C2"/>
          <p:cNvSpPr/>
          <p:nvPr/>
        </p:nvSpPr>
        <p:spPr>
          <a:xfrm>
            <a:off x="3100000" y="2700000"/>
            <a:ext cx="2200000" cy="153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7" name="C2L"/>
          <p:cNvSpPr/>
          <p:nvPr/>
        </p:nvSpPr>
        <p:spPr>
          <a:xfrm>
            <a:off x="3100000" y="2700000"/>
            <a:ext cx="2200000" cy="153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Admin Lock / Unlock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Lock / unlock users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Fraud lock detection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PIN reset</a:t>
            </a:r>
          </a:p>
        </p:txBody>
      </p:sp>
      <p:sp>
        <p:nvSpPr>
          <p:cNvPr id="18" name="C3"/>
          <p:cNvSpPr/>
          <p:nvPr/>
        </p:nvSpPr>
        <p:spPr>
          <a:xfrm>
            <a:off x="5400000" y="2700000"/>
            <a:ext cx="2200000" cy="153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C3L"/>
          <p:cNvSpPr/>
          <p:nvPr/>
        </p:nvSpPr>
        <p:spPr>
          <a:xfrm>
            <a:off x="5400000" y="2700000"/>
            <a:ext cx="2200000" cy="153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Admin MFA Mgmt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Manage customer MFA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Override user MFA methods</a:t>
            </a:r>
          </a:p>
        </p:txBody>
      </p:sp>
      <p:sp>
        <p:nvSpPr>
          <p:cNvPr id="20" name="C4"/>
          <p:cNvSpPr/>
          <p:nvPr/>
        </p:nvSpPr>
        <p:spPr>
          <a:xfrm>
            <a:off x="800000" y="4370000"/>
            <a:ext cx="2200000" cy="153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1" name="C4L"/>
          <p:cNvSpPr/>
          <p:nvPr/>
        </p:nvSpPr>
        <p:spPr>
          <a:xfrm>
            <a:off x="800000" y="4370000"/>
            <a:ext cx="2200000" cy="153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Bank Admin Customer Profile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CRUD customer profiles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CDL pull on creation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Search customer records</a:t>
            </a:r>
          </a:p>
        </p:txBody>
      </p:sp>
      <p:sp>
        <p:nvSpPr>
          <p:cNvPr id="22" name="C5"/>
          <p:cNvSpPr/>
          <p:nvPr/>
        </p:nvSpPr>
        <p:spPr>
          <a:xfrm>
            <a:off x="3100000" y="4370000"/>
            <a:ext cx="2200000" cy="153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3" name="C5L"/>
          <p:cNvSpPr/>
          <p:nvPr/>
        </p:nvSpPr>
        <p:spPr>
          <a:xfrm>
            <a:off x="3100000" y="4370000"/>
            <a:ext cx="2200000" cy="153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Admin Enrollment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Enroll user authenticators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Delegated registration</a:t>
            </a:r>
          </a:p>
        </p:txBody>
      </p:sp>
      <p:sp>
        <p:nvSpPr>
          <p:cNvPr id="24" name="C6"/>
          <p:cNvSpPr/>
          <p:nvPr/>
        </p:nvSpPr>
        <p:spPr>
          <a:xfrm>
            <a:off x="5400000" y="4370000"/>
            <a:ext cx="2200000" cy="153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5" name="C6L"/>
          <p:cNvSpPr/>
          <p:nvPr/>
        </p:nvSpPr>
        <p:spPr>
          <a:xfrm>
            <a:off x="5400000" y="4370000"/>
            <a:ext cx="2200000" cy="153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Copy-Clone User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Clone existing user profile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Create new user from template</a:t>
            </a:r>
          </a:p>
        </p:txBody>
      </p:sp>
      <p:sp>
        <p:nvSpPr>
          <p:cNvPr id="30" name="A1"/>
          <p:cNvSpPr/>
          <p:nvPr/>
        </p:nvSpPr>
        <p:spPr>
          <a:xfrm>
            <a:off x="4100000" y="2160000"/>
            <a:ext cx="0" cy="20000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1" name="A1L"/>
          <p:cNvSpPr/>
          <p:nvPr/>
        </p:nvSpPr>
        <p:spPr>
          <a:xfrm>
            <a:off x="4150000" y="2160000"/>
            <a:ext cx="15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Executes admin journey</a:t>
            </a:r>
          </a:p>
        </p:txBody>
      </p:sp>
      <p:sp>
        <p:nvSpPr>
          <p:cNvPr id="32" name="A2"/>
          <p:cNvSpPr/>
          <p:nvPr/>
        </p:nvSpPr>
        <p:spPr>
          <a:xfrm>
            <a:off x="2720000" y="1750000"/>
            <a:ext cx="38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3" name="A2L"/>
          <p:cNvSpPr/>
          <p:nvPr/>
        </p:nvSpPr>
        <p:spPr>
          <a:xfrm>
            <a:off x="2730000" y="1580000"/>
            <a:ext cx="3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Admin session</a:t>
            </a:r>
          </a:p>
        </p:txBody>
      </p:sp>
      <p:sp>
        <p:nvSpPr>
          <p:cNvPr id="34" name="A3"/>
          <p:cNvSpPr/>
          <p:nvPr/>
        </p:nvSpPr>
        <p:spPr>
          <a:xfrm>
            <a:off x="5100000" y="1750000"/>
            <a:ext cx="4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5" name="A3L"/>
          <p:cNvSpPr/>
          <p:nvPr/>
        </p:nvSpPr>
        <p:spPr>
          <a:xfrm>
            <a:off x="5110000" y="1580000"/>
            <a:ext cx="38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Read/write user</a:t>
            </a:r>
          </a:p>
        </p:txBody>
      </p:sp>
      <p:sp>
        <p:nvSpPr>
          <p:cNvPr id="40" name="ZE"/>
          <p:cNvSpPr/>
          <p:nvPr/>
        </p:nvSpPr>
        <p:spPr>
          <a:xfrm>
            <a:off x="8450000" y="960000"/>
            <a:ext cx="3200000" cy="5450000"/>
          </a:xfrm>
          <a:prstGeom prst="roundRect">
            <a:avLst>
              <a:gd name="adj" fmla="val 8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1" name="ZEL"/>
          <p:cNvSpPr/>
          <p:nvPr/>
        </p:nvSpPr>
        <p:spPr>
          <a:xfrm>
            <a:off x="8600000" y="1010000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B6B6B"/>
                </a:solidFill>
                <a:latin typeface="Calibri"/>
              </a:rPr>
              <a:t>External Systems</a:t>
            </a:r>
          </a:p>
        </p:txBody>
      </p:sp>
      <p:sp>
        <p:nvSpPr>
          <p:cNvPr id="42" name="E1"/>
          <p:cNvSpPr/>
          <p:nvPr/>
        </p:nvSpPr>
        <p:spPr>
          <a:xfrm>
            <a:off x="8650000" y="134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3" name="E1L"/>
          <p:cNvSpPr/>
          <p:nvPr/>
        </p:nvSpPr>
        <p:spPr>
          <a:xfrm>
            <a:off x="8650000" y="134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RSA SecurID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MFA for admin ops</a:t>
            </a:r>
          </a:p>
        </p:txBody>
      </p:sp>
      <p:sp>
        <p:nvSpPr>
          <p:cNvPr id="44" name="E2"/>
          <p:cNvSpPr/>
          <p:nvPr/>
        </p:nvSpPr>
        <p:spPr>
          <a:xfrm>
            <a:off x="8650000" y="238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5" name="E2L"/>
          <p:cNvSpPr/>
          <p:nvPr/>
        </p:nvSpPr>
        <p:spPr>
          <a:xfrm>
            <a:off x="8650000" y="238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CDL System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Customer data lookup</a:t>
            </a:r>
          </a:p>
        </p:txBody>
      </p:sp>
      <p:sp>
        <p:nvSpPr>
          <p:cNvPr id="46" name="E3"/>
          <p:cNvSpPr/>
          <p:nvPr/>
        </p:nvSpPr>
        <p:spPr>
          <a:xfrm>
            <a:off x="8650000" y="342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7" name="E3L"/>
          <p:cNvSpPr/>
          <p:nvPr/>
        </p:nvSpPr>
        <p:spPr>
          <a:xfrm>
            <a:off x="8650000" y="342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Email / Notification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Lock/unlock alerts</a:t>
            </a:r>
          </a:p>
        </p:txBody>
      </p:sp>
      <p:sp>
        <p:nvSpPr>
          <p:cNvPr id="50" name="AE1"/>
          <p:cNvSpPr/>
          <p:nvPr/>
        </p:nvSpPr>
        <p:spPr>
          <a:xfrm>
            <a:off x="8150000" y="173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51" name="AE1L"/>
          <p:cNvSpPr/>
          <p:nvPr/>
        </p:nvSpPr>
        <p:spPr>
          <a:xfrm>
            <a:off x="8160000" y="1570000"/>
            <a:ext cx="48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MFA verify</a:t>
            </a:r>
          </a:p>
        </p:txBody>
      </p:sp>
      <p:sp>
        <p:nvSpPr>
          <p:cNvPr id="52" name="AE2"/>
          <p:cNvSpPr/>
          <p:nvPr/>
        </p:nvSpPr>
        <p:spPr>
          <a:xfrm>
            <a:off x="8150000" y="277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53" name="AE2L"/>
          <p:cNvSpPr/>
          <p:nvPr/>
        </p:nvSpPr>
        <p:spPr>
          <a:xfrm>
            <a:off x="8160000" y="2610000"/>
            <a:ext cx="48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CDL pull</a:t>
            </a:r>
          </a:p>
        </p:txBody>
      </p:sp>
      <p:sp>
        <p:nvSpPr>
          <p:cNvPr id="54" name="AE3"/>
          <p:cNvSpPr/>
          <p:nvPr/>
        </p:nvSpPr>
        <p:spPr>
          <a:xfrm>
            <a:off x="8150000" y="381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55" name="AE3L"/>
          <p:cNvSpPr/>
          <p:nvPr/>
        </p:nvSpPr>
        <p:spPr>
          <a:xfrm>
            <a:off x="8160000" y="3650000"/>
            <a:ext cx="48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Alert notify</a:t>
            </a:r>
          </a:p>
        </p:txBody>
      </p:sp>
      <p:sp>
        <p:nvSpPr>
          <p:cNvPr id="60" name="LG"/>
          <p:cNvSpPr/>
          <p:nvPr/>
        </p:nvSpPr>
        <p:spPr>
          <a:xfrm>
            <a:off x="548640" y="5980000"/>
            <a:ext cx="1109167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/>
              </a:rPr>
              <a:t>Red border = internal component   Grey fill = external system   Red arrow = request/call   Dashed zone = UAP platform boundary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 name="Admin Ops Seq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Calibri"/>
              </a:rPr>
              <a:t>Sequence Diagram — Admin Lock / Unlock (Fraud Lock)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/>
              </a:rPr>
              <a:t>Scenario: Admin locks a user account. System checks for fraud lock, executes via AIC journey, updates Ping Directory, and sends notification</a:t>
            </a:r>
          </a:p>
        </p:txBody>
      </p:sp>
      <p:sp>
        <p:nvSpPr>
          <p:cNvPr id="10" name="LH_Admin"/>
          <p:cNvSpPr/>
          <p:nvPr/>
        </p:nvSpPr>
        <p:spPr>
          <a:xfrm>
            <a:off x="300000" y="900000"/>
            <a:ext cx="12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20" name="LL_Admin"/>
          <p:cNvSpPr/>
          <p:nvPr/>
        </p:nvSpPr>
        <p:spPr>
          <a:xfrm>
            <a:off x="9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1" name="LH_UAP"/>
          <p:cNvSpPr/>
          <p:nvPr/>
        </p:nvSpPr>
        <p:spPr>
          <a:xfrm>
            <a:off x="1800000" y="900000"/>
            <a:ext cx="12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UAP</a:t>
            </a:r>
          </a:p>
        </p:txBody>
      </p:sp>
      <p:sp>
        <p:nvSpPr>
          <p:cNvPr id="21" name="LL_UAP"/>
          <p:cNvSpPr/>
          <p:nvPr/>
        </p:nvSpPr>
        <p:spPr>
          <a:xfrm>
            <a:off x="24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2" name="LH_AIC"/>
          <p:cNvSpPr/>
          <p:nvPr/>
        </p:nvSpPr>
        <p:spPr>
          <a:xfrm>
            <a:off x="3400000" y="900000"/>
            <a:ext cx="12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AIC</a:t>
            </a:r>
          </a:p>
        </p:txBody>
      </p:sp>
      <p:sp>
        <p:nvSpPr>
          <p:cNvPr id="22" name="LL_AIC"/>
          <p:cNvSpPr/>
          <p:nvPr/>
        </p:nvSpPr>
        <p:spPr>
          <a:xfrm>
            <a:off x="40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3" name="LH_PingDir"/>
          <p:cNvSpPr/>
          <p:nvPr/>
        </p:nvSpPr>
        <p:spPr>
          <a:xfrm>
            <a:off x="5100000" y="900000"/>
            <a:ext cx="12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PingDir</a:t>
            </a:r>
          </a:p>
        </p:txBody>
      </p:sp>
      <p:sp>
        <p:nvSpPr>
          <p:cNvPr id="23" name="LL_PingDir"/>
          <p:cNvSpPr/>
          <p:nvPr/>
        </p:nvSpPr>
        <p:spPr>
          <a:xfrm>
            <a:off x="57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4" name="LH_Email"/>
          <p:cNvSpPr/>
          <p:nvPr/>
        </p:nvSpPr>
        <p:spPr>
          <a:xfrm>
            <a:off x="6900000" y="900000"/>
            <a:ext cx="12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Email</a:t>
            </a:r>
          </a:p>
        </p:txBody>
      </p:sp>
      <p:sp>
        <p:nvSpPr>
          <p:cNvPr id="24" name="LL_Email"/>
          <p:cNvSpPr/>
          <p:nvPr/>
        </p:nvSpPr>
        <p:spPr>
          <a:xfrm>
            <a:off x="75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30" name="Arr_30"/>
          <p:cNvSpPr/>
          <p:nvPr/>
        </p:nvSpPr>
        <p:spPr>
          <a:xfrm>
            <a:off x="900000" y="1460000"/>
            <a:ext cx="1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bl_31"/>
          <p:cNvSpPr/>
          <p:nvPr/>
        </p:nvSpPr>
        <p:spPr>
          <a:xfrm>
            <a:off x="920000" y="1285000"/>
            <a:ext cx="15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1. Select user to lock</a:t>
            </a:r>
          </a:p>
        </p:txBody>
      </p:sp>
      <p:sp>
        <p:nvSpPr>
          <p:cNvPr id="32" name="Arr_32"/>
          <p:cNvSpPr/>
          <p:nvPr/>
        </p:nvSpPr>
        <p:spPr>
          <a:xfrm>
            <a:off x="2400000" y="187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bl_33"/>
          <p:cNvSpPr/>
          <p:nvPr/>
        </p:nvSpPr>
        <p:spPr>
          <a:xfrm>
            <a:off x="2420000" y="1695000"/>
            <a:ext cx="16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2. Start Lock/Unlock journey (OIDC)</a:t>
            </a:r>
          </a:p>
        </p:txBody>
      </p:sp>
      <p:sp>
        <p:nvSpPr>
          <p:cNvPr id="34" name="P34"/>
          <p:cNvSpPr/>
          <p:nvPr/>
        </p:nvSpPr>
        <p:spPr>
          <a:xfrm>
            <a:off x="3900000" y="2280000"/>
            <a:ext cx="60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</a:ln>
        </p:spPr>
        <p:txBody>
          <a:bodyPr wrap="square" lIns="45720" tIns="30000" rIns="4572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3. Validate admin role vs lock type</a:t>
            </a:r>
          </a:p>
        </p:txBody>
      </p:sp>
      <p:sp>
        <p:nvSpPr>
          <p:cNvPr id="35" name="Arr_35"/>
          <p:cNvSpPr/>
          <p:nvPr/>
        </p:nvSpPr>
        <p:spPr>
          <a:xfrm>
            <a:off x="4000000" y="2680000"/>
            <a:ext cx="17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6" name="Lbl_36"/>
          <p:cNvSpPr/>
          <p:nvPr/>
        </p:nvSpPr>
        <p:spPr>
          <a:xfrm>
            <a:off x="4020000" y="2505000"/>
            <a:ext cx="17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4. Check fraud lock flag in directory</a:t>
            </a:r>
          </a:p>
        </p:txBody>
      </p:sp>
      <p:sp>
        <p:nvSpPr>
          <p:cNvPr id="37" name="Arr_37"/>
          <p:cNvSpPr/>
          <p:nvPr/>
        </p:nvSpPr>
        <p:spPr>
          <a:xfrm>
            <a:off x="4000000" y="3080000"/>
            <a:ext cx="17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38" name="Lbl_38"/>
          <p:cNvSpPr/>
          <p:nvPr/>
        </p:nvSpPr>
        <p:spPr>
          <a:xfrm>
            <a:off x="4020000" y="2905000"/>
            <a:ext cx="17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5. Return lock status</a:t>
            </a:r>
          </a:p>
        </p:txBody>
      </p:sp>
      <p:sp>
        <p:nvSpPr>
          <p:cNvPr id="39" name="Arr_39"/>
          <p:cNvSpPr/>
          <p:nvPr/>
        </p:nvSpPr>
        <p:spPr>
          <a:xfrm>
            <a:off x="4000000" y="3480000"/>
            <a:ext cx="17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0" name="Lbl_40"/>
          <p:cNvSpPr/>
          <p:nvPr/>
        </p:nvSpPr>
        <p:spPr>
          <a:xfrm>
            <a:off x="4020000" y="3305000"/>
            <a:ext cx="17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6. Lock user account</a:t>
            </a:r>
          </a:p>
        </p:txBody>
      </p:sp>
      <p:sp>
        <p:nvSpPr>
          <p:cNvPr id="41" name="Arr_41"/>
          <p:cNvSpPr/>
          <p:nvPr/>
        </p:nvSpPr>
        <p:spPr>
          <a:xfrm>
            <a:off x="4000000" y="3880000"/>
            <a:ext cx="17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42" name="Lbl_42"/>
          <p:cNvSpPr/>
          <p:nvPr/>
        </p:nvSpPr>
        <p:spPr>
          <a:xfrm>
            <a:off x="4020000" y="3705000"/>
            <a:ext cx="17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7. Confirm lock applied</a:t>
            </a:r>
          </a:p>
        </p:txBody>
      </p:sp>
      <p:sp>
        <p:nvSpPr>
          <p:cNvPr id="43" name="Arr_43"/>
          <p:cNvSpPr/>
          <p:nvPr/>
        </p:nvSpPr>
        <p:spPr>
          <a:xfrm>
            <a:off x="4000000" y="4280000"/>
            <a:ext cx="3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4" name="Lbl_44"/>
          <p:cNvSpPr/>
          <p:nvPr/>
        </p:nvSpPr>
        <p:spPr>
          <a:xfrm>
            <a:off x="4020000" y="4105000"/>
            <a:ext cx="35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8. Send lock notification email</a:t>
            </a:r>
          </a:p>
        </p:txBody>
      </p:sp>
      <p:sp>
        <p:nvSpPr>
          <p:cNvPr id="45" name="Arr_45"/>
          <p:cNvSpPr/>
          <p:nvPr/>
        </p:nvSpPr>
        <p:spPr>
          <a:xfrm>
            <a:off x="900000" y="4680000"/>
            <a:ext cx="31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46" name="Lbl_46"/>
          <p:cNvSpPr/>
          <p:nvPr/>
        </p:nvSpPr>
        <p:spPr>
          <a:xfrm>
            <a:off x="920000" y="4505000"/>
            <a:ext cx="31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9. Return confirmation to admin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654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/>
              </a:rPr>
              <a:t>Red solid → request/call  Dark-red dashed → response/return  Red-tint box → processing  Steps numbered top → bottom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ankAdmin Gov Bloc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/>
              </a:rPr>
              <a:t>Block Diagram — Bank Admin &amp; Governance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/>
              </a:rPr>
              <a:t>Covers: Bank Admin Roles · Co-Browsing · Emulation View · Audit · Role-Based Model (ACAT / SoD)</a:t>
            </a:r>
          </a:p>
        </p:txBody>
      </p:sp>
      <p:sp>
        <p:nvSpPr>
          <p:cNvPr id="4" name="ZU"/>
          <p:cNvSpPr/>
          <p:nvPr/>
        </p:nvSpPr>
        <p:spPr>
          <a:xfrm>
            <a:off x="548640" y="960000"/>
            <a:ext cx="7600000" cy="5450000"/>
          </a:xfrm>
          <a:prstGeom prst="roundRect">
            <a:avLst>
              <a:gd name="adj" fmla="val 8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ZUL"/>
          <p:cNvSpPr/>
          <p:nvPr/>
        </p:nvSpPr>
        <p:spPr>
          <a:xfrm>
            <a:off x="720000" y="1010000"/>
            <a:ext cx="28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6192E"/>
                </a:solidFill>
                <a:latin typeface="Calibri"/>
              </a:rPr>
              <a:t>UAP Platform Zone</a:t>
            </a:r>
          </a:p>
        </p:txBody>
      </p:sp>
      <p:sp>
        <p:nvSpPr>
          <p:cNvPr id="6" name="B1"/>
          <p:cNvSpPr/>
          <p:nvPr/>
        </p:nvSpPr>
        <p:spPr>
          <a:xfrm>
            <a:off x="720000" y="1350000"/>
            <a:ext cx="1900000" cy="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7" name="B1L"/>
          <p:cNvSpPr/>
          <p:nvPr/>
        </p:nvSpPr>
        <p:spPr>
          <a:xfrm>
            <a:off x="720000" y="1350000"/>
            <a:ext cx="1900000" cy="8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UAP Admin Portal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Bank admin entry</a:t>
            </a:r>
          </a:p>
        </p:txBody>
      </p:sp>
      <p:sp>
        <p:nvSpPr>
          <p:cNvPr id="8" name="B2"/>
          <p:cNvSpPr/>
          <p:nvPr/>
        </p:nvSpPr>
        <p:spPr>
          <a:xfrm>
            <a:off x="3000000" y="1350000"/>
            <a:ext cx="1900000" cy="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9" name="B2L"/>
          <p:cNvSpPr/>
          <p:nvPr/>
        </p:nvSpPr>
        <p:spPr>
          <a:xfrm>
            <a:off x="3000000" y="1350000"/>
            <a:ext cx="1900000" cy="8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PingOne AIC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Governance journeys</a:t>
            </a:r>
          </a:p>
        </p:txBody>
      </p:sp>
      <p:sp>
        <p:nvSpPr>
          <p:cNvPr id="10" name="B3"/>
          <p:cNvSpPr/>
          <p:nvPr/>
        </p:nvSpPr>
        <p:spPr>
          <a:xfrm>
            <a:off x="5300000" y="1350000"/>
            <a:ext cx="1900000" cy="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" name="B3L"/>
          <p:cNvSpPr/>
          <p:nvPr/>
        </p:nvSpPr>
        <p:spPr>
          <a:xfrm>
            <a:off x="5300000" y="1350000"/>
            <a:ext cx="1900000" cy="8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Ping Directory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Roles, audit logs</a:t>
            </a:r>
          </a:p>
        </p:txBody>
      </p:sp>
      <p:sp>
        <p:nvSpPr>
          <p:cNvPr id="12" name="ZC"/>
          <p:cNvSpPr/>
          <p:nvPr/>
        </p:nvSpPr>
        <p:spPr>
          <a:xfrm>
            <a:off x="720000" y="2350000"/>
            <a:ext cx="7300000" cy="3850000"/>
          </a:xfrm>
          <a:prstGeom prst="roundRect">
            <a:avLst>
              <a:gd name="adj" fmla="val 600"/>
            </a:avLst>
          </a:prstGeom>
          <a:solidFill>
            <a:srgbClr val="FFFFFF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ZCL"/>
          <p:cNvSpPr/>
          <p:nvPr/>
        </p:nvSpPr>
        <p:spPr>
          <a:xfrm>
            <a:off x="860000" y="2400000"/>
            <a:ext cx="35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Governance Capabilities</a:t>
            </a:r>
          </a:p>
        </p:txBody>
      </p:sp>
      <p:sp>
        <p:nvSpPr>
          <p:cNvPr id="20" name="C0"/>
          <p:cNvSpPr/>
          <p:nvPr/>
        </p:nvSpPr>
        <p:spPr>
          <a:xfrm>
            <a:off x="720000" y="2680000"/>
            <a:ext cx="1330000" cy="330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1" name="C0L"/>
          <p:cNvSpPr/>
          <p:nvPr/>
        </p:nvSpPr>
        <p:spPr>
          <a:xfrm>
            <a:off x="720000" y="2680000"/>
            <a:ext cx="1330000" cy="3300000"/>
          </a:xfrm>
          <a:prstGeom prst="rect">
            <a:avLst/>
          </a:prstGeom>
          <a:noFill/>
          <a:ln/>
        </p:spPr>
        <p:txBody>
          <a:bodyPr wrap="square" lIns="70000" tIns="60000" rIns="70000" bIns="600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1322"/>
                </a:solidFill>
                <a:latin typeface="Calibri"/>
              </a:rPr>
              <a:t>Bank Admin Roles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Maintain access model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ACAT SoD enforcement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Role permission checks</a:t>
            </a:r>
          </a:p>
        </p:txBody>
      </p:sp>
      <p:sp>
        <p:nvSpPr>
          <p:cNvPr id="22" name="C1"/>
          <p:cNvSpPr/>
          <p:nvPr/>
        </p:nvSpPr>
        <p:spPr>
          <a:xfrm>
            <a:off x="2180000" y="2680000"/>
            <a:ext cx="1330000" cy="330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3" name="C1L"/>
          <p:cNvSpPr/>
          <p:nvPr/>
        </p:nvSpPr>
        <p:spPr>
          <a:xfrm>
            <a:off x="2180000" y="2680000"/>
            <a:ext cx="1330000" cy="3300000"/>
          </a:xfrm>
          <a:prstGeom prst="rect">
            <a:avLst/>
          </a:prstGeom>
          <a:noFill/>
          <a:ln/>
        </p:spPr>
        <p:txBody>
          <a:bodyPr wrap="square" lIns="70000" tIns="60000" rIns="70000" bIns="600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1322"/>
                </a:solidFill>
                <a:latin typeface="Calibri"/>
              </a:rPr>
              <a:t>Co-Browsing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Admin co-browse session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User accept/decline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Takeover control</a:t>
            </a:r>
          </a:p>
        </p:txBody>
      </p:sp>
      <p:sp>
        <p:nvSpPr>
          <p:cNvPr id="24" name="C2"/>
          <p:cNvSpPr/>
          <p:nvPr/>
        </p:nvSpPr>
        <p:spPr>
          <a:xfrm>
            <a:off x="3640000" y="2680000"/>
            <a:ext cx="1330000" cy="330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5" name="C2L"/>
          <p:cNvSpPr/>
          <p:nvPr/>
        </p:nvSpPr>
        <p:spPr>
          <a:xfrm>
            <a:off x="3640000" y="2680000"/>
            <a:ext cx="1330000" cy="3300000"/>
          </a:xfrm>
          <a:prstGeom prst="rect">
            <a:avLst/>
          </a:prstGeom>
          <a:noFill/>
          <a:ln/>
        </p:spPr>
        <p:txBody>
          <a:bodyPr wrap="square" lIns="70000" tIns="60000" rIns="70000" bIns="600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1322"/>
                </a:solidFill>
                <a:latin typeface="Calibri"/>
              </a:rPr>
              <a:t>Emulation View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Admin views as user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Session context capture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Read-only browser view</a:t>
            </a:r>
          </a:p>
        </p:txBody>
      </p:sp>
      <p:sp>
        <p:nvSpPr>
          <p:cNvPr id="26" name="C3"/>
          <p:cNvSpPr/>
          <p:nvPr/>
        </p:nvSpPr>
        <p:spPr>
          <a:xfrm>
            <a:off x="5100000" y="2680000"/>
            <a:ext cx="1330000" cy="330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7" name="C3L"/>
          <p:cNvSpPr/>
          <p:nvPr/>
        </p:nvSpPr>
        <p:spPr>
          <a:xfrm>
            <a:off x="5100000" y="2680000"/>
            <a:ext cx="1330000" cy="3300000"/>
          </a:xfrm>
          <a:prstGeom prst="rect">
            <a:avLst/>
          </a:prstGeom>
          <a:noFill/>
          <a:ln/>
        </p:spPr>
        <p:txBody>
          <a:bodyPr wrap="square" lIns="70000" tIns="60000" rIns="70000" bIns="600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1322"/>
                </a:solidFill>
                <a:latin typeface="Calibri"/>
              </a:rPr>
              <a:t>Audit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Track all admin actions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Phone/email update logs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Write to audit store</a:t>
            </a:r>
          </a:p>
        </p:txBody>
      </p:sp>
      <p:sp>
        <p:nvSpPr>
          <p:cNvPr id="28" name="C4"/>
          <p:cNvSpPr/>
          <p:nvPr/>
        </p:nvSpPr>
        <p:spPr>
          <a:xfrm>
            <a:off x="6560000" y="2680000"/>
            <a:ext cx="1330000" cy="330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9" name="C4L"/>
          <p:cNvSpPr/>
          <p:nvPr/>
        </p:nvSpPr>
        <p:spPr>
          <a:xfrm>
            <a:off x="6560000" y="2680000"/>
            <a:ext cx="1330000" cy="3300000"/>
          </a:xfrm>
          <a:prstGeom prst="rect">
            <a:avLst/>
          </a:prstGeom>
          <a:noFill/>
          <a:ln/>
        </p:spPr>
        <p:txBody>
          <a:bodyPr wrap="square" lIns="70000" tIns="60000" rIns="70000" bIns="600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1322"/>
                </a:solidFill>
                <a:latin typeface="Calibri"/>
              </a:rPr>
              <a:t>Role-Based Model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Map roles to functions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Control bank access</a:t>
            </a:r>
          </a:p>
          <a:p>
            <a:pPr algn="ctr" indent="0" marL="0">
              <a:buNone/>
            </a:pPr>
            <a:r>
              <a:rPr lang="en-US" sz="820" dirty="0">
                <a:solidFill>
                  <a:srgbClr val="262626"/>
                </a:solidFill>
                <a:latin typeface="Calibri"/>
              </a:rPr>
              <a:t>Enforce least privilege</a:t>
            </a:r>
          </a:p>
        </p:txBody>
      </p:sp>
      <p:sp>
        <p:nvSpPr>
          <p:cNvPr id="50" name="A1"/>
          <p:cNvSpPr/>
          <p:nvPr/>
        </p:nvSpPr>
        <p:spPr>
          <a:xfrm>
            <a:off x="2620000" y="1750000"/>
            <a:ext cx="38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51" name="A1L"/>
          <p:cNvSpPr/>
          <p:nvPr/>
        </p:nvSpPr>
        <p:spPr>
          <a:xfrm>
            <a:off x="2630000" y="1590000"/>
            <a:ext cx="36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Gov session</a:t>
            </a:r>
          </a:p>
        </p:txBody>
      </p:sp>
      <p:sp>
        <p:nvSpPr>
          <p:cNvPr id="52" name="A2"/>
          <p:cNvSpPr/>
          <p:nvPr/>
        </p:nvSpPr>
        <p:spPr>
          <a:xfrm>
            <a:off x="4900000" y="1750000"/>
            <a:ext cx="4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53" name="A2L"/>
          <p:cNvSpPr/>
          <p:nvPr/>
        </p:nvSpPr>
        <p:spPr>
          <a:xfrm>
            <a:off x="4910000" y="1590000"/>
            <a:ext cx="38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R/W roles</a:t>
            </a:r>
          </a:p>
        </p:txBody>
      </p:sp>
      <p:sp>
        <p:nvSpPr>
          <p:cNvPr id="54" name="A3"/>
          <p:cNvSpPr/>
          <p:nvPr/>
        </p:nvSpPr>
        <p:spPr>
          <a:xfrm>
            <a:off x="3950000" y="2150000"/>
            <a:ext cx="0" cy="20000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60" name="ZE"/>
          <p:cNvSpPr/>
          <p:nvPr/>
        </p:nvSpPr>
        <p:spPr>
          <a:xfrm>
            <a:off x="8450000" y="960000"/>
            <a:ext cx="3200000" cy="5450000"/>
          </a:xfrm>
          <a:prstGeom prst="roundRect">
            <a:avLst>
              <a:gd name="adj" fmla="val 8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61" name="ZEL"/>
          <p:cNvSpPr/>
          <p:nvPr/>
        </p:nvSpPr>
        <p:spPr>
          <a:xfrm>
            <a:off x="8600000" y="1010000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B6B6B"/>
                </a:solidFill>
                <a:latin typeface="Calibri"/>
              </a:rPr>
              <a:t>External Systems</a:t>
            </a:r>
          </a:p>
        </p:txBody>
      </p:sp>
      <p:sp>
        <p:nvSpPr>
          <p:cNvPr id="62" name="E0"/>
          <p:cNvSpPr/>
          <p:nvPr/>
        </p:nvSpPr>
        <p:spPr>
          <a:xfrm>
            <a:off x="8650000" y="135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63" name="E0L"/>
          <p:cNvSpPr/>
          <p:nvPr/>
        </p:nvSpPr>
        <p:spPr>
          <a:xfrm>
            <a:off x="8650000" y="135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ACAT Engine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SoD / toxic combo check</a:t>
            </a:r>
          </a:p>
        </p:txBody>
      </p:sp>
      <p:sp>
        <p:nvSpPr>
          <p:cNvPr id="82" name="AE0"/>
          <p:cNvSpPr/>
          <p:nvPr/>
        </p:nvSpPr>
        <p:spPr>
          <a:xfrm>
            <a:off x="8150000" y="174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64" name="E1"/>
          <p:cNvSpPr/>
          <p:nvPr/>
        </p:nvSpPr>
        <p:spPr>
          <a:xfrm>
            <a:off x="8650000" y="250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65" name="E1L"/>
          <p:cNvSpPr/>
          <p:nvPr/>
        </p:nvSpPr>
        <p:spPr>
          <a:xfrm>
            <a:off x="8650000" y="250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Audit Log Store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Persistent audit trail</a:t>
            </a:r>
          </a:p>
        </p:txBody>
      </p:sp>
      <p:sp>
        <p:nvSpPr>
          <p:cNvPr id="84" name="AE1"/>
          <p:cNvSpPr/>
          <p:nvPr/>
        </p:nvSpPr>
        <p:spPr>
          <a:xfrm>
            <a:off x="8150000" y="289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66" name="E2"/>
          <p:cNvSpPr/>
          <p:nvPr/>
        </p:nvSpPr>
        <p:spPr>
          <a:xfrm>
            <a:off x="8650000" y="375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67" name="E2L"/>
          <p:cNvSpPr/>
          <p:nvPr/>
        </p:nvSpPr>
        <p:spPr>
          <a:xfrm>
            <a:off x="8650000" y="375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Co-Browse Service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Real-time session share</a:t>
            </a:r>
          </a:p>
        </p:txBody>
      </p:sp>
      <p:sp>
        <p:nvSpPr>
          <p:cNvPr id="86" name="AE2"/>
          <p:cNvSpPr/>
          <p:nvPr/>
        </p:nvSpPr>
        <p:spPr>
          <a:xfrm>
            <a:off x="8150000" y="414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98" name="LG"/>
          <p:cNvSpPr/>
          <p:nvPr/>
        </p:nvSpPr>
        <p:spPr>
          <a:xfrm>
            <a:off x="548640" y="5980000"/>
            <a:ext cx="1109167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/>
              </a:rPr>
              <a:t>Red border = internal   Grey fill = external   Red arrow = request   Dashed zone = UAP boundary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 name="BankAdmin Gov Seq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Calibri"/>
              </a:rPr>
              <a:t>Sequence Diagram — Bank Admin Co-Browsing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/>
              </a:rPr>
              <a:t>Scenario: Bank admin with correct AD group initiates a co-browse session with an active customer user session</a:t>
            </a:r>
          </a:p>
        </p:txBody>
      </p:sp>
      <p:sp>
        <p:nvSpPr>
          <p:cNvPr id="10" name="LH_Bank Admin"/>
          <p:cNvSpPr/>
          <p:nvPr/>
        </p:nvSpPr>
        <p:spPr>
          <a:xfrm>
            <a:off x="150000" y="900000"/>
            <a:ext cx="13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Bank Admin</a:t>
            </a:r>
          </a:p>
        </p:txBody>
      </p:sp>
      <p:sp>
        <p:nvSpPr>
          <p:cNvPr id="20" name="LL_Bank Admin"/>
          <p:cNvSpPr/>
          <p:nvPr/>
        </p:nvSpPr>
        <p:spPr>
          <a:xfrm>
            <a:off x="8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1" name="LH_UAP"/>
          <p:cNvSpPr/>
          <p:nvPr/>
        </p:nvSpPr>
        <p:spPr>
          <a:xfrm>
            <a:off x="1750000" y="90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UAP</a:t>
            </a:r>
          </a:p>
        </p:txBody>
      </p:sp>
      <p:sp>
        <p:nvSpPr>
          <p:cNvPr id="21" name="LL_UAP"/>
          <p:cNvSpPr/>
          <p:nvPr/>
        </p:nvSpPr>
        <p:spPr>
          <a:xfrm>
            <a:off x="23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2" name="LH_AIC"/>
          <p:cNvSpPr/>
          <p:nvPr/>
        </p:nvSpPr>
        <p:spPr>
          <a:xfrm>
            <a:off x="3350000" y="90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AIC</a:t>
            </a:r>
          </a:p>
        </p:txBody>
      </p:sp>
      <p:sp>
        <p:nvSpPr>
          <p:cNvPr id="22" name="LL_AIC"/>
          <p:cNvSpPr/>
          <p:nvPr/>
        </p:nvSpPr>
        <p:spPr>
          <a:xfrm>
            <a:off x="39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3" name="LH_Customer User"/>
          <p:cNvSpPr/>
          <p:nvPr/>
        </p:nvSpPr>
        <p:spPr>
          <a:xfrm>
            <a:off x="4855000" y="900000"/>
            <a:ext cx="169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Customer User</a:t>
            </a:r>
          </a:p>
        </p:txBody>
      </p:sp>
      <p:sp>
        <p:nvSpPr>
          <p:cNvPr id="23" name="LL_Customer User"/>
          <p:cNvSpPr/>
          <p:nvPr/>
        </p:nvSpPr>
        <p:spPr>
          <a:xfrm>
            <a:off x="57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4" name="LH_Co-Browse Svc"/>
          <p:cNvSpPr/>
          <p:nvPr/>
        </p:nvSpPr>
        <p:spPr>
          <a:xfrm>
            <a:off x="6755000" y="900000"/>
            <a:ext cx="169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Co-Browse Svc</a:t>
            </a:r>
          </a:p>
        </p:txBody>
      </p:sp>
      <p:sp>
        <p:nvSpPr>
          <p:cNvPr id="24" name="LL_Co-Browse Svc"/>
          <p:cNvSpPr/>
          <p:nvPr/>
        </p:nvSpPr>
        <p:spPr>
          <a:xfrm>
            <a:off x="76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30" name="Arr_30"/>
          <p:cNvSpPr/>
          <p:nvPr/>
        </p:nvSpPr>
        <p:spPr>
          <a:xfrm>
            <a:off x="800000" y="1500000"/>
            <a:ext cx="1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bl_31"/>
          <p:cNvSpPr/>
          <p:nvPr/>
        </p:nvSpPr>
        <p:spPr>
          <a:xfrm>
            <a:off x="830000" y="1325000"/>
            <a:ext cx="14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1. Select active user session</a:t>
            </a:r>
          </a:p>
        </p:txBody>
      </p:sp>
      <p:sp>
        <p:nvSpPr>
          <p:cNvPr id="32" name="Arr_32"/>
          <p:cNvSpPr/>
          <p:nvPr/>
        </p:nvSpPr>
        <p:spPr>
          <a:xfrm>
            <a:off x="2300000" y="2125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bl_33"/>
          <p:cNvSpPr/>
          <p:nvPr/>
        </p:nvSpPr>
        <p:spPr>
          <a:xfrm>
            <a:off x="2330000" y="1950000"/>
            <a:ext cx="15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2. Start co-browse journey</a:t>
            </a:r>
          </a:p>
        </p:txBody>
      </p:sp>
      <p:sp>
        <p:nvSpPr>
          <p:cNvPr id="34" name="Arr_34"/>
          <p:cNvSpPr/>
          <p:nvPr/>
        </p:nvSpPr>
        <p:spPr>
          <a:xfrm>
            <a:off x="3900000" y="2750000"/>
            <a:ext cx="37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5" name="Lbl_35"/>
          <p:cNvSpPr/>
          <p:nvPr/>
        </p:nvSpPr>
        <p:spPr>
          <a:xfrm>
            <a:off x="3930000" y="2575000"/>
            <a:ext cx="36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3. Request co-browse session</a:t>
            </a:r>
          </a:p>
        </p:txBody>
      </p:sp>
      <p:sp>
        <p:nvSpPr>
          <p:cNvPr id="36" name="Arr_36"/>
          <p:cNvSpPr/>
          <p:nvPr/>
        </p:nvSpPr>
        <p:spPr>
          <a:xfrm>
            <a:off x="5700000" y="3375000"/>
            <a:ext cx="19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37" name="Lbl_37"/>
          <p:cNvSpPr/>
          <p:nvPr/>
        </p:nvSpPr>
        <p:spPr>
          <a:xfrm>
            <a:off x="5730000" y="3200000"/>
            <a:ext cx="18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4. Prompt user for consent</a:t>
            </a:r>
          </a:p>
        </p:txBody>
      </p:sp>
      <p:sp>
        <p:nvSpPr>
          <p:cNvPr id="38" name="Arr_38"/>
          <p:cNvSpPr/>
          <p:nvPr/>
        </p:nvSpPr>
        <p:spPr>
          <a:xfrm>
            <a:off x="5700000" y="4000000"/>
            <a:ext cx="19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9" name="Lbl_39"/>
          <p:cNvSpPr/>
          <p:nvPr/>
        </p:nvSpPr>
        <p:spPr>
          <a:xfrm>
            <a:off x="5730000" y="3825000"/>
            <a:ext cx="18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5. User accepts co-browse request</a:t>
            </a:r>
          </a:p>
        </p:txBody>
      </p:sp>
      <p:sp>
        <p:nvSpPr>
          <p:cNvPr id="40" name="Arr_40"/>
          <p:cNvSpPr/>
          <p:nvPr/>
        </p:nvSpPr>
        <p:spPr>
          <a:xfrm>
            <a:off x="800000" y="4625000"/>
            <a:ext cx="6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41" name="Lbl_41"/>
          <p:cNvSpPr/>
          <p:nvPr/>
        </p:nvSpPr>
        <p:spPr>
          <a:xfrm>
            <a:off x="830000" y="4450000"/>
            <a:ext cx="67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6. Session established — display user screen</a:t>
            </a:r>
          </a:p>
        </p:txBody>
      </p:sp>
      <p:sp>
        <p:nvSpPr>
          <p:cNvPr id="42" name="Arr_42"/>
          <p:cNvSpPr/>
          <p:nvPr/>
        </p:nvSpPr>
        <p:spPr>
          <a:xfrm>
            <a:off x="800000" y="5250000"/>
            <a:ext cx="6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3" name="Lbl_43"/>
          <p:cNvSpPr/>
          <p:nvPr/>
        </p:nvSpPr>
        <p:spPr>
          <a:xfrm>
            <a:off x="830000" y="5075000"/>
            <a:ext cx="67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7. Admin performs actions on behalf of user</a:t>
            </a:r>
          </a:p>
        </p:txBody>
      </p:sp>
      <p:sp>
        <p:nvSpPr>
          <p:cNvPr id="44" name="Arr_44"/>
          <p:cNvSpPr/>
          <p:nvPr/>
        </p:nvSpPr>
        <p:spPr>
          <a:xfrm>
            <a:off x="800000" y="5875000"/>
            <a:ext cx="6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45" name="Lbl_45"/>
          <p:cNvSpPr/>
          <p:nvPr/>
        </p:nvSpPr>
        <p:spPr>
          <a:xfrm>
            <a:off x="830000" y="5700000"/>
            <a:ext cx="67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8. Session terminated — confirm to admin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654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/>
              </a:rPr>
              <a:t>Red solid → request/call  Dark-red dashed → response/return  Red-tint box → processing  Steps numbered top → bottom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pproval Bloc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/>
              </a:rPr>
              <a:t>Block Diagram — Approval Workflow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/>
              </a:rPr>
              <a:t>Covers: Single-Approval · Dual-Approval · Maker-Checker · SoD enforcement · Approval exception handling</a:t>
            </a:r>
          </a:p>
        </p:txBody>
      </p:sp>
      <p:sp>
        <p:nvSpPr>
          <p:cNvPr id="4" name="ZU"/>
          <p:cNvSpPr/>
          <p:nvPr/>
        </p:nvSpPr>
        <p:spPr>
          <a:xfrm>
            <a:off x="548640" y="960000"/>
            <a:ext cx="7600000" cy="5450000"/>
          </a:xfrm>
          <a:prstGeom prst="roundRect">
            <a:avLst>
              <a:gd name="adj" fmla="val 8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ZUL"/>
          <p:cNvSpPr/>
          <p:nvPr/>
        </p:nvSpPr>
        <p:spPr>
          <a:xfrm>
            <a:off x="720000" y="1010000"/>
            <a:ext cx="28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6192E"/>
                </a:solidFill>
                <a:latin typeface="Calibri"/>
              </a:rPr>
              <a:t>UAP Platform Zone</a:t>
            </a:r>
          </a:p>
        </p:txBody>
      </p:sp>
      <p:sp>
        <p:nvSpPr>
          <p:cNvPr id="6" name="B0"/>
          <p:cNvSpPr/>
          <p:nvPr/>
        </p:nvSpPr>
        <p:spPr>
          <a:xfrm>
            <a:off x="720000" y="1350000"/>
            <a:ext cx="2000000" cy="8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7" name="B0L"/>
          <p:cNvSpPr/>
          <p:nvPr/>
        </p:nvSpPr>
        <p:spPr>
          <a:xfrm>
            <a:off x="720000" y="1350000"/>
            <a:ext cx="2000000" cy="8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1322"/>
                </a:solidFill>
                <a:latin typeface="Calibri"/>
              </a:rPr>
              <a:t>Requesting Admin
(Maker)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Initiates change request</a:t>
            </a:r>
          </a:p>
        </p:txBody>
      </p:sp>
      <p:sp>
        <p:nvSpPr>
          <p:cNvPr id="8" name="B1"/>
          <p:cNvSpPr/>
          <p:nvPr/>
        </p:nvSpPr>
        <p:spPr>
          <a:xfrm>
            <a:off x="2900000" y="1350000"/>
            <a:ext cx="2000000" cy="8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9" name="B1L"/>
          <p:cNvSpPr/>
          <p:nvPr/>
        </p:nvSpPr>
        <p:spPr>
          <a:xfrm>
            <a:off x="2900000" y="1350000"/>
            <a:ext cx="2000000" cy="8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1322"/>
                </a:solidFill>
                <a:latin typeface="Calibri"/>
              </a:rPr>
              <a:t>PingOne AIC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Approval journey engine</a:t>
            </a:r>
          </a:p>
        </p:txBody>
      </p:sp>
      <p:sp>
        <p:nvSpPr>
          <p:cNvPr id="10" name="B2"/>
          <p:cNvSpPr/>
          <p:nvPr/>
        </p:nvSpPr>
        <p:spPr>
          <a:xfrm>
            <a:off x="5100000" y="1350000"/>
            <a:ext cx="2000000" cy="8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" name="B2L"/>
          <p:cNvSpPr/>
          <p:nvPr/>
        </p:nvSpPr>
        <p:spPr>
          <a:xfrm>
            <a:off x="5100000" y="1350000"/>
            <a:ext cx="2000000" cy="8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1322"/>
                </a:solidFill>
                <a:latin typeface="Calibri"/>
              </a:rPr>
              <a:t>Approval Engine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Queue management</a:t>
            </a:r>
          </a:p>
        </p:txBody>
      </p:sp>
      <p:sp>
        <p:nvSpPr>
          <p:cNvPr id="12" name="B3"/>
          <p:cNvSpPr/>
          <p:nvPr/>
        </p:nvSpPr>
        <p:spPr>
          <a:xfrm>
            <a:off x="720000" y="3100000"/>
            <a:ext cx="2000000" cy="8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3" name="B3L"/>
          <p:cNvSpPr/>
          <p:nvPr/>
        </p:nvSpPr>
        <p:spPr>
          <a:xfrm>
            <a:off x="720000" y="3100000"/>
            <a:ext cx="2000000" cy="8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1322"/>
                </a:solidFill>
                <a:latin typeface="Calibri"/>
              </a:rPr>
              <a:t>Approving Admin
(Checker)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Reviews pending actions</a:t>
            </a:r>
          </a:p>
        </p:txBody>
      </p:sp>
      <p:sp>
        <p:nvSpPr>
          <p:cNvPr id="14" name="B4"/>
          <p:cNvSpPr/>
          <p:nvPr/>
        </p:nvSpPr>
        <p:spPr>
          <a:xfrm>
            <a:off x="2900000" y="3100000"/>
            <a:ext cx="2000000" cy="8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5" name="B4L"/>
          <p:cNvSpPr/>
          <p:nvPr/>
        </p:nvSpPr>
        <p:spPr>
          <a:xfrm>
            <a:off x="2900000" y="3100000"/>
            <a:ext cx="2000000" cy="8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1322"/>
                </a:solidFill>
                <a:latin typeface="Calibri"/>
              </a:rPr>
              <a:t>Ping Directory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Stores approval state</a:t>
            </a:r>
          </a:p>
        </p:txBody>
      </p:sp>
      <p:sp>
        <p:nvSpPr>
          <p:cNvPr id="16" name="B5"/>
          <p:cNvSpPr/>
          <p:nvPr/>
        </p:nvSpPr>
        <p:spPr>
          <a:xfrm>
            <a:off x="5100000" y="3100000"/>
            <a:ext cx="2000000" cy="8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7" name="B5L"/>
          <p:cNvSpPr/>
          <p:nvPr/>
        </p:nvSpPr>
        <p:spPr>
          <a:xfrm>
            <a:off x="5100000" y="3100000"/>
            <a:ext cx="2000000" cy="8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1322"/>
                </a:solidFill>
                <a:latin typeface="Calibri"/>
              </a:rPr>
              <a:t>Audit Logger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Records all decisions</a:t>
            </a:r>
          </a:p>
        </p:txBody>
      </p:sp>
      <p:sp>
        <p:nvSpPr>
          <p:cNvPr id="30" name="Arr_A0"/>
          <p:cNvSpPr/>
          <p:nvPr/>
        </p:nvSpPr>
        <p:spPr>
          <a:xfrm>
            <a:off x="2720000" y="1775000"/>
            <a:ext cx="18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1" name="Lbl_AL0"/>
          <p:cNvSpPr/>
          <p:nvPr/>
        </p:nvSpPr>
        <p:spPr>
          <a:xfrm>
            <a:off x="2740000" y="1600000"/>
            <a:ext cx="1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Calibri"/>
              </a:rPr>
              <a:t>Submit change</a:t>
            </a:r>
          </a:p>
        </p:txBody>
      </p:sp>
      <p:sp>
        <p:nvSpPr>
          <p:cNvPr id="32" name="Arr_A1"/>
          <p:cNvSpPr/>
          <p:nvPr/>
        </p:nvSpPr>
        <p:spPr>
          <a:xfrm>
            <a:off x="4900000" y="1775000"/>
            <a:ext cx="2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3" name="Lbl_AL1"/>
          <p:cNvSpPr/>
          <p:nvPr/>
        </p:nvSpPr>
        <p:spPr>
          <a:xfrm>
            <a:off x="4920000" y="1600000"/>
            <a:ext cx="1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Calibri"/>
              </a:rPr>
              <a:t>Route to queue</a:t>
            </a:r>
          </a:p>
        </p:txBody>
      </p:sp>
      <p:sp>
        <p:nvSpPr>
          <p:cNvPr id="34" name="Arr_A2"/>
          <p:cNvSpPr/>
          <p:nvPr/>
        </p:nvSpPr>
        <p:spPr>
          <a:xfrm>
            <a:off x="720000" y="3525000"/>
            <a:ext cx="218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5" name="Lbl_AL2"/>
          <p:cNvSpPr/>
          <p:nvPr/>
        </p:nvSpPr>
        <p:spPr>
          <a:xfrm>
            <a:off x="740000" y="3350000"/>
            <a:ext cx="21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Calibri"/>
              </a:rPr>
              <a:t>Review action</a:t>
            </a:r>
          </a:p>
        </p:txBody>
      </p:sp>
      <p:sp>
        <p:nvSpPr>
          <p:cNvPr id="36" name="Arr_A3"/>
          <p:cNvSpPr/>
          <p:nvPr/>
        </p:nvSpPr>
        <p:spPr>
          <a:xfrm>
            <a:off x="4900000" y="3525000"/>
            <a:ext cx="2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7" name="Lbl_AL3"/>
          <p:cNvSpPr/>
          <p:nvPr/>
        </p:nvSpPr>
        <p:spPr>
          <a:xfrm>
            <a:off x="4920000" y="3350000"/>
            <a:ext cx="1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Calibri"/>
              </a:rPr>
              <a:t>Log decision</a:t>
            </a:r>
          </a:p>
        </p:txBody>
      </p:sp>
      <p:sp>
        <p:nvSpPr>
          <p:cNvPr id="38" name="AV4"/>
          <p:cNvSpPr/>
          <p:nvPr/>
        </p:nvSpPr>
        <p:spPr>
          <a:xfrm>
            <a:off x="3900000" y="2200000"/>
            <a:ext cx="0" cy="90000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9" name="AVL4"/>
          <p:cNvSpPr/>
          <p:nvPr/>
        </p:nvSpPr>
        <p:spPr>
          <a:xfrm>
            <a:off x="3950000" y="2500000"/>
            <a:ext cx="70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Store state</a:t>
            </a:r>
          </a:p>
        </p:txBody>
      </p:sp>
      <p:sp>
        <p:nvSpPr>
          <p:cNvPr id="40" name="AV5"/>
          <p:cNvSpPr/>
          <p:nvPr/>
        </p:nvSpPr>
        <p:spPr>
          <a:xfrm>
            <a:off x="6100000" y="2200000"/>
            <a:ext cx="0" cy="90000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41" name="AVL5"/>
          <p:cNvSpPr/>
          <p:nvPr/>
        </p:nvSpPr>
        <p:spPr>
          <a:xfrm>
            <a:off x="6150000" y="2500000"/>
            <a:ext cx="70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Write audit</a:t>
            </a:r>
          </a:p>
        </p:txBody>
      </p:sp>
      <p:sp>
        <p:nvSpPr>
          <p:cNvPr id="60" name="ZE"/>
          <p:cNvSpPr/>
          <p:nvPr/>
        </p:nvSpPr>
        <p:spPr>
          <a:xfrm>
            <a:off x="8450000" y="960000"/>
            <a:ext cx="3200000" cy="5450000"/>
          </a:xfrm>
          <a:prstGeom prst="roundRect">
            <a:avLst>
              <a:gd name="adj" fmla="val 8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61" name="ZEL"/>
          <p:cNvSpPr/>
          <p:nvPr/>
        </p:nvSpPr>
        <p:spPr>
          <a:xfrm>
            <a:off x="8600000" y="1010000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B6B6B"/>
                </a:solidFill>
                <a:latin typeface="Calibri"/>
              </a:rPr>
              <a:t>External Systems</a:t>
            </a:r>
          </a:p>
        </p:txBody>
      </p:sp>
      <p:sp>
        <p:nvSpPr>
          <p:cNvPr id="62" name="E1"/>
          <p:cNvSpPr/>
          <p:nvPr/>
        </p:nvSpPr>
        <p:spPr>
          <a:xfrm>
            <a:off x="8650000" y="135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63" name="E1L"/>
          <p:cNvSpPr/>
          <p:nvPr/>
        </p:nvSpPr>
        <p:spPr>
          <a:xfrm>
            <a:off x="8650000" y="135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Email Notification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Approver alerts</a:t>
            </a:r>
          </a:p>
        </p:txBody>
      </p:sp>
      <p:sp>
        <p:nvSpPr>
          <p:cNvPr id="64" name="E2"/>
          <p:cNvSpPr/>
          <p:nvPr/>
        </p:nvSpPr>
        <p:spPr>
          <a:xfrm>
            <a:off x="8650000" y="250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65" name="E2L"/>
          <p:cNvSpPr/>
          <p:nvPr/>
        </p:nvSpPr>
        <p:spPr>
          <a:xfrm>
            <a:off x="8650000" y="250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ACAT Engine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SoD / toxic combo check</a:t>
            </a:r>
          </a:p>
        </p:txBody>
      </p:sp>
      <p:sp>
        <p:nvSpPr>
          <p:cNvPr id="70" name="AE1"/>
          <p:cNvSpPr/>
          <p:nvPr/>
        </p:nvSpPr>
        <p:spPr>
          <a:xfrm>
            <a:off x="8150000" y="174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71" name="AE2"/>
          <p:cNvSpPr/>
          <p:nvPr/>
        </p:nvSpPr>
        <p:spPr>
          <a:xfrm>
            <a:off x="8150000" y="289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98" name="LG"/>
          <p:cNvSpPr/>
          <p:nvPr/>
        </p:nvSpPr>
        <p:spPr>
          <a:xfrm>
            <a:off x="548640" y="5980000"/>
            <a:ext cx="1109167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/>
              </a:rPr>
              <a:t>Red border = internal   Grey fill = external   Red arrow = request   Dashed zone = UAP boundary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 name="Approval Seq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Calibri"/>
              </a:rPr>
              <a:t>Sequence Diagram — Dual-Approval Workflow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/>
              </a:rPr>
              <a:t>Scenario: Admin submits a change requiring dual approval. AIC routes to approval engine. Second admin reviews and approves, triggering execution</a:t>
            </a:r>
          </a:p>
        </p:txBody>
      </p:sp>
      <p:sp>
        <p:nvSpPr>
          <p:cNvPr id="10" name="LH_Req. Admin"/>
          <p:cNvSpPr/>
          <p:nvPr/>
        </p:nvSpPr>
        <p:spPr>
          <a:xfrm>
            <a:off x="50000" y="900000"/>
            <a:ext cx="13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Req. Admin</a:t>
            </a:r>
          </a:p>
        </p:txBody>
      </p:sp>
      <p:sp>
        <p:nvSpPr>
          <p:cNvPr id="20" name="LL_Req. Admin"/>
          <p:cNvSpPr/>
          <p:nvPr/>
        </p:nvSpPr>
        <p:spPr>
          <a:xfrm>
            <a:off x="7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1" name="LH_UAP"/>
          <p:cNvSpPr/>
          <p:nvPr/>
        </p:nvSpPr>
        <p:spPr>
          <a:xfrm>
            <a:off x="1650000" y="90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UAP</a:t>
            </a:r>
          </a:p>
        </p:txBody>
      </p:sp>
      <p:sp>
        <p:nvSpPr>
          <p:cNvPr id="21" name="LL_UAP"/>
          <p:cNvSpPr/>
          <p:nvPr/>
        </p:nvSpPr>
        <p:spPr>
          <a:xfrm>
            <a:off x="22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2" name="LH_AIC"/>
          <p:cNvSpPr/>
          <p:nvPr/>
        </p:nvSpPr>
        <p:spPr>
          <a:xfrm>
            <a:off x="3250000" y="90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AIC</a:t>
            </a:r>
          </a:p>
        </p:txBody>
      </p:sp>
      <p:sp>
        <p:nvSpPr>
          <p:cNvPr id="22" name="LL_AIC"/>
          <p:cNvSpPr/>
          <p:nvPr/>
        </p:nvSpPr>
        <p:spPr>
          <a:xfrm>
            <a:off x="38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3" name="LH_Approval Engine"/>
          <p:cNvSpPr/>
          <p:nvPr/>
        </p:nvSpPr>
        <p:spPr>
          <a:xfrm>
            <a:off x="4625000" y="900000"/>
            <a:ext cx="195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Approval Engine</a:t>
            </a:r>
          </a:p>
        </p:txBody>
      </p:sp>
      <p:sp>
        <p:nvSpPr>
          <p:cNvPr id="23" name="LL_Approval Engine"/>
          <p:cNvSpPr/>
          <p:nvPr/>
        </p:nvSpPr>
        <p:spPr>
          <a:xfrm>
            <a:off x="56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4" name="LH_Appr. Admin"/>
          <p:cNvSpPr/>
          <p:nvPr/>
        </p:nvSpPr>
        <p:spPr>
          <a:xfrm>
            <a:off x="6885000" y="900000"/>
            <a:ext cx="143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Appr. Admin</a:t>
            </a:r>
          </a:p>
        </p:txBody>
      </p:sp>
      <p:sp>
        <p:nvSpPr>
          <p:cNvPr id="24" name="LL_Appr. Admin"/>
          <p:cNvSpPr/>
          <p:nvPr/>
        </p:nvSpPr>
        <p:spPr>
          <a:xfrm>
            <a:off x="76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5" name="LH_Ping Dir"/>
          <p:cNvSpPr/>
          <p:nvPr/>
        </p:nvSpPr>
        <p:spPr>
          <a:xfrm>
            <a:off x="8950000" y="90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Ping Dir</a:t>
            </a:r>
          </a:p>
        </p:txBody>
      </p:sp>
      <p:sp>
        <p:nvSpPr>
          <p:cNvPr id="25" name="LL_Ping Dir"/>
          <p:cNvSpPr/>
          <p:nvPr/>
        </p:nvSpPr>
        <p:spPr>
          <a:xfrm>
            <a:off x="95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30" name="Arr_30"/>
          <p:cNvSpPr/>
          <p:nvPr/>
        </p:nvSpPr>
        <p:spPr>
          <a:xfrm>
            <a:off x="700000" y="1500000"/>
            <a:ext cx="1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bl_31"/>
          <p:cNvSpPr/>
          <p:nvPr/>
        </p:nvSpPr>
        <p:spPr>
          <a:xfrm>
            <a:off x="730000" y="1325000"/>
            <a:ext cx="14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1. Submit change request</a:t>
            </a:r>
          </a:p>
        </p:txBody>
      </p:sp>
      <p:sp>
        <p:nvSpPr>
          <p:cNvPr id="32" name="Arr_32"/>
          <p:cNvSpPr/>
          <p:nvPr/>
        </p:nvSpPr>
        <p:spPr>
          <a:xfrm>
            <a:off x="2200000" y="2125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bl_33"/>
          <p:cNvSpPr/>
          <p:nvPr/>
        </p:nvSpPr>
        <p:spPr>
          <a:xfrm>
            <a:off x="2230000" y="1950000"/>
            <a:ext cx="15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2. Start Dual-Approval journey</a:t>
            </a:r>
          </a:p>
        </p:txBody>
      </p:sp>
      <p:sp>
        <p:nvSpPr>
          <p:cNvPr id="34" name="Arr_34"/>
          <p:cNvSpPr/>
          <p:nvPr/>
        </p:nvSpPr>
        <p:spPr>
          <a:xfrm>
            <a:off x="3800000" y="275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5" name="Lbl_35"/>
          <p:cNvSpPr/>
          <p:nvPr/>
        </p:nvSpPr>
        <p:spPr>
          <a:xfrm>
            <a:off x="3830000" y="2575000"/>
            <a:ext cx="17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3. Create approval task in queue</a:t>
            </a:r>
          </a:p>
        </p:txBody>
      </p:sp>
      <p:sp>
        <p:nvSpPr>
          <p:cNvPr id="36" name="Arr_36"/>
          <p:cNvSpPr/>
          <p:nvPr/>
        </p:nvSpPr>
        <p:spPr>
          <a:xfrm>
            <a:off x="5600000" y="3375000"/>
            <a:ext cx="20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7" name="Lbl_37"/>
          <p:cNvSpPr/>
          <p:nvPr/>
        </p:nvSpPr>
        <p:spPr>
          <a:xfrm>
            <a:off x="5630000" y="3200000"/>
            <a:ext cx="19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4. Notify approver (email)</a:t>
            </a:r>
          </a:p>
        </p:txBody>
      </p:sp>
      <p:sp>
        <p:nvSpPr>
          <p:cNvPr id="38" name="Arr_38"/>
          <p:cNvSpPr/>
          <p:nvPr/>
        </p:nvSpPr>
        <p:spPr>
          <a:xfrm>
            <a:off x="5600000" y="4000000"/>
            <a:ext cx="20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39" name="Lbl_39"/>
          <p:cNvSpPr/>
          <p:nvPr/>
        </p:nvSpPr>
        <p:spPr>
          <a:xfrm>
            <a:off x="5630000" y="3825000"/>
            <a:ext cx="19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5. Approver views pending actions</a:t>
            </a:r>
          </a:p>
        </p:txBody>
      </p:sp>
      <p:sp>
        <p:nvSpPr>
          <p:cNvPr id="40" name="Arr_40"/>
          <p:cNvSpPr/>
          <p:nvPr/>
        </p:nvSpPr>
        <p:spPr>
          <a:xfrm>
            <a:off x="5600000" y="4625000"/>
            <a:ext cx="20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triangle"/>
            <a:tailEnd type="none"/>
          </a:ln>
        </p:spPr>
      </p:sp>
      <p:sp>
        <p:nvSpPr>
          <p:cNvPr id="41" name="Lbl_41"/>
          <p:cNvSpPr/>
          <p:nvPr/>
        </p:nvSpPr>
        <p:spPr>
          <a:xfrm>
            <a:off x="5630000" y="4450000"/>
            <a:ext cx="19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6. Approve / reject decision</a:t>
            </a:r>
          </a:p>
        </p:txBody>
      </p:sp>
      <p:sp>
        <p:nvSpPr>
          <p:cNvPr id="42" name="Arr_42"/>
          <p:cNvSpPr/>
          <p:nvPr/>
        </p:nvSpPr>
        <p:spPr>
          <a:xfrm>
            <a:off x="5600000" y="5250000"/>
            <a:ext cx="39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3" name="Lbl_43"/>
          <p:cNvSpPr/>
          <p:nvPr/>
        </p:nvSpPr>
        <p:spPr>
          <a:xfrm>
            <a:off x="5630000" y="5075000"/>
            <a:ext cx="38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7. If approved — execute change</a:t>
            </a:r>
          </a:p>
        </p:txBody>
      </p:sp>
      <p:sp>
        <p:nvSpPr>
          <p:cNvPr id="44" name="Arr_44"/>
          <p:cNvSpPr/>
          <p:nvPr/>
        </p:nvSpPr>
        <p:spPr>
          <a:xfrm>
            <a:off x="700000" y="5875000"/>
            <a:ext cx="31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45" name="Lbl_45"/>
          <p:cNvSpPr/>
          <p:nvPr/>
        </p:nvSpPr>
        <p:spPr>
          <a:xfrm>
            <a:off x="730000" y="5700000"/>
            <a:ext cx="30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8. Confirm result to requestor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654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/>
              </a:rPr>
              <a:t>Red solid → request/call  Dark-red dashed → response/return  Red-tint box → processing  Steps numbered top → bottom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latform Bloc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/>
              </a:rPr>
              <a:t>Block Diagram — Platform &amp; Integration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/>
              </a:rPr>
              <a:t>Covers: Administration API · Bulk Administration · Data Migration (RCS) · Email / Welcome · Dynamic Logo Display</a:t>
            </a:r>
          </a:p>
        </p:txBody>
      </p:sp>
      <p:sp>
        <p:nvSpPr>
          <p:cNvPr id="4" name="ZU"/>
          <p:cNvSpPr/>
          <p:nvPr/>
        </p:nvSpPr>
        <p:spPr>
          <a:xfrm>
            <a:off x="548640" y="960000"/>
            <a:ext cx="7600000" cy="5450000"/>
          </a:xfrm>
          <a:prstGeom prst="roundRect">
            <a:avLst>
              <a:gd name="adj" fmla="val 8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ZUL"/>
          <p:cNvSpPr/>
          <p:nvPr/>
        </p:nvSpPr>
        <p:spPr>
          <a:xfrm>
            <a:off x="720000" y="1010000"/>
            <a:ext cx="28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6192E"/>
                </a:solidFill>
                <a:latin typeface="Calibri"/>
              </a:rPr>
              <a:t>UAP Platform Zone</a:t>
            </a:r>
          </a:p>
        </p:txBody>
      </p:sp>
      <p:sp>
        <p:nvSpPr>
          <p:cNvPr id="6" name="B0"/>
          <p:cNvSpPr/>
          <p:nvPr/>
        </p:nvSpPr>
        <p:spPr>
          <a:xfrm>
            <a:off x="720000" y="1350000"/>
            <a:ext cx="20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7" name="B0L"/>
          <p:cNvSpPr/>
          <p:nvPr/>
        </p:nvSpPr>
        <p:spPr>
          <a:xfrm>
            <a:off x="720000" y="1350000"/>
            <a:ext cx="20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Admin API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262626"/>
                </a:solidFill>
                <a:latin typeface="Calibri"/>
              </a:rPr>
              <a:t>Token-auth REST API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CRUD + role mgmt</a:t>
            </a:r>
          </a:p>
        </p:txBody>
      </p:sp>
      <p:sp>
        <p:nvSpPr>
          <p:cNvPr id="8" name="B1"/>
          <p:cNvSpPr/>
          <p:nvPr/>
        </p:nvSpPr>
        <p:spPr>
          <a:xfrm>
            <a:off x="3100000" y="1350000"/>
            <a:ext cx="20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9" name="B1L"/>
          <p:cNvSpPr/>
          <p:nvPr/>
        </p:nvSpPr>
        <p:spPr>
          <a:xfrm>
            <a:off x="3100000" y="1350000"/>
            <a:ext cx="20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PingOne AIC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262626"/>
                </a:solidFill>
                <a:latin typeface="Calibri"/>
              </a:rPr>
              <a:t>Journey engine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API / bulk orchestration</a:t>
            </a:r>
          </a:p>
        </p:txBody>
      </p:sp>
      <p:sp>
        <p:nvSpPr>
          <p:cNvPr id="10" name="B2"/>
          <p:cNvSpPr/>
          <p:nvPr/>
        </p:nvSpPr>
        <p:spPr>
          <a:xfrm>
            <a:off x="5500000" y="1350000"/>
            <a:ext cx="20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" name="B2L"/>
          <p:cNvSpPr/>
          <p:nvPr/>
        </p:nvSpPr>
        <p:spPr>
          <a:xfrm>
            <a:off x="5500000" y="1350000"/>
            <a:ext cx="20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Ping Directory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262626"/>
                </a:solidFill>
                <a:latin typeface="Calibri"/>
              </a:rPr>
              <a:t>Identity store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Roles, user data</a:t>
            </a:r>
          </a:p>
        </p:txBody>
      </p:sp>
      <p:sp>
        <p:nvSpPr>
          <p:cNvPr id="12" name="B3"/>
          <p:cNvSpPr/>
          <p:nvPr/>
        </p:nvSpPr>
        <p:spPr>
          <a:xfrm>
            <a:off x="720000" y="3100000"/>
            <a:ext cx="20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3" name="B3L"/>
          <p:cNvSpPr/>
          <p:nvPr/>
        </p:nvSpPr>
        <p:spPr>
          <a:xfrm>
            <a:off x="720000" y="3100000"/>
            <a:ext cx="20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Bulk Admin Engine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262626"/>
                </a:solidFill>
                <a:latin typeface="Calibri"/>
              </a:rPr>
              <a:t>File upload + dual approval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Line-level error rollback</a:t>
            </a:r>
          </a:p>
        </p:txBody>
      </p:sp>
      <p:sp>
        <p:nvSpPr>
          <p:cNvPr id="14" name="B4"/>
          <p:cNvSpPr/>
          <p:nvPr/>
        </p:nvSpPr>
        <p:spPr>
          <a:xfrm>
            <a:off x="3100000" y="3100000"/>
            <a:ext cx="20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5" name="B4L"/>
          <p:cNvSpPr/>
          <p:nvPr/>
        </p:nvSpPr>
        <p:spPr>
          <a:xfrm>
            <a:off x="3100000" y="3100000"/>
            <a:ext cx="20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Email Service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262626"/>
                </a:solidFill>
                <a:latin typeface="Calibri"/>
              </a:rPr>
              <a:t>Welcome / Maintenance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Bank admin triggered</a:t>
            </a:r>
          </a:p>
        </p:txBody>
      </p:sp>
      <p:sp>
        <p:nvSpPr>
          <p:cNvPr id="16" name="B5"/>
          <p:cNvSpPr/>
          <p:nvPr/>
        </p:nvSpPr>
        <p:spPr>
          <a:xfrm>
            <a:off x="5500000" y="3100000"/>
            <a:ext cx="20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7" name="B5L"/>
          <p:cNvSpPr/>
          <p:nvPr/>
        </p:nvSpPr>
        <p:spPr>
          <a:xfrm>
            <a:off x="5500000" y="3100000"/>
            <a:ext cx="20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Dynamic Logo Svc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262626"/>
                </a:solidFill>
                <a:latin typeface="Calibri"/>
              </a:rPr>
              <a:t>iFrame detection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Suppress / show logo</a:t>
            </a:r>
          </a:p>
        </p:txBody>
      </p:sp>
      <p:sp>
        <p:nvSpPr>
          <p:cNvPr id="30" name="A1"/>
          <p:cNvSpPr/>
          <p:nvPr/>
        </p:nvSpPr>
        <p:spPr>
          <a:xfrm>
            <a:off x="2720000" y="1800000"/>
            <a:ext cx="38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1" name="A1L"/>
          <p:cNvSpPr/>
          <p:nvPr/>
        </p:nvSpPr>
        <p:spPr>
          <a:xfrm>
            <a:off x="2730000" y="1640000"/>
            <a:ext cx="36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API call</a:t>
            </a:r>
          </a:p>
        </p:txBody>
      </p:sp>
      <p:sp>
        <p:nvSpPr>
          <p:cNvPr id="32" name="A2"/>
          <p:cNvSpPr/>
          <p:nvPr/>
        </p:nvSpPr>
        <p:spPr>
          <a:xfrm>
            <a:off x="5100000" y="1800000"/>
            <a:ext cx="4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3" name="A2L"/>
          <p:cNvSpPr/>
          <p:nvPr/>
        </p:nvSpPr>
        <p:spPr>
          <a:xfrm>
            <a:off x="5110000" y="1640000"/>
            <a:ext cx="38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R/W data</a:t>
            </a:r>
          </a:p>
        </p:txBody>
      </p:sp>
      <p:sp>
        <p:nvSpPr>
          <p:cNvPr id="40" name="ZE"/>
          <p:cNvSpPr/>
          <p:nvPr/>
        </p:nvSpPr>
        <p:spPr>
          <a:xfrm>
            <a:off x="8450000" y="960000"/>
            <a:ext cx="3200000" cy="5450000"/>
          </a:xfrm>
          <a:prstGeom prst="roundRect">
            <a:avLst>
              <a:gd name="adj" fmla="val 8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1" name="ZEL"/>
          <p:cNvSpPr/>
          <p:nvPr/>
        </p:nvSpPr>
        <p:spPr>
          <a:xfrm>
            <a:off x="8600000" y="1010000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B6B6B"/>
                </a:solidFill>
                <a:latin typeface="Calibri"/>
              </a:rPr>
              <a:t>External Systems</a:t>
            </a:r>
          </a:p>
        </p:txBody>
      </p:sp>
      <p:sp>
        <p:nvSpPr>
          <p:cNvPr id="42" name="E0"/>
          <p:cNvSpPr/>
          <p:nvPr/>
        </p:nvSpPr>
        <p:spPr>
          <a:xfrm>
            <a:off x="8650000" y="135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3" name="E0L"/>
          <p:cNvSpPr/>
          <p:nvPr/>
        </p:nvSpPr>
        <p:spPr>
          <a:xfrm>
            <a:off x="8650000" y="135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Calibri"/>
              </a:rPr>
              <a:t>RCS / Oracle DB</a:t>
            </a:r>
          </a:p>
          <a:p>
            <a:pPr algn="ctr" indent="0" marL="0">
              <a:buNone/>
            </a:pPr>
            <a:r>
              <a:rPr lang="en-US" sz="830" i="1" dirty="0">
                <a:solidFill>
                  <a:srgbClr val="6B6B6B"/>
                </a:solidFill>
                <a:latin typeface="Calibri"/>
              </a:rPr>
              <a:t>Source migration data</a:t>
            </a:r>
          </a:p>
        </p:txBody>
      </p:sp>
      <p:sp>
        <p:nvSpPr>
          <p:cNvPr id="62" name="AE0"/>
          <p:cNvSpPr/>
          <p:nvPr/>
        </p:nvSpPr>
        <p:spPr>
          <a:xfrm>
            <a:off x="8150000" y="174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44" name="E1"/>
          <p:cNvSpPr/>
          <p:nvPr/>
        </p:nvSpPr>
        <p:spPr>
          <a:xfrm>
            <a:off x="8650000" y="248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5" name="E1L"/>
          <p:cNvSpPr/>
          <p:nvPr/>
        </p:nvSpPr>
        <p:spPr>
          <a:xfrm>
            <a:off x="8650000" y="248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Calibri"/>
              </a:rPr>
              <a:t>Client API Consumers</a:t>
            </a:r>
          </a:p>
          <a:p>
            <a:pPr algn="ctr" indent="0" marL="0">
              <a:buNone/>
            </a:pPr>
            <a:r>
              <a:rPr lang="en-US" sz="830" i="1" dirty="0">
                <a:solidFill>
                  <a:srgbClr val="6B6B6B"/>
                </a:solidFill>
                <a:latin typeface="Calibri"/>
              </a:rPr>
              <a:t>Third-party integrations</a:t>
            </a:r>
          </a:p>
        </p:txBody>
      </p:sp>
      <p:sp>
        <p:nvSpPr>
          <p:cNvPr id="64" name="AE1"/>
          <p:cNvSpPr/>
          <p:nvPr/>
        </p:nvSpPr>
        <p:spPr>
          <a:xfrm>
            <a:off x="8150000" y="287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46" name="E2"/>
          <p:cNvSpPr/>
          <p:nvPr/>
        </p:nvSpPr>
        <p:spPr>
          <a:xfrm>
            <a:off x="8650000" y="361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7" name="E2L"/>
          <p:cNvSpPr/>
          <p:nvPr/>
        </p:nvSpPr>
        <p:spPr>
          <a:xfrm>
            <a:off x="8650000" y="361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Calibri"/>
              </a:rPr>
              <a:t>SMTP / Email Gateway</a:t>
            </a:r>
          </a:p>
          <a:p>
            <a:pPr algn="ctr" indent="0" marL="0">
              <a:buNone/>
            </a:pPr>
            <a:r>
              <a:rPr lang="en-US" sz="830" i="1" dirty="0">
                <a:solidFill>
                  <a:srgbClr val="6B6B6B"/>
                </a:solidFill>
                <a:latin typeface="Calibri"/>
              </a:rPr>
              <a:t>Sends notification emails</a:t>
            </a:r>
          </a:p>
        </p:txBody>
      </p:sp>
      <p:sp>
        <p:nvSpPr>
          <p:cNvPr id="66" name="AE2"/>
          <p:cNvSpPr/>
          <p:nvPr/>
        </p:nvSpPr>
        <p:spPr>
          <a:xfrm>
            <a:off x="8150000" y="400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48" name="E3"/>
          <p:cNvSpPr/>
          <p:nvPr/>
        </p:nvSpPr>
        <p:spPr>
          <a:xfrm>
            <a:off x="8650000" y="474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9" name="E3L"/>
          <p:cNvSpPr/>
          <p:nvPr/>
        </p:nvSpPr>
        <p:spPr>
          <a:xfrm>
            <a:off x="8650000" y="474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Calibri"/>
              </a:rPr>
              <a:t>Downstream Apps</a:t>
            </a:r>
          </a:p>
          <a:p>
            <a:pPr algn="ctr" indent="0" marL="0">
              <a:buNone/>
            </a:pPr>
            <a:r>
              <a:rPr lang="en-US" sz="830" i="1" dirty="0">
                <a:solidFill>
                  <a:srgbClr val="6B6B6B"/>
                </a:solidFill>
                <a:latin typeface="Calibri"/>
              </a:rPr>
              <a:t>iFrame-embedded portals</a:t>
            </a:r>
          </a:p>
        </p:txBody>
      </p:sp>
      <p:sp>
        <p:nvSpPr>
          <p:cNvPr id="68" name="AE3"/>
          <p:cNvSpPr/>
          <p:nvPr/>
        </p:nvSpPr>
        <p:spPr>
          <a:xfrm>
            <a:off x="8150000" y="513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98" name="LG"/>
          <p:cNvSpPr/>
          <p:nvPr/>
        </p:nvSpPr>
        <p:spPr>
          <a:xfrm>
            <a:off x="548640" y="5980000"/>
            <a:ext cx="1109167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/>
              </a:rPr>
              <a:t>Red border = internal   Grey fill = external   Red arrow = request   Dashed zone = UAP boundary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 name="Platform Seq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Calibri"/>
              </a:rPr>
              <a:t>Sequence Diagram — Bulk Administration (File Upload)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/>
              </a:rPr>
              <a:t>Scenario: Bank admin uploads bulk user config file. Dual approval required. Valid lines processed; failures logged with line number and reason</a:t>
            </a:r>
          </a:p>
        </p:txBody>
      </p:sp>
      <p:sp>
        <p:nvSpPr>
          <p:cNvPr id="10" name="LH_Bank Admin"/>
          <p:cNvSpPr/>
          <p:nvPr/>
        </p:nvSpPr>
        <p:spPr>
          <a:xfrm>
            <a:off x="50000" y="900000"/>
            <a:ext cx="13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Bank Admin</a:t>
            </a:r>
          </a:p>
        </p:txBody>
      </p:sp>
      <p:sp>
        <p:nvSpPr>
          <p:cNvPr id="20" name="LL_Bank Admin"/>
          <p:cNvSpPr/>
          <p:nvPr/>
        </p:nvSpPr>
        <p:spPr>
          <a:xfrm>
            <a:off x="7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1" name="LH_UAP"/>
          <p:cNvSpPr/>
          <p:nvPr/>
        </p:nvSpPr>
        <p:spPr>
          <a:xfrm>
            <a:off x="1650000" y="90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UAP</a:t>
            </a:r>
          </a:p>
        </p:txBody>
      </p:sp>
      <p:sp>
        <p:nvSpPr>
          <p:cNvPr id="21" name="LL_UAP"/>
          <p:cNvSpPr/>
          <p:nvPr/>
        </p:nvSpPr>
        <p:spPr>
          <a:xfrm>
            <a:off x="22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2" name="LH_Bulk Engine"/>
          <p:cNvSpPr/>
          <p:nvPr/>
        </p:nvSpPr>
        <p:spPr>
          <a:xfrm>
            <a:off x="3085000" y="900000"/>
            <a:ext cx="143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Bulk Engine</a:t>
            </a:r>
          </a:p>
        </p:txBody>
      </p:sp>
      <p:sp>
        <p:nvSpPr>
          <p:cNvPr id="22" name="LL_Bulk Engine"/>
          <p:cNvSpPr/>
          <p:nvPr/>
        </p:nvSpPr>
        <p:spPr>
          <a:xfrm>
            <a:off x="38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3" name="LH_AIC"/>
          <p:cNvSpPr/>
          <p:nvPr/>
        </p:nvSpPr>
        <p:spPr>
          <a:xfrm>
            <a:off x="4950000" y="90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AIC</a:t>
            </a:r>
          </a:p>
        </p:txBody>
      </p:sp>
      <p:sp>
        <p:nvSpPr>
          <p:cNvPr id="23" name="LL_AIC"/>
          <p:cNvSpPr/>
          <p:nvPr/>
        </p:nvSpPr>
        <p:spPr>
          <a:xfrm>
            <a:off x="55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4" name="LH_Ping Dir"/>
          <p:cNvSpPr/>
          <p:nvPr/>
        </p:nvSpPr>
        <p:spPr>
          <a:xfrm>
            <a:off x="6850000" y="90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Ping Dir</a:t>
            </a:r>
          </a:p>
        </p:txBody>
      </p:sp>
      <p:sp>
        <p:nvSpPr>
          <p:cNvPr id="24" name="LL_Ping Dir"/>
          <p:cNvSpPr/>
          <p:nvPr/>
        </p:nvSpPr>
        <p:spPr>
          <a:xfrm>
            <a:off x="74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5" name="LH_Approval WF"/>
          <p:cNvSpPr/>
          <p:nvPr/>
        </p:nvSpPr>
        <p:spPr>
          <a:xfrm>
            <a:off x="8685000" y="900000"/>
            <a:ext cx="143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Approval WF</a:t>
            </a:r>
          </a:p>
        </p:txBody>
      </p:sp>
      <p:sp>
        <p:nvSpPr>
          <p:cNvPr id="25" name="LL_Approval WF"/>
          <p:cNvSpPr/>
          <p:nvPr/>
        </p:nvSpPr>
        <p:spPr>
          <a:xfrm>
            <a:off x="94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30" name="Arr_30"/>
          <p:cNvSpPr/>
          <p:nvPr/>
        </p:nvSpPr>
        <p:spPr>
          <a:xfrm>
            <a:off x="700000" y="1500000"/>
            <a:ext cx="1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bl_31"/>
          <p:cNvSpPr/>
          <p:nvPr/>
        </p:nvSpPr>
        <p:spPr>
          <a:xfrm>
            <a:off x="730000" y="1325000"/>
            <a:ext cx="14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1. Upload bulk file (CSV template)</a:t>
            </a:r>
          </a:p>
        </p:txBody>
      </p:sp>
      <p:sp>
        <p:nvSpPr>
          <p:cNvPr id="32" name="Arr_32"/>
          <p:cNvSpPr/>
          <p:nvPr/>
        </p:nvSpPr>
        <p:spPr>
          <a:xfrm>
            <a:off x="2200000" y="2125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bl_33"/>
          <p:cNvSpPr/>
          <p:nvPr/>
        </p:nvSpPr>
        <p:spPr>
          <a:xfrm>
            <a:off x="2230000" y="1950000"/>
            <a:ext cx="15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2. Ingest file — validate format</a:t>
            </a:r>
          </a:p>
        </p:txBody>
      </p:sp>
      <p:sp>
        <p:nvSpPr>
          <p:cNvPr id="34" name="Arr_34"/>
          <p:cNvSpPr/>
          <p:nvPr/>
        </p:nvSpPr>
        <p:spPr>
          <a:xfrm>
            <a:off x="3800000" y="2750000"/>
            <a:ext cx="5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5" name="Lbl_35"/>
          <p:cNvSpPr/>
          <p:nvPr/>
        </p:nvSpPr>
        <p:spPr>
          <a:xfrm>
            <a:off x="3830000" y="2575000"/>
            <a:ext cx="55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3. Send for dual approval</a:t>
            </a:r>
          </a:p>
        </p:txBody>
      </p:sp>
      <p:sp>
        <p:nvSpPr>
          <p:cNvPr id="36" name="Arr_36"/>
          <p:cNvSpPr/>
          <p:nvPr/>
        </p:nvSpPr>
        <p:spPr>
          <a:xfrm>
            <a:off x="3800000" y="3375000"/>
            <a:ext cx="5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37" name="Lbl_37"/>
          <p:cNvSpPr/>
          <p:nvPr/>
        </p:nvSpPr>
        <p:spPr>
          <a:xfrm>
            <a:off x="3830000" y="3200000"/>
            <a:ext cx="55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4. Approver reviews and grants</a:t>
            </a:r>
          </a:p>
        </p:txBody>
      </p:sp>
      <p:sp>
        <p:nvSpPr>
          <p:cNvPr id="38" name="Arr_38"/>
          <p:cNvSpPr/>
          <p:nvPr/>
        </p:nvSpPr>
        <p:spPr>
          <a:xfrm>
            <a:off x="3800000" y="4000000"/>
            <a:ext cx="17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9" name="Lbl_39"/>
          <p:cNvSpPr/>
          <p:nvPr/>
        </p:nvSpPr>
        <p:spPr>
          <a:xfrm>
            <a:off x="3830000" y="3825000"/>
            <a:ext cx="16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5. Process file line by line</a:t>
            </a:r>
          </a:p>
        </p:txBody>
      </p:sp>
      <p:sp>
        <p:nvSpPr>
          <p:cNvPr id="40" name="Arr_40"/>
          <p:cNvSpPr/>
          <p:nvPr/>
        </p:nvSpPr>
        <p:spPr>
          <a:xfrm>
            <a:off x="5500000" y="4625000"/>
            <a:ext cx="19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1" name="Lbl_41"/>
          <p:cNvSpPr/>
          <p:nvPr/>
        </p:nvSpPr>
        <p:spPr>
          <a:xfrm>
            <a:off x="5530000" y="4450000"/>
            <a:ext cx="18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6. Write valid records to directory</a:t>
            </a:r>
          </a:p>
        </p:txBody>
      </p:sp>
      <p:sp>
        <p:nvSpPr>
          <p:cNvPr id="42" name="Arr_42"/>
          <p:cNvSpPr/>
          <p:nvPr/>
        </p:nvSpPr>
        <p:spPr>
          <a:xfrm>
            <a:off x="3800000" y="5250000"/>
            <a:ext cx="3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3" name="Lbl_43"/>
          <p:cNvSpPr/>
          <p:nvPr/>
        </p:nvSpPr>
        <p:spPr>
          <a:xfrm>
            <a:off x="3830000" y="5075000"/>
            <a:ext cx="35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7. Log failed lines with reason</a:t>
            </a:r>
          </a:p>
        </p:txBody>
      </p:sp>
      <p:sp>
        <p:nvSpPr>
          <p:cNvPr id="44" name="Arr_44"/>
          <p:cNvSpPr/>
          <p:nvPr/>
        </p:nvSpPr>
        <p:spPr>
          <a:xfrm>
            <a:off x="700000" y="5875000"/>
            <a:ext cx="31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45" name="Lbl_45"/>
          <p:cNvSpPr/>
          <p:nvPr/>
        </p:nvSpPr>
        <p:spPr>
          <a:xfrm>
            <a:off x="730000" y="5700000"/>
            <a:ext cx="30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8. Display confirmation / error summary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654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/>
              </a:rPr>
              <a:t>Red solid → request/call  Dark-red dashed → response/return  Red-tint box → processing  Steps numbered top → bottom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porting Bloc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/>
              </a:rPr>
              <a:t>Block Diagram — Reporting &amp; Configuration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/>
              </a:rPr>
              <a:t>Covers: Reports · Report Builder · Text Configuration · Alerts Administration · Inactive User Purge · Accessibility</a:t>
            </a:r>
          </a:p>
        </p:txBody>
      </p:sp>
      <p:sp>
        <p:nvSpPr>
          <p:cNvPr id="4" name="ZU"/>
          <p:cNvSpPr/>
          <p:nvPr/>
        </p:nvSpPr>
        <p:spPr>
          <a:xfrm>
            <a:off x="548640" y="960000"/>
            <a:ext cx="7600000" cy="5450000"/>
          </a:xfrm>
          <a:prstGeom prst="roundRect">
            <a:avLst>
              <a:gd name="adj" fmla="val 8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ZUL"/>
          <p:cNvSpPr/>
          <p:nvPr/>
        </p:nvSpPr>
        <p:spPr>
          <a:xfrm>
            <a:off x="720000" y="1010000"/>
            <a:ext cx="28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6192E"/>
                </a:solidFill>
                <a:latin typeface="Calibri"/>
              </a:rPr>
              <a:t>UAP Platform Zone</a:t>
            </a:r>
          </a:p>
        </p:txBody>
      </p:sp>
      <p:sp>
        <p:nvSpPr>
          <p:cNvPr id="6" name="B0"/>
          <p:cNvSpPr/>
          <p:nvPr/>
        </p:nvSpPr>
        <p:spPr>
          <a:xfrm>
            <a:off x="720000" y="1350000"/>
            <a:ext cx="20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7" name="B0L"/>
          <p:cNvSpPr/>
          <p:nvPr/>
        </p:nvSpPr>
        <p:spPr>
          <a:xfrm>
            <a:off x="720000" y="1350000"/>
            <a:ext cx="20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UAP Admin Portal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262626"/>
                </a:solidFill>
                <a:latin typeface="Calibri"/>
              </a:rPr>
              <a:t>Left-nav admin entry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Report / config access</a:t>
            </a:r>
          </a:p>
        </p:txBody>
      </p:sp>
      <p:sp>
        <p:nvSpPr>
          <p:cNvPr id="8" name="B1"/>
          <p:cNvSpPr/>
          <p:nvPr/>
        </p:nvSpPr>
        <p:spPr>
          <a:xfrm>
            <a:off x="3100000" y="1350000"/>
            <a:ext cx="20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9" name="B1L"/>
          <p:cNvSpPr/>
          <p:nvPr/>
        </p:nvSpPr>
        <p:spPr>
          <a:xfrm>
            <a:off x="3100000" y="1350000"/>
            <a:ext cx="20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PingOne AIC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262626"/>
                </a:solidFill>
                <a:latin typeface="Calibri"/>
              </a:rPr>
              <a:t>Config journey engine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Text / alert orchestration</a:t>
            </a:r>
          </a:p>
        </p:txBody>
      </p:sp>
      <p:sp>
        <p:nvSpPr>
          <p:cNvPr id="10" name="B2"/>
          <p:cNvSpPr/>
          <p:nvPr/>
        </p:nvSpPr>
        <p:spPr>
          <a:xfrm>
            <a:off x="5500000" y="1350000"/>
            <a:ext cx="20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" name="B2L"/>
          <p:cNvSpPr/>
          <p:nvPr/>
        </p:nvSpPr>
        <p:spPr>
          <a:xfrm>
            <a:off x="5500000" y="1350000"/>
            <a:ext cx="20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Ping Directory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262626"/>
                </a:solidFill>
                <a:latin typeface="Calibri"/>
              </a:rPr>
              <a:t>User data store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Inactive user source</a:t>
            </a:r>
          </a:p>
        </p:txBody>
      </p:sp>
      <p:sp>
        <p:nvSpPr>
          <p:cNvPr id="12" name="B3"/>
          <p:cNvSpPr/>
          <p:nvPr/>
        </p:nvSpPr>
        <p:spPr>
          <a:xfrm>
            <a:off x="720000" y="3100000"/>
            <a:ext cx="20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3" name="B3L"/>
          <p:cNvSpPr/>
          <p:nvPr/>
        </p:nvSpPr>
        <p:spPr>
          <a:xfrm>
            <a:off x="720000" y="3100000"/>
            <a:ext cx="20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Reports Engine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262626"/>
                </a:solidFill>
                <a:latin typeface="Calibri"/>
              </a:rPr>
              <a:t>Pre-built .csv/.xlsx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On-demand generation</a:t>
            </a:r>
          </a:p>
        </p:txBody>
      </p:sp>
      <p:sp>
        <p:nvSpPr>
          <p:cNvPr id="14" name="B4"/>
          <p:cNvSpPr/>
          <p:nvPr/>
        </p:nvSpPr>
        <p:spPr>
          <a:xfrm>
            <a:off x="3100000" y="3100000"/>
            <a:ext cx="20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5" name="B4L"/>
          <p:cNvSpPr/>
          <p:nvPr/>
        </p:nvSpPr>
        <p:spPr>
          <a:xfrm>
            <a:off x="3100000" y="3100000"/>
            <a:ext cx="20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Text Config Svc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262626"/>
                </a:solidFill>
                <a:latin typeface="Calibri"/>
              </a:rPr>
              <a:t>UI label editor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Language group control</a:t>
            </a:r>
          </a:p>
        </p:txBody>
      </p:sp>
      <p:sp>
        <p:nvSpPr>
          <p:cNvPr id="16" name="B5"/>
          <p:cNvSpPr/>
          <p:nvPr/>
        </p:nvSpPr>
        <p:spPr>
          <a:xfrm>
            <a:off x="5500000" y="3100000"/>
            <a:ext cx="200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7" name="B5L"/>
          <p:cNvSpPr/>
          <p:nvPr/>
        </p:nvSpPr>
        <p:spPr>
          <a:xfrm>
            <a:off x="5500000" y="3100000"/>
            <a:ext cx="2000000" cy="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Alerts Admin Svc</a:t>
            </a:r>
          </a:p>
          <a:p>
            <a:pPr algn="ctr" indent="0" marL="0">
              <a:buNone/>
            </a:pPr>
            <a:r>
              <a:rPr lang="en-US" sz="880" dirty="0">
                <a:solidFill>
                  <a:srgbClr val="262626"/>
                </a:solidFill>
                <a:latin typeface="Calibri"/>
              </a:rPr>
              <a:t>CIAM-specific alerts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Enroll / notify rules</a:t>
            </a:r>
          </a:p>
        </p:txBody>
      </p:sp>
      <p:sp>
        <p:nvSpPr>
          <p:cNvPr id="30" name="A1"/>
          <p:cNvSpPr/>
          <p:nvPr/>
        </p:nvSpPr>
        <p:spPr>
          <a:xfrm>
            <a:off x="2720000" y="1800000"/>
            <a:ext cx="38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1" name="A1L"/>
          <p:cNvSpPr/>
          <p:nvPr/>
        </p:nvSpPr>
        <p:spPr>
          <a:xfrm>
            <a:off x="2730000" y="1640000"/>
            <a:ext cx="36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Config session</a:t>
            </a:r>
          </a:p>
        </p:txBody>
      </p:sp>
      <p:sp>
        <p:nvSpPr>
          <p:cNvPr id="32" name="A2"/>
          <p:cNvSpPr/>
          <p:nvPr/>
        </p:nvSpPr>
        <p:spPr>
          <a:xfrm>
            <a:off x="5100000" y="1800000"/>
            <a:ext cx="4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33" name="A2L"/>
          <p:cNvSpPr/>
          <p:nvPr/>
        </p:nvSpPr>
        <p:spPr>
          <a:xfrm>
            <a:off x="5110000" y="1640000"/>
            <a:ext cx="38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Calibri"/>
              </a:rPr>
              <a:t>Purge / fetch</a:t>
            </a:r>
          </a:p>
        </p:txBody>
      </p:sp>
      <p:sp>
        <p:nvSpPr>
          <p:cNvPr id="40" name="ZE"/>
          <p:cNvSpPr/>
          <p:nvPr/>
        </p:nvSpPr>
        <p:spPr>
          <a:xfrm>
            <a:off x="8450000" y="960000"/>
            <a:ext cx="3200000" cy="5450000"/>
          </a:xfrm>
          <a:prstGeom prst="roundRect">
            <a:avLst>
              <a:gd name="adj" fmla="val 8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1" name="ZEL"/>
          <p:cNvSpPr/>
          <p:nvPr/>
        </p:nvSpPr>
        <p:spPr>
          <a:xfrm>
            <a:off x="8600000" y="1010000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B6B6B"/>
                </a:solidFill>
                <a:latin typeface="Calibri"/>
              </a:rPr>
              <a:t>External Systems</a:t>
            </a:r>
          </a:p>
        </p:txBody>
      </p:sp>
      <p:sp>
        <p:nvSpPr>
          <p:cNvPr id="42" name="E0"/>
          <p:cNvSpPr/>
          <p:nvPr/>
        </p:nvSpPr>
        <p:spPr>
          <a:xfrm>
            <a:off x="8650000" y="135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3" name="E0L"/>
          <p:cNvSpPr/>
          <p:nvPr/>
        </p:nvSpPr>
        <p:spPr>
          <a:xfrm>
            <a:off x="8650000" y="135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Calibri"/>
              </a:rPr>
              <a:t>Report File Store</a:t>
            </a:r>
          </a:p>
          <a:p>
            <a:pPr algn="ctr" indent="0" marL="0">
              <a:buNone/>
            </a:pPr>
            <a:r>
              <a:rPr lang="en-US" sz="830" i="1" dirty="0">
                <a:solidFill>
                  <a:srgbClr val="6B6B6B"/>
                </a:solidFill>
                <a:latin typeface="Calibri"/>
              </a:rPr>
              <a:t>.csv/.xlsx download</a:t>
            </a:r>
          </a:p>
        </p:txBody>
      </p:sp>
      <p:sp>
        <p:nvSpPr>
          <p:cNvPr id="62" name="AE0"/>
          <p:cNvSpPr/>
          <p:nvPr/>
        </p:nvSpPr>
        <p:spPr>
          <a:xfrm>
            <a:off x="8150000" y="174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44" name="E1"/>
          <p:cNvSpPr/>
          <p:nvPr/>
        </p:nvSpPr>
        <p:spPr>
          <a:xfrm>
            <a:off x="8650000" y="255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5" name="E1L"/>
          <p:cNvSpPr/>
          <p:nvPr/>
        </p:nvSpPr>
        <p:spPr>
          <a:xfrm>
            <a:off x="8650000" y="255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Calibri"/>
              </a:rPr>
              <a:t>Alarm / Monitoring</a:t>
            </a:r>
          </a:p>
          <a:p>
            <a:pPr algn="ctr" indent="0" marL="0">
              <a:buNone/>
            </a:pPr>
            <a:r>
              <a:rPr lang="en-US" sz="830" i="1" dirty="0">
                <a:solidFill>
                  <a:srgbClr val="6B6B6B"/>
                </a:solidFill>
                <a:latin typeface="Calibri"/>
              </a:rPr>
              <a:t>Log failure alarms</a:t>
            </a:r>
          </a:p>
        </p:txBody>
      </p:sp>
      <p:sp>
        <p:nvSpPr>
          <p:cNvPr id="64" name="AE1"/>
          <p:cNvSpPr/>
          <p:nvPr/>
        </p:nvSpPr>
        <p:spPr>
          <a:xfrm>
            <a:off x="8150000" y="294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46" name="E2"/>
          <p:cNvSpPr/>
          <p:nvPr/>
        </p:nvSpPr>
        <p:spPr>
          <a:xfrm>
            <a:off x="8650000" y="3750000"/>
            <a:ext cx="1900000" cy="78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7" name="E2L"/>
          <p:cNvSpPr/>
          <p:nvPr/>
        </p:nvSpPr>
        <p:spPr>
          <a:xfrm>
            <a:off x="8650000" y="3750000"/>
            <a:ext cx="1900000" cy="7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Calibri"/>
              </a:rPr>
              <a:t>WCAG A11y Engine</a:t>
            </a:r>
          </a:p>
          <a:p>
            <a:pPr algn="ctr" indent="0" marL="0">
              <a:buNone/>
            </a:pPr>
            <a:r>
              <a:rPr lang="en-US" sz="830" i="1" dirty="0">
                <a:solidFill>
                  <a:srgbClr val="6B6B6B"/>
                </a:solidFill>
                <a:latin typeface="Calibri"/>
              </a:rPr>
              <a:t>Accessibility validator</a:t>
            </a:r>
          </a:p>
        </p:txBody>
      </p:sp>
      <p:sp>
        <p:nvSpPr>
          <p:cNvPr id="66" name="AE2"/>
          <p:cNvSpPr/>
          <p:nvPr/>
        </p:nvSpPr>
        <p:spPr>
          <a:xfrm>
            <a:off x="8150000" y="4140000"/>
            <a:ext cx="50000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tailEnd type="triangle"/>
          </a:ln>
        </p:spPr>
      </p:sp>
      <p:sp>
        <p:nvSpPr>
          <p:cNvPr id="98" name="LG"/>
          <p:cNvSpPr/>
          <p:nvPr/>
        </p:nvSpPr>
        <p:spPr>
          <a:xfrm>
            <a:off x="548640" y="5980000"/>
            <a:ext cx="1109167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/>
              </a:rPr>
              <a:t>Red border = internal   Grey fill = external   Red arrow = request   Dashed zone = UAP boundary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 name="Reporting Seq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Calibri"/>
              </a:rPr>
              <a:t>Sequence Diagram — Report Generation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/>
              </a:rPr>
              <a:t>Scenario: Admin selects a pre-designed report and runs it. System fetches data, generates .csv/.xlsx, and makes available for download. Error message shown on failure</a:t>
            </a:r>
          </a:p>
        </p:txBody>
      </p:sp>
      <p:sp>
        <p:nvSpPr>
          <p:cNvPr id="10" name="LH_Admin"/>
          <p:cNvSpPr/>
          <p:nvPr/>
        </p:nvSpPr>
        <p:spPr>
          <a:xfrm>
            <a:off x="150000" y="90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20" name="LL_Admin"/>
          <p:cNvSpPr/>
          <p:nvPr/>
        </p:nvSpPr>
        <p:spPr>
          <a:xfrm>
            <a:off x="7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1" name="LH_UAP"/>
          <p:cNvSpPr/>
          <p:nvPr/>
        </p:nvSpPr>
        <p:spPr>
          <a:xfrm>
            <a:off x="1650000" y="90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UAP</a:t>
            </a:r>
          </a:p>
        </p:txBody>
      </p:sp>
      <p:sp>
        <p:nvSpPr>
          <p:cNvPr id="21" name="LL_UAP"/>
          <p:cNvSpPr/>
          <p:nvPr/>
        </p:nvSpPr>
        <p:spPr>
          <a:xfrm>
            <a:off x="22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2" name="LH_Reports Engine"/>
          <p:cNvSpPr/>
          <p:nvPr/>
        </p:nvSpPr>
        <p:spPr>
          <a:xfrm>
            <a:off x="2990000" y="900000"/>
            <a:ext cx="182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Reports Engine</a:t>
            </a:r>
          </a:p>
        </p:txBody>
      </p:sp>
      <p:sp>
        <p:nvSpPr>
          <p:cNvPr id="22" name="LL_Reports Engine"/>
          <p:cNvSpPr/>
          <p:nvPr/>
        </p:nvSpPr>
        <p:spPr>
          <a:xfrm>
            <a:off x="39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3" name="LH_Ping Dir"/>
          <p:cNvSpPr/>
          <p:nvPr/>
        </p:nvSpPr>
        <p:spPr>
          <a:xfrm>
            <a:off x="5250000" y="900000"/>
            <a:ext cx="11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Ping Dir</a:t>
            </a:r>
          </a:p>
        </p:txBody>
      </p:sp>
      <p:sp>
        <p:nvSpPr>
          <p:cNvPr id="23" name="LL_Ping Dir"/>
          <p:cNvSpPr/>
          <p:nvPr/>
        </p:nvSpPr>
        <p:spPr>
          <a:xfrm>
            <a:off x="58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4" name="LH_File Store"/>
          <p:cNvSpPr/>
          <p:nvPr/>
        </p:nvSpPr>
        <p:spPr>
          <a:xfrm>
            <a:off x="7150000" y="900000"/>
            <a:ext cx="13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File Store</a:t>
            </a:r>
          </a:p>
        </p:txBody>
      </p:sp>
      <p:sp>
        <p:nvSpPr>
          <p:cNvPr id="24" name="LL_File Store"/>
          <p:cNvSpPr/>
          <p:nvPr/>
        </p:nvSpPr>
        <p:spPr>
          <a:xfrm>
            <a:off x="7800000" y="1290000"/>
            <a:ext cx="0" cy="5200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30" name="Arr_30"/>
          <p:cNvSpPr/>
          <p:nvPr/>
        </p:nvSpPr>
        <p:spPr>
          <a:xfrm>
            <a:off x="700000" y="1500000"/>
            <a:ext cx="1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bl_31"/>
          <p:cNvSpPr/>
          <p:nvPr/>
        </p:nvSpPr>
        <p:spPr>
          <a:xfrm>
            <a:off x="730000" y="1325000"/>
            <a:ext cx="14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1. Navigate to Reports in left nav</a:t>
            </a:r>
          </a:p>
        </p:txBody>
      </p:sp>
      <p:sp>
        <p:nvSpPr>
          <p:cNvPr id="32" name="Arr_32"/>
          <p:cNvSpPr/>
          <p:nvPr/>
        </p:nvSpPr>
        <p:spPr>
          <a:xfrm>
            <a:off x="2200000" y="2125000"/>
            <a:ext cx="17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bl_33"/>
          <p:cNvSpPr/>
          <p:nvPr/>
        </p:nvSpPr>
        <p:spPr>
          <a:xfrm>
            <a:off x="2230000" y="1950000"/>
            <a:ext cx="16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2. Load reports list page</a:t>
            </a:r>
          </a:p>
        </p:txBody>
      </p:sp>
      <p:sp>
        <p:nvSpPr>
          <p:cNvPr id="34" name="Arr_34"/>
          <p:cNvSpPr/>
          <p:nvPr/>
        </p:nvSpPr>
        <p:spPr>
          <a:xfrm>
            <a:off x="700000" y="2750000"/>
            <a:ext cx="3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5" name="Lbl_35"/>
          <p:cNvSpPr/>
          <p:nvPr/>
        </p:nvSpPr>
        <p:spPr>
          <a:xfrm>
            <a:off x="730000" y="2575000"/>
            <a:ext cx="31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3. Select report and click Run</a:t>
            </a:r>
          </a:p>
        </p:txBody>
      </p:sp>
      <p:sp>
        <p:nvSpPr>
          <p:cNvPr id="36" name="Arr_36"/>
          <p:cNvSpPr/>
          <p:nvPr/>
        </p:nvSpPr>
        <p:spPr>
          <a:xfrm>
            <a:off x="3900000" y="3375000"/>
            <a:ext cx="19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7" name="Lbl_37"/>
          <p:cNvSpPr/>
          <p:nvPr/>
        </p:nvSpPr>
        <p:spPr>
          <a:xfrm>
            <a:off x="3930000" y="3200000"/>
            <a:ext cx="18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4. Fetch relevant customer data</a:t>
            </a:r>
          </a:p>
        </p:txBody>
      </p:sp>
      <p:sp>
        <p:nvSpPr>
          <p:cNvPr id="38" name="Arr_38"/>
          <p:cNvSpPr/>
          <p:nvPr/>
        </p:nvSpPr>
        <p:spPr>
          <a:xfrm>
            <a:off x="3900000" y="4000000"/>
            <a:ext cx="19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39" name="Lbl_39"/>
          <p:cNvSpPr/>
          <p:nvPr/>
        </p:nvSpPr>
        <p:spPr>
          <a:xfrm>
            <a:off x="3930000" y="3825000"/>
            <a:ext cx="18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5. Return data set</a:t>
            </a:r>
          </a:p>
        </p:txBody>
      </p:sp>
      <p:sp>
        <p:nvSpPr>
          <p:cNvPr id="40" name="Arr_40"/>
          <p:cNvSpPr/>
          <p:nvPr/>
        </p:nvSpPr>
        <p:spPr>
          <a:xfrm>
            <a:off x="3900000" y="4625000"/>
            <a:ext cx="39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1" name="Lbl_41"/>
          <p:cNvSpPr/>
          <p:nvPr/>
        </p:nvSpPr>
        <p:spPr>
          <a:xfrm>
            <a:off x="3930000" y="4450000"/>
            <a:ext cx="38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6. Generate .csv / .xlsx report file</a:t>
            </a:r>
          </a:p>
        </p:txBody>
      </p:sp>
      <p:sp>
        <p:nvSpPr>
          <p:cNvPr id="42" name="Arr_42"/>
          <p:cNvSpPr/>
          <p:nvPr/>
        </p:nvSpPr>
        <p:spPr>
          <a:xfrm>
            <a:off x="700000" y="5250000"/>
            <a:ext cx="3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43" name="Lbl_43"/>
          <p:cNvSpPr/>
          <p:nvPr/>
        </p:nvSpPr>
        <p:spPr>
          <a:xfrm>
            <a:off x="730000" y="5075000"/>
            <a:ext cx="31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7. Return download confirmation</a:t>
            </a:r>
          </a:p>
        </p:txBody>
      </p:sp>
      <p:sp>
        <p:nvSpPr>
          <p:cNvPr id="44" name="Arr_44"/>
          <p:cNvSpPr/>
          <p:nvPr/>
        </p:nvSpPr>
        <p:spPr>
          <a:xfrm>
            <a:off x="700000" y="5875000"/>
            <a:ext cx="3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none"/>
            <a:tailEnd type="triangle"/>
          </a:ln>
        </p:spPr>
      </p:sp>
      <p:sp>
        <p:nvSpPr>
          <p:cNvPr id="45" name="Lbl_45"/>
          <p:cNvSpPr/>
          <p:nvPr/>
        </p:nvSpPr>
        <p:spPr>
          <a:xfrm>
            <a:off x="730000" y="5700000"/>
            <a:ext cx="31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8. Display error if generation fails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654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/>
              </a:rPr>
              <a:t>Red solid → request/call  Dark-red dashed → response/return  Red-tint box → processing  Steps numbered top → bottom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CE Block Diagra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/>
              </a:rPr>
              <a:t>Block Diagram — ACE (RSA SecurID) Administration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/>
              </a:rPr>
              <a:t>Covers: PIN Set / Next PIN / PIN Reset · Soft Token Registration · Token / User / Security Domain Cleanup</a:t>
            </a:r>
          </a:p>
        </p:txBody>
      </p:sp>
      <p:sp>
        <p:nvSpPr>
          <p:cNvPr id="4" name="ZU"/>
          <p:cNvSpPr/>
          <p:nvPr/>
        </p:nvSpPr>
        <p:spPr>
          <a:xfrm>
            <a:off x="548640" y="960000"/>
            <a:ext cx="7600000" cy="5450000"/>
          </a:xfrm>
          <a:prstGeom prst="roundRect">
            <a:avLst>
              <a:gd name="adj" fmla="val 8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ZUL"/>
          <p:cNvSpPr/>
          <p:nvPr/>
        </p:nvSpPr>
        <p:spPr>
          <a:xfrm>
            <a:off x="720000" y="1010000"/>
            <a:ext cx="28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6192E"/>
                </a:solidFill>
                <a:latin typeface="Calibri"/>
              </a:rPr>
              <a:t>UAP Platform Zone</a:t>
            </a:r>
          </a:p>
        </p:txBody>
      </p:sp>
      <p:sp>
        <p:nvSpPr>
          <p:cNvPr id="6" name="B1"/>
          <p:cNvSpPr/>
          <p:nvPr/>
        </p:nvSpPr>
        <p:spPr>
          <a:xfrm>
            <a:off x="720000" y="1340000"/>
            <a:ext cx="19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7" name="B1L"/>
          <p:cNvSpPr/>
          <p:nvPr/>
        </p:nvSpPr>
        <p:spPr>
          <a:xfrm>
            <a:off x="720000" y="1340000"/>
            <a:ext cx="1900000" cy="8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UAP Portal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User / Admin entry</a:t>
            </a:r>
          </a:p>
        </p:txBody>
      </p:sp>
      <p:sp>
        <p:nvSpPr>
          <p:cNvPr id="8" name="B2"/>
          <p:cNvSpPr/>
          <p:nvPr/>
        </p:nvSpPr>
        <p:spPr>
          <a:xfrm>
            <a:off x="3100000" y="1340000"/>
            <a:ext cx="19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9" name="B2L"/>
          <p:cNvSpPr/>
          <p:nvPr/>
        </p:nvSpPr>
        <p:spPr>
          <a:xfrm>
            <a:off x="3100000" y="1340000"/>
            <a:ext cx="1900000" cy="8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PingOne AIC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Token journey engine</a:t>
            </a:r>
          </a:p>
        </p:txBody>
      </p:sp>
      <p:sp>
        <p:nvSpPr>
          <p:cNvPr id="10" name="B3"/>
          <p:cNvSpPr/>
          <p:nvPr/>
        </p:nvSpPr>
        <p:spPr>
          <a:xfrm>
            <a:off x="5500000" y="1340000"/>
            <a:ext cx="19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1" name="B3L"/>
          <p:cNvSpPr/>
          <p:nvPr/>
        </p:nvSpPr>
        <p:spPr>
          <a:xfrm>
            <a:off x="5500000" y="1340000"/>
            <a:ext cx="1900000" cy="82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Ping Directory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User / token metadata</a:t>
            </a:r>
          </a:p>
        </p:txBody>
      </p:sp>
      <p:sp>
        <p:nvSpPr>
          <p:cNvPr id="12" name="ZC"/>
          <p:cNvSpPr/>
          <p:nvPr/>
        </p:nvSpPr>
        <p:spPr>
          <a:xfrm>
            <a:off x="720000" y="2350000"/>
            <a:ext cx="7300000" cy="3850000"/>
          </a:xfrm>
          <a:prstGeom prst="roundRect">
            <a:avLst>
              <a:gd name="adj" fmla="val 600"/>
            </a:avLst>
          </a:prstGeom>
          <a:solidFill>
            <a:srgbClr val="FFFFFF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ZCL"/>
          <p:cNvSpPr/>
          <p:nvPr/>
        </p:nvSpPr>
        <p:spPr>
          <a:xfrm>
            <a:off x="860000" y="2400000"/>
            <a:ext cx="35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ACE Capabilities (AIC Journeys)</a:t>
            </a:r>
          </a:p>
        </p:txBody>
      </p:sp>
      <p:sp>
        <p:nvSpPr>
          <p:cNvPr id="14" name="C1"/>
          <p:cNvSpPr/>
          <p:nvPr/>
        </p:nvSpPr>
        <p:spPr>
          <a:xfrm>
            <a:off x="800000" y="2700000"/>
            <a:ext cx="2200000" cy="148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5" name="C1L"/>
          <p:cNvSpPr/>
          <p:nvPr/>
        </p:nvSpPr>
        <p:spPr>
          <a:xfrm>
            <a:off x="800000" y="2700000"/>
            <a:ext cx="2200000" cy="148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PIN Set / Next PIN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User requests new PIN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System fetches next PIN from ACE</a:t>
            </a:r>
          </a:p>
        </p:txBody>
      </p:sp>
      <p:sp>
        <p:nvSpPr>
          <p:cNvPr id="16" name="C2"/>
          <p:cNvSpPr/>
          <p:nvPr/>
        </p:nvSpPr>
        <p:spPr>
          <a:xfrm>
            <a:off x="3100000" y="2700000"/>
            <a:ext cx="2200000" cy="148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7" name="C2L"/>
          <p:cNvSpPr/>
          <p:nvPr/>
        </p:nvSpPr>
        <p:spPr>
          <a:xfrm>
            <a:off x="3100000" y="2700000"/>
            <a:ext cx="2200000" cy="148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PIN Reset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User initiates reset request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ACE confirms PIN reset</a:t>
            </a:r>
          </a:p>
        </p:txBody>
      </p:sp>
      <p:sp>
        <p:nvSpPr>
          <p:cNvPr id="18" name="C3"/>
          <p:cNvSpPr/>
          <p:nvPr/>
        </p:nvSpPr>
        <p:spPr>
          <a:xfrm>
            <a:off x="5400000" y="2700000"/>
            <a:ext cx="2200000" cy="148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C3L"/>
          <p:cNvSpPr/>
          <p:nvPr/>
        </p:nvSpPr>
        <p:spPr>
          <a:xfrm>
            <a:off x="5400000" y="2700000"/>
            <a:ext cx="2200000" cy="148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Soft Token Registration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User opts to register soft token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ACE confirms success</a:t>
            </a:r>
          </a:p>
        </p:txBody>
      </p:sp>
      <p:sp>
        <p:nvSpPr>
          <p:cNvPr id="20" name="C4"/>
          <p:cNvSpPr/>
          <p:nvPr/>
        </p:nvSpPr>
        <p:spPr>
          <a:xfrm>
            <a:off x="800000" y="4370000"/>
            <a:ext cx="2200000" cy="153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1" name="C4L"/>
          <p:cNvSpPr/>
          <p:nvPr/>
        </p:nvSpPr>
        <p:spPr>
          <a:xfrm>
            <a:off x="800000" y="4370000"/>
            <a:ext cx="2200000" cy="153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Token Cleanup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Admin triggers cleanup process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Expired / inactive tokens removed</a:t>
            </a:r>
          </a:p>
        </p:txBody>
      </p:sp>
      <p:sp>
        <p:nvSpPr>
          <p:cNvPr id="22" name="C5"/>
          <p:cNvSpPr/>
          <p:nvPr/>
        </p:nvSpPr>
        <p:spPr>
          <a:xfrm>
            <a:off x="3100000" y="4370000"/>
            <a:ext cx="2200000" cy="153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3" name="C5L"/>
          <p:cNvSpPr/>
          <p:nvPr/>
        </p:nvSpPr>
        <p:spPr>
          <a:xfrm>
            <a:off x="3100000" y="4370000"/>
            <a:ext cx="2200000" cy="153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User Account Cleanup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Admin triggers user cleanup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Inactive accounts removed / archived</a:t>
            </a:r>
          </a:p>
        </p:txBody>
      </p:sp>
      <p:sp>
        <p:nvSpPr>
          <p:cNvPr id="24" name="C6"/>
          <p:cNvSpPr/>
          <p:nvPr/>
        </p:nvSpPr>
        <p:spPr>
          <a:xfrm>
            <a:off x="5400000" y="4370000"/>
            <a:ext cx="2200000" cy="153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5" name="C6L"/>
          <p:cNvSpPr/>
          <p:nvPr/>
        </p:nvSpPr>
        <p:spPr>
          <a:xfrm>
            <a:off x="5400000" y="4370000"/>
            <a:ext cx="2200000" cy="153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Security Domain Cleanup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Admin triggers domain cleanup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Unused / irrelevant domains removed</a:t>
            </a:r>
          </a:p>
        </p:txBody>
      </p:sp>
      <p:sp>
        <p:nvSpPr>
          <p:cNvPr id="30" name="A1"/>
          <p:cNvSpPr/>
          <p:nvPr/>
        </p:nvSpPr>
        <p:spPr>
          <a:xfrm>
            <a:off x="4050000" y="2160000"/>
            <a:ext cx="0" cy="2000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A1L"/>
          <p:cNvSpPr/>
          <p:nvPr/>
        </p:nvSpPr>
        <p:spPr>
          <a:xfrm>
            <a:off x="4100000" y="2160000"/>
            <a:ext cx="16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/>
              </a:rPr>
              <a:t>Executes ACE journey</a:t>
            </a:r>
          </a:p>
        </p:txBody>
      </p:sp>
      <p:sp>
        <p:nvSpPr>
          <p:cNvPr id="32" name="A2"/>
          <p:cNvSpPr/>
          <p:nvPr/>
        </p:nvSpPr>
        <p:spPr>
          <a:xfrm>
            <a:off x="2620000" y="1750000"/>
            <a:ext cx="38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A2L"/>
          <p:cNvSpPr/>
          <p:nvPr/>
        </p:nvSpPr>
        <p:spPr>
          <a:xfrm>
            <a:off x="2630000" y="1590000"/>
            <a:ext cx="36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/>
              </a:rPr>
              <a:t>Session</a:t>
            </a:r>
          </a:p>
        </p:txBody>
      </p:sp>
      <p:sp>
        <p:nvSpPr>
          <p:cNvPr id="34" name="A3"/>
          <p:cNvSpPr/>
          <p:nvPr/>
        </p:nvSpPr>
        <p:spPr>
          <a:xfrm>
            <a:off x="5000000" y="1750000"/>
            <a:ext cx="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5" name="A3L"/>
          <p:cNvSpPr/>
          <p:nvPr/>
        </p:nvSpPr>
        <p:spPr>
          <a:xfrm>
            <a:off x="5010000" y="1590000"/>
            <a:ext cx="48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/>
              </a:rPr>
              <a:t>R/W user</a:t>
            </a:r>
          </a:p>
        </p:txBody>
      </p:sp>
      <p:sp>
        <p:nvSpPr>
          <p:cNvPr id="40" name="ZE"/>
          <p:cNvSpPr/>
          <p:nvPr/>
        </p:nvSpPr>
        <p:spPr>
          <a:xfrm>
            <a:off x="8450000" y="960000"/>
            <a:ext cx="3200000" cy="5450000"/>
          </a:xfrm>
          <a:prstGeom prst="roundRect">
            <a:avLst>
              <a:gd name="adj" fmla="val 8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1" name="ZEL"/>
          <p:cNvSpPr/>
          <p:nvPr/>
        </p:nvSpPr>
        <p:spPr>
          <a:xfrm>
            <a:off x="8600000" y="1010000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B6B6B"/>
                </a:solidFill>
                <a:latin typeface="Calibri"/>
              </a:rPr>
              <a:t>External System</a:t>
            </a:r>
          </a:p>
        </p:txBody>
      </p:sp>
      <p:sp>
        <p:nvSpPr>
          <p:cNvPr id="42" name="E1"/>
          <p:cNvSpPr/>
          <p:nvPr/>
        </p:nvSpPr>
        <p:spPr>
          <a:xfrm>
            <a:off x="8650000" y="1700000"/>
            <a:ext cx="1900000" cy="12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3" name="E1L"/>
          <p:cNvSpPr/>
          <p:nvPr/>
        </p:nvSpPr>
        <p:spPr>
          <a:xfrm>
            <a:off x="8650000" y="1700000"/>
            <a:ext cx="1900000" cy="12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/>
              </a:rPr>
              <a:t>ACE</a:t>
            </a:r>
          </a:p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Calibri"/>
              </a:rPr>
              <a:t>(RSA SecurID)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PIN / token authority</a:t>
            </a:r>
          </a:p>
        </p:txBody>
      </p:sp>
      <p:sp>
        <p:nvSpPr>
          <p:cNvPr id="44" name="Note"/>
          <p:cNvSpPr/>
          <p:nvPr/>
        </p:nvSpPr>
        <p:spPr>
          <a:xfrm>
            <a:off x="8650000" y="3300000"/>
            <a:ext cx="1900000" cy="18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9AA0A6"/>
            </a:solidFill>
            <a:prstDash val="dash"/>
          </a:ln>
        </p:spPr>
      </p:sp>
      <p:sp>
        <p:nvSpPr>
          <p:cNvPr id="45" name="NoteL"/>
          <p:cNvSpPr/>
          <p:nvPr/>
        </p:nvSpPr>
        <p:spPr>
          <a:xfrm>
            <a:off x="8650000" y="3300000"/>
            <a:ext cx="1900000" cy="1800000"/>
          </a:xfrm>
          <a:prstGeom prst="rect">
            <a:avLst/>
          </a:prstGeom>
          <a:noFill/>
          <a:ln/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6B6B6B"/>
                </a:solidFill>
                <a:latin typeface="Calibri"/>
              </a:rPr>
              <a:t>Cleanup pattern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All 3 cleanup journeys follow: admin triggers → AIC calls ACE → ACE identifies stale records → removes / archives → confirms to admin</a:t>
            </a:r>
          </a:p>
        </p:txBody>
      </p:sp>
      <p:sp>
        <p:nvSpPr>
          <p:cNvPr id="50" name="AE1"/>
          <p:cNvSpPr/>
          <p:nvPr/>
        </p:nvSpPr>
        <p:spPr>
          <a:xfrm>
            <a:off x="8150000" y="2300000"/>
            <a:ext cx="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1" name="AE1L"/>
          <p:cNvSpPr/>
          <p:nvPr/>
        </p:nvSpPr>
        <p:spPr>
          <a:xfrm>
            <a:off x="8160000" y="2120000"/>
            <a:ext cx="48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/>
              </a:rPr>
              <a:t>API call</a:t>
            </a:r>
          </a:p>
        </p:txBody>
      </p:sp>
      <p:sp>
        <p:nvSpPr>
          <p:cNvPr id="60" name="LG"/>
          <p:cNvSpPr/>
          <p:nvPr/>
        </p:nvSpPr>
        <p:spPr>
          <a:xfrm>
            <a:off x="548640" y="5980000"/>
            <a:ext cx="1109167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/>
              </a:rPr>
              <a:t>Red border = internal component   Grey fill = external system   Black arrow = request/call   Dashed zone = UAP platform boundary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CE Sequence Diagra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18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/>
              </a:rPr>
              <a:t>Sequence Diagram — ACE PIN / Token Lifecycle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1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/>
              </a:rPr>
              <a:t>Scenario: User requests a new PIN via self-service. System validates via AIC journey, calls ACE (RSA SecurID) to set/confirm the PIN, and updates user record</a:t>
            </a:r>
          </a:p>
        </p:txBody>
      </p:sp>
      <p:sp>
        <p:nvSpPr>
          <p:cNvPr id="10" name="LH_User"/>
          <p:cNvSpPr/>
          <p:nvPr/>
        </p:nvSpPr>
        <p:spPr>
          <a:xfrm>
            <a:off x="37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11" name="LH_UAP"/>
          <p:cNvSpPr/>
          <p:nvPr/>
        </p:nvSpPr>
        <p:spPr>
          <a:xfrm>
            <a:off x="185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UAP Portal</a:t>
            </a:r>
          </a:p>
        </p:txBody>
      </p:sp>
      <p:sp>
        <p:nvSpPr>
          <p:cNvPr id="12" name="LH_AIC"/>
          <p:cNvSpPr/>
          <p:nvPr/>
        </p:nvSpPr>
        <p:spPr>
          <a:xfrm>
            <a:off x="345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PingOne AIC</a:t>
            </a:r>
          </a:p>
        </p:txBody>
      </p:sp>
      <p:sp>
        <p:nvSpPr>
          <p:cNvPr id="13" name="LH_PDir"/>
          <p:cNvSpPr/>
          <p:nvPr/>
        </p:nvSpPr>
        <p:spPr>
          <a:xfrm>
            <a:off x="515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Ping Directory</a:t>
            </a:r>
          </a:p>
        </p:txBody>
      </p:sp>
      <p:sp>
        <p:nvSpPr>
          <p:cNvPr id="14" name="LH_ACE"/>
          <p:cNvSpPr/>
          <p:nvPr/>
        </p:nvSpPr>
        <p:spPr>
          <a:xfrm>
            <a:off x="6950000" y="900000"/>
            <a:ext cx="13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ACE (RSA SecurID)</a:t>
            </a:r>
          </a:p>
        </p:txBody>
      </p:sp>
      <p:sp>
        <p:nvSpPr>
          <p:cNvPr id="20" name="LL_User"/>
          <p:cNvSpPr/>
          <p:nvPr/>
        </p:nvSpPr>
        <p:spPr>
          <a:xfrm>
            <a:off x="92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1" name="LL_UAP"/>
          <p:cNvSpPr/>
          <p:nvPr/>
        </p:nvSpPr>
        <p:spPr>
          <a:xfrm>
            <a:off x="24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2" name="LL_AIC"/>
          <p:cNvSpPr/>
          <p:nvPr/>
        </p:nvSpPr>
        <p:spPr>
          <a:xfrm>
            <a:off x="40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3" name="LL_PDir"/>
          <p:cNvSpPr/>
          <p:nvPr/>
        </p:nvSpPr>
        <p:spPr>
          <a:xfrm>
            <a:off x="57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4" name="LL_ACE"/>
          <p:cNvSpPr/>
          <p:nvPr/>
        </p:nvSpPr>
        <p:spPr>
          <a:xfrm>
            <a:off x="76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30" name="A1"/>
          <p:cNvSpPr/>
          <p:nvPr/>
        </p:nvSpPr>
        <p:spPr>
          <a:xfrm>
            <a:off x="920000" y="1550000"/>
            <a:ext cx="148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1"/>
          <p:cNvSpPr/>
          <p:nvPr/>
        </p:nvSpPr>
        <p:spPr>
          <a:xfrm>
            <a:off x="940000" y="1380000"/>
            <a:ext cx="19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1. Request new PIN</a:t>
            </a:r>
          </a:p>
        </p:txBody>
      </p:sp>
      <p:sp>
        <p:nvSpPr>
          <p:cNvPr id="32" name="A2"/>
          <p:cNvSpPr/>
          <p:nvPr/>
        </p:nvSpPr>
        <p:spPr>
          <a:xfrm>
            <a:off x="2400000" y="195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2"/>
          <p:cNvSpPr/>
          <p:nvPr/>
        </p:nvSpPr>
        <p:spPr>
          <a:xfrm>
            <a:off x="2420000" y="1780000"/>
            <a:ext cx="19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2. Start PIN Set journey</a:t>
            </a:r>
          </a:p>
        </p:txBody>
      </p:sp>
      <p:sp>
        <p:nvSpPr>
          <p:cNvPr id="34" name="P3"/>
          <p:cNvSpPr/>
          <p:nvPr/>
        </p:nvSpPr>
        <p:spPr>
          <a:xfrm>
            <a:off x="3900000" y="2150000"/>
            <a:ext cx="60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</a:ln>
        </p:spPr>
        <p:txBody>
          <a:bodyPr wrap="square" lIns="40000" tIns="30000" rIns="4000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3. Validate user session</a:t>
            </a:r>
          </a:p>
        </p:txBody>
      </p:sp>
      <p:sp>
        <p:nvSpPr>
          <p:cNvPr id="36" name="A4"/>
          <p:cNvSpPr/>
          <p:nvPr/>
        </p:nvSpPr>
        <p:spPr>
          <a:xfrm>
            <a:off x="4000000" y="2650000"/>
            <a:ext cx="3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7" name="L4"/>
          <p:cNvSpPr/>
          <p:nvPr/>
        </p:nvSpPr>
        <p:spPr>
          <a:xfrm>
            <a:off x="4020000" y="2480000"/>
            <a:ext cx="35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4. Request new PIN set (API)</a:t>
            </a:r>
          </a:p>
        </p:txBody>
      </p:sp>
      <p:sp>
        <p:nvSpPr>
          <p:cNvPr id="38" name="P5"/>
          <p:cNvSpPr/>
          <p:nvPr/>
        </p:nvSpPr>
        <p:spPr>
          <a:xfrm>
            <a:off x="7300000" y="2850000"/>
            <a:ext cx="60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</a:ln>
        </p:spPr>
        <p:txBody>
          <a:bodyPr wrap="square" lIns="40000" tIns="30000" rIns="4000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5. Generate / validate new PIN</a:t>
            </a:r>
          </a:p>
        </p:txBody>
      </p:sp>
      <p:sp>
        <p:nvSpPr>
          <p:cNvPr id="40" name="A6"/>
          <p:cNvSpPr/>
          <p:nvPr/>
        </p:nvSpPr>
        <p:spPr>
          <a:xfrm>
            <a:off x="4000000" y="3350000"/>
            <a:ext cx="3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1" name="L6"/>
          <p:cNvSpPr/>
          <p:nvPr/>
        </p:nvSpPr>
        <p:spPr>
          <a:xfrm>
            <a:off x="4020000" y="3180000"/>
            <a:ext cx="35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6. Return new PIN + confirmation</a:t>
            </a:r>
          </a:p>
        </p:txBody>
      </p:sp>
      <p:sp>
        <p:nvSpPr>
          <p:cNvPr id="42" name="A7"/>
          <p:cNvSpPr/>
          <p:nvPr/>
        </p:nvSpPr>
        <p:spPr>
          <a:xfrm>
            <a:off x="4000000" y="3750000"/>
            <a:ext cx="17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3" name="L7"/>
          <p:cNvSpPr/>
          <p:nvPr/>
        </p:nvSpPr>
        <p:spPr>
          <a:xfrm>
            <a:off x="4020000" y="3580000"/>
            <a:ext cx="16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7. Update PIN metadata</a:t>
            </a:r>
          </a:p>
        </p:txBody>
      </p:sp>
      <p:sp>
        <p:nvSpPr>
          <p:cNvPr id="44" name="A8"/>
          <p:cNvSpPr/>
          <p:nvPr/>
        </p:nvSpPr>
        <p:spPr>
          <a:xfrm>
            <a:off x="4000000" y="4150000"/>
            <a:ext cx="17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5" name="L8"/>
          <p:cNvSpPr/>
          <p:nvPr/>
        </p:nvSpPr>
        <p:spPr>
          <a:xfrm>
            <a:off x="4020000" y="3980000"/>
            <a:ext cx="16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8. Confirm stored</a:t>
            </a:r>
          </a:p>
        </p:txBody>
      </p:sp>
      <p:sp>
        <p:nvSpPr>
          <p:cNvPr id="46" name="A9"/>
          <p:cNvSpPr/>
          <p:nvPr/>
        </p:nvSpPr>
        <p:spPr>
          <a:xfrm>
            <a:off x="920000" y="4550000"/>
            <a:ext cx="308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7" name="L9"/>
          <p:cNvSpPr/>
          <p:nvPr/>
        </p:nvSpPr>
        <p:spPr>
          <a:xfrm>
            <a:off x="1200000" y="4380000"/>
            <a:ext cx="252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9. Display new PIN to user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654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/>
              </a:rPr>
              <a:t>Black solid → request/call  Black dashed → response/return  Red-tint box → processing step  Steps numbered top → bottom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ser Provisioning Bloc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18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1322"/>
                </a:solidFill>
                <a:latin typeface="Calibri"/>
              </a:rPr>
              <a:t>Block Diagram — User Provisioning (Connected &amp; Disconnected Apps)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0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/>
              </a:rPr>
              <a:t>Covers: Y48 (file) · VAS (SCIM) · TBS · SPY (REST) · LQC · GIS (SOAP/EIP) · DTB · CCY (REST)</a:t>
            </a:r>
          </a:p>
        </p:txBody>
      </p:sp>
      <p:sp>
        <p:nvSpPr>
          <p:cNvPr id="4" name="ZU"/>
          <p:cNvSpPr/>
          <p:nvPr/>
        </p:nvSpPr>
        <p:spPr>
          <a:xfrm>
            <a:off x="4150000" y="2550000"/>
            <a:ext cx="2900000" cy="1700000"/>
          </a:xfrm>
          <a:prstGeom prst="roundRect">
            <a:avLst>
              <a:gd name="adj" fmla="val 12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6" name="B1"/>
          <p:cNvSpPr/>
          <p:nvPr/>
        </p:nvSpPr>
        <p:spPr>
          <a:xfrm>
            <a:off x="4350000" y="2780000"/>
            <a:ext cx="2500000" cy="6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7" name="B1L"/>
          <p:cNvSpPr/>
          <p:nvPr/>
        </p:nvSpPr>
        <p:spPr>
          <a:xfrm>
            <a:off x="4350000" y="2780000"/>
            <a:ext cx="2500000" cy="650000"/>
          </a:xfrm>
          <a:prstGeom prst="rect">
            <a:avLst/>
          </a:prstGeom>
          <a:noFill/>
          <a:ln/>
        </p:spPr>
        <p:txBody>
          <a:bodyPr wrap="square" lIns="60000" tIns="40000" rIns="60000" bIns="400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UAP Admin Console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Admin initiates CRUD</a:t>
            </a:r>
          </a:p>
        </p:txBody>
      </p:sp>
      <p:sp>
        <p:nvSpPr>
          <p:cNvPr id="8" name="B2"/>
          <p:cNvSpPr/>
          <p:nvPr/>
        </p:nvSpPr>
        <p:spPr>
          <a:xfrm>
            <a:off x="4350000" y="3550000"/>
            <a:ext cx="2500000" cy="6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9" name="B2L"/>
          <p:cNvSpPr/>
          <p:nvPr/>
        </p:nvSpPr>
        <p:spPr>
          <a:xfrm>
            <a:off x="4350000" y="3550000"/>
            <a:ext cx="2500000" cy="650000"/>
          </a:xfrm>
          <a:prstGeom prst="rect">
            <a:avLst/>
          </a:prstGeom>
          <a:noFill/>
          <a:ln/>
        </p:spPr>
        <p:txBody>
          <a:bodyPr wrap="square" lIns="60000" tIns="40000" rIns="60000" bIns="400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AIC / EIP Layer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Protocol abstraction / routing</a:t>
            </a:r>
          </a:p>
        </p:txBody>
      </p:sp>
      <p:sp>
        <p:nvSpPr>
          <p:cNvPr id="100" name="ZUL"/>
          <p:cNvSpPr/>
          <p:nvPr/>
        </p:nvSpPr>
        <p:spPr>
          <a:xfrm>
            <a:off x="4350000" y="4280000"/>
            <a:ext cx="2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A6192E"/>
                </a:solidFill>
                <a:latin typeface="Calibri"/>
              </a:rPr>
              <a:t>UAP Platform</a:t>
            </a:r>
          </a:p>
        </p:txBody>
      </p:sp>
      <p:sp>
        <p:nvSpPr>
          <p:cNvPr id="10" name="ZD"/>
          <p:cNvSpPr/>
          <p:nvPr/>
        </p:nvSpPr>
        <p:spPr>
          <a:xfrm>
            <a:off x="3700000" y="1050000"/>
            <a:ext cx="4200000" cy="1100000"/>
          </a:xfrm>
          <a:prstGeom prst="roundRect">
            <a:avLst>
              <a:gd name="adj" fmla="val 15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1" name="ZDL"/>
          <p:cNvSpPr/>
          <p:nvPr/>
        </p:nvSpPr>
        <p:spPr>
          <a:xfrm>
            <a:off x="3700000" y="1050000"/>
            <a:ext cx="4200000" cy="1100000"/>
          </a:xfrm>
          <a:prstGeom prst="rect">
            <a:avLst/>
          </a:prstGeom>
          <a:noFill/>
          <a:ln/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Disconnected App — Y48</a:t>
            </a:r>
          </a:p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Calibri"/>
              </a:rPr>
              <a:t>Admin creates / updates user profile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File received via API/MQ — mapped to Y48</a:t>
            </a:r>
          </a:p>
        </p:txBody>
      </p:sp>
      <p:sp>
        <p:nvSpPr>
          <p:cNvPr id="12" name="AY1"/>
          <p:cNvSpPr/>
          <p:nvPr/>
        </p:nvSpPr>
        <p:spPr>
          <a:xfrm>
            <a:off x="5600000" y="2150000"/>
            <a:ext cx="0" cy="4000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triangle"/>
            <a:tailEnd type="none"/>
          </a:ln>
        </p:spPr>
      </p:sp>
      <p:sp>
        <p:nvSpPr>
          <p:cNvPr id="13" name="AY1L"/>
          <p:cNvSpPr/>
          <p:nvPr/>
        </p:nvSpPr>
        <p:spPr>
          <a:xfrm>
            <a:off x="5650000" y="2200000"/>
            <a:ext cx="11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/>
              </a:rPr>
              <a:t>File / MQ feed</a:t>
            </a:r>
          </a:p>
        </p:txBody>
      </p:sp>
      <p:sp>
        <p:nvSpPr>
          <p:cNvPr id="20" name="L1"/>
          <p:cNvSpPr/>
          <p:nvPr/>
        </p:nvSpPr>
        <p:spPr>
          <a:xfrm>
            <a:off x="548640" y="1850000"/>
            <a:ext cx="2700000" cy="900000"/>
          </a:xfrm>
          <a:prstGeom prst="roundRect">
            <a:avLst>
              <a:gd name="adj" fmla="val 2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1" name="L1L"/>
          <p:cNvSpPr/>
          <p:nvPr/>
        </p:nvSpPr>
        <p:spPr>
          <a:xfrm>
            <a:off x="548640" y="1850000"/>
            <a:ext cx="2700000" cy="900000"/>
          </a:xfrm>
          <a:prstGeom prst="rect">
            <a:avLst/>
          </a:prstGeom>
          <a:noFill/>
          <a:ln/>
        </p:spPr>
        <p:txBody>
          <a:bodyPr wrap="square" lIns="70000" tIns="40000" rIns="70000" bIns="400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VAS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SCIM-based sync</a:t>
            </a:r>
          </a:p>
          <a:p>
            <a:pPr algn="ctr"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/>
              </a:rPr>
              <a:t>Syncs to Oracle backend</a:t>
            </a:r>
          </a:p>
        </p:txBody>
      </p:sp>
      <p:sp>
        <p:nvSpPr>
          <p:cNvPr id="22" name="L2"/>
          <p:cNvSpPr/>
          <p:nvPr/>
        </p:nvSpPr>
        <p:spPr>
          <a:xfrm>
            <a:off x="548640" y="2850000"/>
            <a:ext cx="2700000" cy="900000"/>
          </a:xfrm>
          <a:prstGeom prst="roundRect">
            <a:avLst>
              <a:gd name="adj" fmla="val 2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3" name="L2L"/>
          <p:cNvSpPr/>
          <p:nvPr/>
        </p:nvSpPr>
        <p:spPr>
          <a:xfrm>
            <a:off x="548640" y="2850000"/>
            <a:ext cx="2700000" cy="900000"/>
          </a:xfrm>
          <a:prstGeom prst="rect">
            <a:avLst/>
          </a:prstGeom>
          <a:noFill/>
          <a:ln/>
        </p:spPr>
        <p:txBody>
          <a:bodyPr wrap="square" lIns="70000" tIns="40000" rIns="70000" bIns="400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TBS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SSO group assignment</a:t>
            </a:r>
          </a:p>
          <a:p>
            <a:pPr algn="ctr"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/>
              </a:rPr>
              <a:t>User + SSO info updated</a:t>
            </a:r>
          </a:p>
        </p:txBody>
      </p:sp>
      <p:sp>
        <p:nvSpPr>
          <p:cNvPr id="24" name="L3"/>
          <p:cNvSpPr/>
          <p:nvPr/>
        </p:nvSpPr>
        <p:spPr>
          <a:xfrm>
            <a:off x="548640" y="3850000"/>
            <a:ext cx="2700000" cy="900000"/>
          </a:xfrm>
          <a:prstGeom prst="roundRect">
            <a:avLst>
              <a:gd name="adj" fmla="val 2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5" name="L3L"/>
          <p:cNvSpPr/>
          <p:nvPr/>
        </p:nvSpPr>
        <p:spPr>
          <a:xfrm>
            <a:off x="548640" y="3850000"/>
            <a:ext cx="2700000" cy="900000"/>
          </a:xfrm>
          <a:prstGeom prst="rect">
            <a:avLst/>
          </a:prstGeom>
          <a:noFill/>
          <a:ln/>
        </p:spPr>
        <p:txBody>
          <a:bodyPr wrap="square" lIns="70000" tIns="40000" rIns="70000" bIns="400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LQC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Shell account + entitlements</a:t>
            </a:r>
          </a:p>
          <a:p>
            <a:pPr algn="ctr"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/>
              </a:rPr>
              <a:t>Stored in Oracle, provisioned to LQC</a:t>
            </a:r>
          </a:p>
        </p:txBody>
      </p:sp>
      <p:sp>
        <p:nvSpPr>
          <p:cNvPr id="26" name="AL1"/>
          <p:cNvSpPr/>
          <p:nvPr/>
        </p:nvSpPr>
        <p:spPr>
          <a:xfrm>
            <a:off x="3248640" y="2300000"/>
            <a:ext cx="11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triangle"/>
            <a:tailEnd type="none"/>
          </a:ln>
        </p:spPr>
      </p:sp>
      <p:sp>
        <p:nvSpPr>
          <p:cNvPr id="27" name="AL2"/>
          <p:cNvSpPr/>
          <p:nvPr/>
        </p:nvSpPr>
        <p:spPr>
          <a:xfrm>
            <a:off x="3248640" y="3300000"/>
            <a:ext cx="11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triangle"/>
            <a:tailEnd type="none"/>
          </a:ln>
        </p:spPr>
      </p:sp>
      <p:sp>
        <p:nvSpPr>
          <p:cNvPr id="28" name="AL3"/>
          <p:cNvSpPr/>
          <p:nvPr/>
        </p:nvSpPr>
        <p:spPr>
          <a:xfrm>
            <a:off x="3248640" y="4300000"/>
            <a:ext cx="11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triangle"/>
            <a:tailEnd type="none"/>
          </a:ln>
        </p:spPr>
      </p:sp>
      <p:sp>
        <p:nvSpPr>
          <p:cNvPr id="30" name="R1"/>
          <p:cNvSpPr/>
          <p:nvPr/>
        </p:nvSpPr>
        <p:spPr>
          <a:xfrm>
            <a:off x="8650000" y="1850000"/>
            <a:ext cx="2700000" cy="900000"/>
          </a:xfrm>
          <a:prstGeom prst="roundRect">
            <a:avLst>
              <a:gd name="adj" fmla="val 2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1" name="R1L"/>
          <p:cNvSpPr/>
          <p:nvPr/>
        </p:nvSpPr>
        <p:spPr>
          <a:xfrm>
            <a:off x="8650000" y="1850000"/>
            <a:ext cx="2700000" cy="900000"/>
          </a:xfrm>
          <a:prstGeom prst="rect">
            <a:avLst/>
          </a:prstGeom>
          <a:noFill/>
          <a:ln/>
        </p:spPr>
        <p:txBody>
          <a:bodyPr wrap="square" lIns="70000" tIns="40000" rIns="70000" bIns="400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SPY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Vendor REST API</a:t>
            </a:r>
          </a:p>
          <a:p>
            <a:pPr algn="ctr"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/>
              </a:rPr>
              <a:t>Create / update / deactivate</a:t>
            </a:r>
          </a:p>
        </p:txBody>
      </p:sp>
      <p:sp>
        <p:nvSpPr>
          <p:cNvPr id="32" name="R2"/>
          <p:cNvSpPr/>
          <p:nvPr/>
        </p:nvSpPr>
        <p:spPr>
          <a:xfrm>
            <a:off x="8650000" y="2850000"/>
            <a:ext cx="2700000" cy="900000"/>
          </a:xfrm>
          <a:prstGeom prst="roundRect">
            <a:avLst>
              <a:gd name="adj" fmla="val 2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3" name="R2L"/>
          <p:cNvSpPr/>
          <p:nvPr/>
        </p:nvSpPr>
        <p:spPr>
          <a:xfrm>
            <a:off x="8650000" y="2850000"/>
            <a:ext cx="2700000" cy="900000"/>
          </a:xfrm>
          <a:prstGeom prst="rect">
            <a:avLst/>
          </a:prstGeom>
          <a:noFill/>
          <a:ln/>
        </p:spPr>
        <p:txBody>
          <a:bodyPr wrap="square" lIns="70000" tIns="40000" rIns="70000" bIns="400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GIS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Custom SOAP via EIP</a:t>
            </a:r>
          </a:p>
          <a:p>
            <a:pPr algn="ctr"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/>
              </a:rPr>
              <a:t>EIP abstracts SOAP → User Mgmt API</a:t>
            </a:r>
          </a:p>
        </p:txBody>
      </p:sp>
      <p:sp>
        <p:nvSpPr>
          <p:cNvPr id="34" name="R3"/>
          <p:cNvSpPr/>
          <p:nvPr/>
        </p:nvSpPr>
        <p:spPr>
          <a:xfrm>
            <a:off x="8650000" y="3850000"/>
            <a:ext cx="2700000" cy="900000"/>
          </a:xfrm>
          <a:prstGeom prst="roundRect">
            <a:avLst>
              <a:gd name="adj" fmla="val 2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5" name="R3L"/>
          <p:cNvSpPr/>
          <p:nvPr/>
        </p:nvSpPr>
        <p:spPr>
          <a:xfrm>
            <a:off x="8650000" y="3850000"/>
            <a:ext cx="2700000" cy="900000"/>
          </a:xfrm>
          <a:prstGeom prst="rect">
            <a:avLst/>
          </a:prstGeom>
          <a:noFill/>
          <a:ln/>
        </p:spPr>
        <p:txBody>
          <a:bodyPr wrap="square" lIns="70000" tIns="40000" rIns="70000" bIns="400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/>
              </a:rPr>
              <a:t>DTB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API-driven provisioning</a:t>
            </a:r>
          </a:p>
          <a:p>
            <a:pPr algn="ctr"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/>
              </a:rPr>
              <a:t>User created in DTB application</a:t>
            </a:r>
          </a:p>
        </p:txBody>
      </p:sp>
      <p:sp>
        <p:nvSpPr>
          <p:cNvPr id="36" name="AR1"/>
          <p:cNvSpPr/>
          <p:nvPr/>
        </p:nvSpPr>
        <p:spPr>
          <a:xfrm>
            <a:off x="7050000" y="230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7" name="AR2"/>
          <p:cNvSpPr/>
          <p:nvPr/>
        </p:nvSpPr>
        <p:spPr>
          <a:xfrm>
            <a:off x="7050000" y="330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8" name="AR3"/>
          <p:cNvSpPr/>
          <p:nvPr/>
        </p:nvSpPr>
        <p:spPr>
          <a:xfrm>
            <a:off x="7050000" y="430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0" name="ZC"/>
          <p:cNvSpPr/>
          <p:nvPr/>
        </p:nvSpPr>
        <p:spPr>
          <a:xfrm>
            <a:off x="3700000" y="5600000"/>
            <a:ext cx="4200000" cy="1050000"/>
          </a:xfrm>
          <a:prstGeom prst="roundRect">
            <a:avLst>
              <a:gd name="adj" fmla="val 15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1" name="ZCL"/>
          <p:cNvSpPr/>
          <p:nvPr/>
        </p:nvSpPr>
        <p:spPr>
          <a:xfrm>
            <a:off x="3700000" y="5600000"/>
            <a:ext cx="4200000" cy="1050000"/>
          </a:xfrm>
          <a:prstGeom prst="rect">
            <a:avLst/>
          </a:prstGeom>
          <a:noFill/>
          <a:ln/>
        </p:spPr>
        <p:txBody>
          <a:bodyPr wrap="square" lIns="80000" tIns="40000" rIns="80000" bIns="4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CCY (Client-Initiated)</a:t>
            </a:r>
          </a:p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Calibri"/>
              </a:rPr>
              <a:t>Client user triggers create/update/delete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System provisions/deprovisions via REST APIs</a:t>
            </a:r>
          </a:p>
        </p:txBody>
      </p:sp>
      <p:sp>
        <p:nvSpPr>
          <p:cNvPr id="42" name="AC1"/>
          <p:cNvSpPr/>
          <p:nvPr/>
        </p:nvSpPr>
        <p:spPr>
          <a:xfrm>
            <a:off x="5600000" y="4250000"/>
            <a:ext cx="0" cy="13500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3" name="AC1L"/>
          <p:cNvSpPr/>
          <p:nvPr/>
        </p:nvSpPr>
        <p:spPr>
          <a:xfrm>
            <a:off x="5650000" y="4750000"/>
            <a:ext cx="13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/>
              </a:rPr>
              <a:t>Self-service REST</a:t>
            </a:r>
          </a:p>
        </p:txBody>
      </p:sp>
      <p:sp>
        <p:nvSpPr>
          <p:cNvPr id="60" name="LG"/>
          <p:cNvSpPr/>
          <p:nvPr/>
        </p:nvSpPr>
        <p:spPr>
          <a:xfrm>
            <a:off x="548640" y="6850000"/>
            <a:ext cx="1109167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/>
              </a:rPr>
              <a:t>Red border = internal UAP component   Grey fill = target application   Black arrow = provisioning request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ser Provisioning Sequenc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18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/>
              </a:rPr>
              <a:t>Sequence Diagram — Connected App User Provisioning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1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/>
              </a:rPr>
              <a:t>Generic pattern applicable to API/SOAP/REST-connected target applications (e.g. SCIM, REST, or SOAP-via-EIP integrations)</a:t>
            </a:r>
          </a:p>
        </p:txBody>
      </p:sp>
      <p:sp>
        <p:nvSpPr>
          <p:cNvPr id="10" name="LH_Admin"/>
          <p:cNvSpPr/>
          <p:nvPr/>
        </p:nvSpPr>
        <p:spPr>
          <a:xfrm>
            <a:off x="37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1" name="LH_UAP"/>
          <p:cNvSpPr/>
          <p:nvPr/>
        </p:nvSpPr>
        <p:spPr>
          <a:xfrm>
            <a:off x="195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UAP Admin Console</a:t>
            </a:r>
          </a:p>
        </p:txBody>
      </p:sp>
      <p:sp>
        <p:nvSpPr>
          <p:cNvPr id="12" name="LH_AIC"/>
          <p:cNvSpPr/>
          <p:nvPr/>
        </p:nvSpPr>
        <p:spPr>
          <a:xfrm>
            <a:off x="365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PingOne AIC</a:t>
            </a:r>
          </a:p>
        </p:txBody>
      </p:sp>
      <p:sp>
        <p:nvSpPr>
          <p:cNvPr id="13" name="LH_EIP"/>
          <p:cNvSpPr/>
          <p:nvPr/>
        </p:nvSpPr>
        <p:spPr>
          <a:xfrm>
            <a:off x="5350000" y="900000"/>
            <a:ext cx="13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Integration Layer (EIP)</a:t>
            </a:r>
          </a:p>
        </p:txBody>
      </p:sp>
      <p:sp>
        <p:nvSpPr>
          <p:cNvPr id="14" name="LH_App"/>
          <p:cNvSpPr/>
          <p:nvPr/>
        </p:nvSpPr>
        <p:spPr>
          <a:xfrm>
            <a:off x="7350000" y="900000"/>
            <a:ext cx="13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Target Application</a:t>
            </a:r>
          </a:p>
        </p:txBody>
      </p:sp>
      <p:sp>
        <p:nvSpPr>
          <p:cNvPr id="15" name="LH_PDir"/>
          <p:cNvSpPr/>
          <p:nvPr/>
        </p:nvSpPr>
        <p:spPr>
          <a:xfrm>
            <a:off x="9050000" y="900000"/>
            <a:ext cx="13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Ping Directory</a:t>
            </a:r>
          </a:p>
        </p:txBody>
      </p:sp>
      <p:sp>
        <p:nvSpPr>
          <p:cNvPr id="20" name="LL_Admin"/>
          <p:cNvSpPr/>
          <p:nvPr/>
        </p:nvSpPr>
        <p:spPr>
          <a:xfrm>
            <a:off x="92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1" name="LL_UAP"/>
          <p:cNvSpPr/>
          <p:nvPr/>
        </p:nvSpPr>
        <p:spPr>
          <a:xfrm>
            <a:off x="25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2" name="LL_AIC"/>
          <p:cNvSpPr/>
          <p:nvPr/>
        </p:nvSpPr>
        <p:spPr>
          <a:xfrm>
            <a:off x="42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3" name="LL_EIP"/>
          <p:cNvSpPr/>
          <p:nvPr/>
        </p:nvSpPr>
        <p:spPr>
          <a:xfrm>
            <a:off x="60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4" name="LL_App"/>
          <p:cNvSpPr/>
          <p:nvPr/>
        </p:nvSpPr>
        <p:spPr>
          <a:xfrm>
            <a:off x="80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5" name="LL_PDir"/>
          <p:cNvSpPr/>
          <p:nvPr/>
        </p:nvSpPr>
        <p:spPr>
          <a:xfrm>
            <a:off x="97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30" name="A1"/>
          <p:cNvSpPr/>
          <p:nvPr/>
        </p:nvSpPr>
        <p:spPr>
          <a:xfrm>
            <a:off x="920000" y="1550000"/>
            <a:ext cx="158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1"/>
          <p:cNvSpPr/>
          <p:nvPr/>
        </p:nvSpPr>
        <p:spPr>
          <a:xfrm>
            <a:off x="940000" y="1380000"/>
            <a:ext cx="19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1. Initiate create/update/deactivate</a:t>
            </a:r>
          </a:p>
        </p:txBody>
      </p:sp>
      <p:sp>
        <p:nvSpPr>
          <p:cNvPr id="32" name="A2"/>
          <p:cNvSpPr/>
          <p:nvPr/>
        </p:nvSpPr>
        <p:spPr>
          <a:xfrm>
            <a:off x="2500000" y="1950000"/>
            <a:ext cx="17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2"/>
          <p:cNvSpPr/>
          <p:nvPr/>
        </p:nvSpPr>
        <p:spPr>
          <a:xfrm>
            <a:off x="2520000" y="1780000"/>
            <a:ext cx="16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2. Start provisioning journey</a:t>
            </a:r>
          </a:p>
        </p:txBody>
      </p:sp>
      <p:sp>
        <p:nvSpPr>
          <p:cNvPr id="34" name="P3"/>
          <p:cNvSpPr/>
          <p:nvPr/>
        </p:nvSpPr>
        <p:spPr>
          <a:xfrm>
            <a:off x="3900000" y="2150000"/>
            <a:ext cx="60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</a:ln>
        </p:spPr>
        <p:txBody>
          <a:bodyPr wrap="square" lIns="40000" tIns="30000" rIns="4000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3. Validate request &amp; permissions</a:t>
            </a:r>
          </a:p>
        </p:txBody>
      </p:sp>
      <p:sp>
        <p:nvSpPr>
          <p:cNvPr id="36" name="A4"/>
          <p:cNvSpPr/>
          <p:nvPr/>
        </p:nvSpPr>
        <p:spPr>
          <a:xfrm>
            <a:off x="4200000" y="265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7" name="L4"/>
          <p:cNvSpPr/>
          <p:nvPr/>
        </p:nvSpPr>
        <p:spPr>
          <a:xfrm>
            <a:off x="4220000" y="2480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4. Forward provisioning request</a:t>
            </a:r>
          </a:p>
        </p:txBody>
      </p:sp>
      <p:sp>
        <p:nvSpPr>
          <p:cNvPr id="38" name="P5"/>
          <p:cNvSpPr/>
          <p:nvPr/>
        </p:nvSpPr>
        <p:spPr>
          <a:xfrm>
            <a:off x="5700000" y="2850000"/>
            <a:ext cx="60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</a:ln>
        </p:spPr>
        <p:txBody>
          <a:bodyPr wrap="square" lIns="40000" tIns="30000" rIns="4000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5. Convert to target protocol (REST/SOAP/SCIM)</a:t>
            </a:r>
          </a:p>
        </p:txBody>
      </p:sp>
      <p:sp>
        <p:nvSpPr>
          <p:cNvPr id="40" name="A6"/>
          <p:cNvSpPr/>
          <p:nvPr/>
        </p:nvSpPr>
        <p:spPr>
          <a:xfrm>
            <a:off x="6000000" y="3350000"/>
            <a:ext cx="20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1" name="L6"/>
          <p:cNvSpPr/>
          <p:nvPr/>
        </p:nvSpPr>
        <p:spPr>
          <a:xfrm>
            <a:off x="6020000" y="3180000"/>
            <a:ext cx="19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6. Invoke target API/service</a:t>
            </a:r>
          </a:p>
        </p:txBody>
      </p:sp>
      <p:sp>
        <p:nvSpPr>
          <p:cNvPr id="42" name="A7"/>
          <p:cNvSpPr/>
          <p:nvPr/>
        </p:nvSpPr>
        <p:spPr>
          <a:xfrm>
            <a:off x="6000000" y="3750000"/>
            <a:ext cx="20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3" name="L7"/>
          <p:cNvSpPr/>
          <p:nvPr/>
        </p:nvSpPr>
        <p:spPr>
          <a:xfrm>
            <a:off x="6020000" y="3580000"/>
            <a:ext cx="19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7. Return success / record ID</a:t>
            </a:r>
          </a:p>
        </p:txBody>
      </p:sp>
      <p:sp>
        <p:nvSpPr>
          <p:cNvPr id="44" name="A8"/>
          <p:cNvSpPr/>
          <p:nvPr/>
        </p:nvSpPr>
        <p:spPr>
          <a:xfrm>
            <a:off x="4200000" y="415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5" name="L8"/>
          <p:cNvSpPr/>
          <p:nvPr/>
        </p:nvSpPr>
        <p:spPr>
          <a:xfrm>
            <a:off x="4220000" y="3980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8. Confirm provisioning result</a:t>
            </a:r>
          </a:p>
        </p:txBody>
      </p:sp>
      <p:sp>
        <p:nvSpPr>
          <p:cNvPr id="46" name="A9"/>
          <p:cNvSpPr/>
          <p:nvPr/>
        </p:nvSpPr>
        <p:spPr>
          <a:xfrm>
            <a:off x="4200000" y="4550000"/>
            <a:ext cx="5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7" name="L9"/>
          <p:cNvSpPr/>
          <p:nvPr/>
        </p:nvSpPr>
        <p:spPr>
          <a:xfrm>
            <a:off x="6500000" y="4380000"/>
            <a:ext cx="27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9. Update provisioning status</a:t>
            </a:r>
          </a:p>
        </p:txBody>
      </p:sp>
      <p:sp>
        <p:nvSpPr>
          <p:cNvPr id="48" name="A10"/>
          <p:cNvSpPr/>
          <p:nvPr/>
        </p:nvSpPr>
        <p:spPr>
          <a:xfrm>
            <a:off x="4200000" y="4950000"/>
            <a:ext cx="5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9" name="L10"/>
          <p:cNvSpPr/>
          <p:nvPr/>
        </p:nvSpPr>
        <p:spPr>
          <a:xfrm>
            <a:off x="6500000" y="4780000"/>
            <a:ext cx="27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10. Confirm record stored</a:t>
            </a:r>
          </a:p>
        </p:txBody>
      </p:sp>
      <p:sp>
        <p:nvSpPr>
          <p:cNvPr id="50" name="A11"/>
          <p:cNvSpPr/>
          <p:nvPr/>
        </p:nvSpPr>
        <p:spPr>
          <a:xfrm>
            <a:off x="920000" y="5350000"/>
            <a:ext cx="158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51" name="L11"/>
          <p:cNvSpPr/>
          <p:nvPr/>
        </p:nvSpPr>
        <p:spPr>
          <a:xfrm>
            <a:off x="940000" y="5180000"/>
            <a:ext cx="15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11. Display confirmation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654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/>
              </a:rPr>
              <a:t>Black solid → request/call  Black dashed → response/return  Red-tint box → processing step  Steps numbered top → bottom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sconnected Provisioning Sequenc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18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/>
              </a:rPr>
              <a:t>Sequence Diagram — Disconnected App User Provisioning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1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/>
              </a:rPr>
              <a:t>Generic pattern for target applications with no live API endpoint — provisioning occurs via asynchronous file / MQ feed (e.g. Y48)</a:t>
            </a:r>
          </a:p>
        </p:txBody>
      </p:sp>
      <p:sp>
        <p:nvSpPr>
          <p:cNvPr id="10" name="LH_Admin"/>
          <p:cNvSpPr/>
          <p:nvPr/>
        </p:nvSpPr>
        <p:spPr>
          <a:xfrm>
            <a:off x="37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1" name="LH_UAP"/>
          <p:cNvSpPr/>
          <p:nvPr/>
        </p:nvSpPr>
        <p:spPr>
          <a:xfrm>
            <a:off x="2150000" y="900000"/>
            <a:ext cx="13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UAP Admin Console</a:t>
            </a:r>
          </a:p>
        </p:txBody>
      </p:sp>
      <p:sp>
        <p:nvSpPr>
          <p:cNvPr id="12" name="LH_AIC"/>
          <p:cNvSpPr/>
          <p:nvPr/>
        </p:nvSpPr>
        <p:spPr>
          <a:xfrm>
            <a:off x="415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PingOne AIC</a:t>
            </a:r>
          </a:p>
        </p:txBody>
      </p:sp>
      <p:sp>
        <p:nvSpPr>
          <p:cNvPr id="13" name="LH_FileMQ"/>
          <p:cNvSpPr/>
          <p:nvPr/>
        </p:nvSpPr>
        <p:spPr>
          <a:xfrm>
            <a:off x="5650000" y="900000"/>
            <a:ext cx="17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File / MQ Gateway</a:t>
            </a:r>
          </a:p>
        </p:txBody>
      </p:sp>
      <p:sp>
        <p:nvSpPr>
          <p:cNvPr id="14" name="LH_App"/>
          <p:cNvSpPr/>
          <p:nvPr/>
        </p:nvSpPr>
        <p:spPr>
          <a:xfrm>
            <a:off x="7850000" y="900000"/>
            <a:ext cx="17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Disconnected App</a:t>
            </a:r>
          </a:p>
        </p:txBody>
      </p:sp>
      <p:sp>
        <p:nvSpPr>
          <p:cNvPr id="20" name="LL_Admin"/>
          <p:cNvSpPr/>
          <p:nvPr/>
        </p:nvSpPr>
        <p:spPr>
          <a:xfrm>
            <a:off x="92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1" name="LL_UAP"/>
          <p:cNvSpPr/>
          <p:nvPr/>
        </p:nvSpPr>
        <p:spPr>
          <a:xfrm>
            <a:off x="28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2" name="LL_AIC"/>
          <p:cNvSpPr/>
          <p:nvPr/>
        </p:nvSpPr>
        <p:spPr>
          <a:xfrm>
            <a:off x="47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3" name="LL_FileMQ"/>
          <p:cNvSpPr/>
          <p:nvPr/>
        </p:nvSpPr>
        <p:spPr>
          <a:xfrm>
            <a:off x="65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4" name="LL_App"/>
          <p:cNvSpPr/>
          <p:nvPr/>
        </p:nvSpPr>
        <p:spPr>
          <a:xfrm>
            <a:off x="87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30" name="A1"/>
          <p:cNvSpPr/>
          <p:nvPr/>
        </p:nvSpPr>
        <p:spPr>
          <a:xfrm>
            <a:off x="920000" y="1550000"/>
            <a:ext cx="188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1"/>
          <p:cNvSpPr/>
          <p:nvPr/>
        </p:nvSpPr>
        <p:spPr>
          <a:xfrm>
            <a:off x="940000" y="1380000"/>
            <a:ext cx="184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1. Create / update user profile</a:t>
            </a:r>
          </a:p>
        </p:txBody>
      </p:sp>
      <p:sp>
        <p:nvSpPr>
          <p:cNvPr id="32" name="A2"/>
          <p:cNvSpPr/>
          <p:nvPr/>
        </p:nvSpPr>
        <p:spPr>
          <a:xfrm>
            <a:off x="2800000" y="1950000"/>
            <a:ext cx="19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2"/>
          <p:cNvSpPr/>
          <p:nvPr/>
        </p:nvSpPr>
        <p:spPr>
          <a:xfrm>
            <a:off x="2820000" y="1780000"/>
            <a:ext cx="18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2. Submit profile change request</a:t>
            </a:r>
          </a:p>
        </p:txBody>
      </p:sp>
      <p:sp>
        <p:nvSpPr>
          <p:cNvPr id="34" name="P3"/>
          <p:cNvSpPr/>
          <p:nvPr/>
        </p:nvSpPr>
        <p:spPr>
          <a:xfrm>
            <a:off x="4400000" y="2150000"/>
            <a:ext cx="60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</a:ln>
        </p:spPr>
        <p:txBody>
          <a:bodyPr wrap="square" lIns="40000" tIns="30000" rIns="4000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3. Validate &amp; queue for outbound feed</a:t>
            </a:r>
          </a:p>
        </p:txBody>
      </p:sp>
      <p:sp>
        <p:nvSpPr>
          <p:cNvPr id="36" name="A4"/>
          <p:cNvSpPr/>
          <p:nvPr/>
        </p:nvSpPr>
        <p:spPr>
          <a:xfrm>
            <a:off x="4700000" y="265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7" name="L4"/>
          <p:cNvSpPr/>
          <p:nvPr/>
        </p:nvSpPr>
        <p:spPr>
          <a:xfrm>
            <a:off x="4720000" y="2480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4. Publish user record to MQ</a:t>
            </a:r>
          </a:p>
        </p:txBody>
      </p:sp>
      <p:sp>
        <p:nvSpPr>
          <p:cNvPr id="38" name="A5"/>
          <p:cNvSpPr/>
          <p:nvPr/>
        </p:nvSpPr>
        <p:spPr>
          <a:xfrm>
            <a:off x="920000" y="3050000"/>
            <a:ext cx="378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39" name="L5"/>
          <p:cNvSpPr/>
          <p:nvPr/>
        </p:nvSpPr>
        <p:spPr>
          <a:xfrm>
            <a:off x="1700000" y="2880000"/>
            <a:ext cx="23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5. Confirm request queued (not yet applied)</a:t>
            </a:r>
          </a:p>
        </p:txBody>
      </p:sp>
      <p:sp>
        <p:nvSpPr>
          <p:cNvPr id="60" name="AsyncBox"/>
          <p:cNvSpPr/>
          <p:nvPr/>
        </p:nvSpPr>
        <p:spPr>
          <a:xfrm>
            <a:off x="4700000" y="3350000"/>
            <a:ext cx="4000000" cy="450000"/>
          </a:xfrm>
          <a:prstGeom prst="rect">
            <a:avLst/>
          </a:prstGeom>
          <a:solidFill>
            <a:srgbClr val="F1F1F1"/>
          </a:solidFill>
          <a:ln w="6350">
            <a:solidFill>
              <a:srgbClr val="9AA0A6"/>
            </a:solidFill>
            <a:prstDash val="dash"/>
          </a:ln>
        </p:spPr>
        <p:txBody>
          <a:bodyPr wrap="square" lIns="40000" tIns="20000" rIns="40000" bIns="2000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6B6B6B"/>
                </a:solidFill>
                <a:latin typeface="Calibri"/>
              </a:rPr>
              <a:t>— Asynchronous boundary: batch / scheduled pickup —</a:t>
            </a:r>
          </a:p>
        </p:txBody>
      </p:sp>
      <p:sp>
        <p:nvSpPr>
          <p:cNvPr id="40" name="A6"/>
          <p:cNvSpPr/>
          <p:nvPr/>
        </p:nvSpPr>
        <p:spPr>
          <a:xfrm>
            <a:off x="6500000" y="4150000"/>
            <a:ext cx="2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1" name="L6"/>
          <p:cNvSpPr/>
          <p:nvPr/>
        </p:nvSpPr>
        <p:spPr>
          <a:xfrm>
            <a:off x="6520000" y="3980000"/>
            <a:ext cx="21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6. Deliver file / message</a:t>
            </a:r>
          </a:p>
        </p:txBody>
      </p:sp>
      <p:sp>
        <p:nvSpPr>
          <p:cNvPr id="42" name="P7"/>
          <p:cNvSpPr/>
          <p:nvPr/>
        </p:nvSpPr>
        <p:spPr>
          <a:xfrm>
            <a:off x="8400000" y="4350000"/>
            <a:ext cx="60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</a:ln>
        </p:spPr>
        <p:txBody>
          <a:bodyPr wrap="square" lIns="40000" tIns="30000" rIns="4000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7. Ingest &amp; apply profile update</a:t>
            </a:r>
          </a:p>
        </p:txBody>
      </p:sp>
      <p:sp>
        <p:nvSpPr>
          <p:cNvPr id="44" name="A8"/>
          <p:cNvSpPr/>
          <p:nvPr/>
        </p:nvSpPr>
        <p:spPr>
          <a:xfrm>
            <a:off x="6500000" y="4850000"/>
            <a:ext cx="2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5" name="L8"/>
          <p:cNvSpPr/>
          <p:nvPr/>
        </p:nvSpPr>
        <p:spPr>
          <a:xfrm>
            <a:off x="6520000" y="4680000"/>
            <a:ext cx="21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8. Return ack / status file</a:t>
            </a:r>
          </a:p>
        </p:txBody>
      </p:sp>
      <p:sp>
        <p:nvSpPr>
          <p:cNvPr id="46" name="A9"/>
          <p:cNvSpPr/>
          <p:nvPr/>
        </p:nvSpPr>
        <p:spPr>
          <a:xfrm>
            <a:off x="4700000" y="525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7" name="L9"/>
          <p:cNvSpPr/>
          <p:nvPr/>
        </p:nvSpPr>
        <p:spPr>
          <a:xfrm>
            <a:off x="4720000" y="5080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9. Update reconciliation log</a:t>
            </a:r>
          </a:p>
        </p:txBody>
      </p:sp>
      <p:sp>
        <p:nvSpPr>
          <p:cNvPr id="48" name="A10"/>
          <p:cNvSpPr/>
          <p:nvPr/>
        </p:nvSpPr>
        <p:spPr>
          <a:xfrm>
            <a:off x="920000" y="5650000"/>
            <a:ext cx="378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9" name="L10"/>
          <p:cNvSpPr/>
          <p:nvPr/>
        </p:nvSpPr>
        <p:spPr>
          <a:xfrm>
            <a:off x="1700000" y="5480000"/>
            <a:ext cx="23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10. Notify admin of completion (next login / report)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654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/>
              </a:rPr>
              <a:t>Black solid → request/call  Black dashed → response/return  Red-tint box → processing step  Grey box → async/batch boundary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IP Integration Bloc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18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/>
              </a:rPr>
              <a:t>Block Diagram — EIP Integration (OAuth + REST Translation)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1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/>
              </a:rPr>
              <a:t>EIP acts as a gateway for all integrations: OAuth authentication · API translation (SOAP/proprietary → REST) · Target apps: LQC · TBS · Y48 · DTB · SPY</a:t>
            </a:r>
          </a:p>
        </p:txBody>
      </p:sp>
      <p:sp>
        <p:nvSpPr>
          <p:cNvPr id="4" name="ZU"/>
          <p:cNvSpPr/>
          <p:nvPr/>
        </p:nvSpPr>
        <p:spPr>
          <a:xfrm>
            <a:off x="548640" y="960000"/>
            <a:ext cx="3400000" cy="5450000"/>
          </a:xfrm>
          <a:prstGeom prst="roundRect">
            <a:avLst>
              <a:gd name="adj" fmla="val 8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ZUL"/>
          <p:cNvSpPr/>
          <p:nvPr/>
        </p:nvSpPr>
        <p:spPr>
          <a:xfrm>
            <a:off x="720000" y="1010000"/>
            <a:ext cx="2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A6192E"/>
                </a:solidFill>
                <a:latin typeface="Calibri"/>
              </a:rPr>
              <a:t>UAP Platform Zone</a:t>
            </a:r>
          </a:p>
        </p:txBody>
      </p:sp>
      <p:sp>
        <p:nvSpPr>
          <p:cNvPr id="6" name="B_UAP"/>
          <p:cNvSpPr/>
          <p:nvPr/>
        </p:nvSpPr>
        <p:spPr>
          <a:xfrm>
            <a:off x="720000" y="1350000"/>
            <a:ext cx="20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7" name="B_UAP_L"/>
          <p:cNvSpPr/>
          <p:nvPr/>
        </p:nvSpPr>
        <p:spPr>
          <a:xfrm>
            <a:off x="720000" y="1350000"/>
            <a:ext cx="2000000" cy="820000"/>
          </a:xfrm>
          <a:prstGeom prst="rect">
            <a:avLst/>
          </a:prstGeom>
          <a:noFill/>
          <a:ln/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UAP Portal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User-initiated request</a:t>
            </a:r>
          </a:p>
        </p:txBody>
      </p:sp>
      <p:sp>
        <p:nvSpPr>
          <p:cNvPr id="8" name="B_AIC"/>
          <p:cNvSpPr/>
          <p:nvPr/>
        </p:nvSpPr>
        <p:spPr>
          <a:xfrm>
            <a:off x="720000" y="2400000"/>
            <a:ext cx="20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9" name="B_AIC_L"/>
          <p:cNvSpPr/>
          <p:nvPr/>
        </p:nvSpPr>
        <p:spPr>
          <a:xfrm>
            <a:off x="720000" y="2400000"/>
            <a:ext cx="2000000" cy="820000"/>
          </a:xfrm>
          <a:prstGeom prst="rect">
            <a:avLst/>
          </a:prstGeom>
          <a:noFill/>
          <a:ln/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322"/>
                </a:solidFill>
                <a:latin typeface="Calibri"/>
              </a:rPr>
              <a:t>PingOne AIC</a:t>
            </a:r>
          </a:p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/>
              </a:rPr>
              <a:t>Journey orchestration</a:t>
            </a:r>
          </a:p>
        </p:txBody>
      </p:sp>
      <p:sp>
        <p:nvSpPr>
          <p:cNvPr id="10" name="A_UAP_AIC"/>
          <p:cNvSpPr/>
          <p:nvPr/>
        </p:nvSpPr>
        <p:spPr>
          <a:xfrm>
            <a:off x="1720000" y="2170000"/>
            <a:ext cx="0" cy="2300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1" name="L_UAP_AIC"/>
          <p:cNvSpPr/>
          <p:nvPr/>
        </p:nvSpPr>
        <p:spPr>
          <a:xfrm>
            <a:off x="1740000" y="2190000"/>
            <a:ext cx="90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/>
              </a:rPr>
              <a:t>OIDC session</a:t>
            </a:r>
          </a:p>
        </p:txBody>
      </p:sp>
      <p:sp>
        <p:nvSpPr>
          <p:cNvPr id="12" name="A_AIC_EIP"/>
          <p:cNvSpPr/>
          <p:nvPr/>
        </p:nvSpPr>
        <p:spPr>
          <a:xfrm>
            <a:off x="2720000" y="2810000"/>
            <a:ext cx="153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3" name="L_AIC_EIP"/>
          <p:cNvSpPr/>
          <p:nvPr/>
        </p:nvSpPr>
        <p:spPr>
          <a:xfrm>
            <a:off x="2740000" y="2640000"/>
            <a:ext cx="149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/>
              </a:rPr>
              <a:t>Route via gateway</a:t>
            </a:r>
          </a:p>
        </p:txBody>
      </p:sp>
      <p:sp>
        <p:nvSpPr>
          <p:cNvPr id="20" name="ZE"/>
          <p:cNvSpPr/>
          <p:nvPr/>
        </p:nvSpPr>
        <p:spPr>
          <a:xfrm>
            <a:off x="4250000" y="2300000"/>
            <a:ext cx="3000000" cy="2200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21" name="B_EIP_T"/>
          <p:cNvSpPr/>
          <p:nvPr/>
        </p:nvSpPr>
        <p:spPr>
          <a:xfrm>
            <a:off x="4350000" y="2380000"/>
            <a:ext cx="2800000" cy="360000"/>
          </a:xfrm>
          <a:prstGeom prst="rect">
            <a:avLst/>
          </a:prstGeom>
          <a:noFill/>
          <a:ln/>
        </p:spPr>
        <p:txBody>
          <a:bodyPr wrap="square" lIns="60000" tIns="40000" rIns="60000" bIns="40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1322"/>
                </a:solidFill>
                <a:latin typeface="Calibri"/>
              </a:rPr>
              <a:t>EIP Gateway</a:t>
            </a:r>
          </a:p>
        </p:txBody>
      </p:sp>
      <p:sp>
        <p:nvSpPr>
          <p:cNvPr id="22" name="B_EIP_caps"/>
          <p:cNvSpPr/>
          <p:nvPr/>
        </p:nvSpPr>
        <p:spPr>
          <a:xfrm>
            <a:off x="4350000" y="2820000"/>
            <a:ext cx="2800000" cy="1600000"/>
          </a:xfrm>
          <a:prstGeom prst="rect">
            <a:avLst/>
          </a:prstGeom>
          <a:noFill/>
          <a:ln/>
        </p:spPr>
        <p:txBody>
          <a:bodyPr wrap="square" lIns="80000" tIns="50000" rIns="80000" bIns="500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Calibri"/>
              </a:rPr>
              <a:t>• OAuth Authentication</a:t>
            </a:r>
          </a:p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Calibri"/>
              </a:rPr>
              <a:t>• API Translation</a:t>
            </a:r>
          </a:p>
          <a:p>
            <a:pPr indent="0" marL="18000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SOAP / proprietary → REST</a:t>
            </a:r>
          </a:p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Calibri"/>
              </a:rPr>
              <a:t>• Request Routing</a:t>
            </a:r>
          </a:p>
          <a:p>
            <a:pPr indent="0" marL="18000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To correct target system</a:t>
            </a:r>
          </a:p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Calibri"/>
              </a:rPr>
              <a:t>• Error Handling</a:t>
            </a:r>
          </a:p>
          <a:p>
            <a:pPr indent="0" marL="18000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Returns to caller on failure</a:t>
            </a:r>
          </a:p>
        </p:txBody>
      </p:sp>
      <p:sp>
        <p:nvSpPr>
          <p:cNvPr id="30" name="ZT"/>
          <p:cNvSpPr/>
          <p:nvPr/>
        </p:nvSpPr>
        <p:spPr>
          <a:xfrm>
            <a:off x="8250000" y="960000"/>
            <a:ext cx="3000000" cy="5450000"/>
          </a:xfrm>
          <a:prstGeom prst="roundRect">
            <a:avLst>
              <a:gd name="adj" fmla="val 8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1" name="ZTL"/>
          <p:cNvSpPr/>
          <p:nvPr/>
        </p:nvSpPr>
        <p:spPr>
          <a:xfrm>
            <a:off x="8400000" y="1010000"/>
            <a:ext cx="24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6B6B6B"/>
                </a:solidFill>
                <a:latin typeface="Calibri"/>
              </a:rPr>
              <a:t>Target Systems</a:t>
            </a:r>
          </a:p>
        </p:txBody>
      </p:sp>
      <p:sp>
        <p:nvSpPr>
          <p:cNvPr id="32" name="T1"/>
          <p:cNvSpPr/>
          <p:nvPr/>
        </p:nvSpPr>
        <p:spPr>
          <a:xfrm>
            <a:off x="8450000" y="1330000"/>
            <a:ext cx="2700000" cy="750000"/>
          </a:xfrm>
          <a:prstGeom prst="roundRect">
            <a:avLst>
              <a:gd name="adj" fmla="val 2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3" name="T1L"/>
          <p:cNvSpPr/>
          <p:nvPr/>
        </p:nvSpPr>
        <p:spPr>
          <a:xfrm>
            <a:off x="8450000" y="1330000"/>
            <a:ext cx="2700000" cy="750000"/>
          </a:xfrm>
          <a:prstGeom prst="rect">
            <a:avLst/>
          </a:prstGeom>
          <a:noFill/>
          <a:ln/>
        </p:spPr>
        <p:txBody>
          <a:bodyPr wrap="square" lIns="80000" tIns="40000" rIns="80000" bIns="4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LQC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REST endpoint</a:t>
            </a:r>
          </a:p>
        </p:txBody>
      </p:sp>
      <p:sp>
        <p:nvSpPr>
          <p:cNvPr id="34" name="T2"/>
          <p:cNvSpPr/>
          <p:nvPr/>
        </p:nvSpPr>
        <p:spPr>
          <a:xfrm>
            <a:off x="8450000" y="2180000"/>
            <a:ext cx="2700000" cy="750000"/>
          </a:xfrm>
          <a:prstGeom prst="roundRect">
            <a:avLst>
              <a:gd name="adj" fmla="val 2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5" name="T2L"/>
          <p:cNvSpPr/>
          <p:nvPr/>
        </p:nvSpPr>
        <p:spPr>
          <a:xfrm>
            <a:off x="8450000" y="2180000"/>
            <a:ext cx="2700000" cy="750000"/>
          </a:xfrm>
          <a:prstGeom prst="rect">
            <a:avLst/>
          </a:prstGeom>
          <a:noFill/>
          <a:ln/>
        </p:spPr>
        <p:txBody>
          <a:bodyPr wrap="square" lIns="80000" tIns="40000" rIns="80000" bIns="4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TBS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REST endpoint</a:t>
            </a:r>
          </a:p>
        </p:txBody>
      </p:sp>
      <p:sp>
        <p:nvSpPr>
          <p:cNvPr id="36" name="T3"/>
          <p:cNvSpPr/>
          <p:nvPr/>
        </p:nvSpPr>
        <p:spPr>
          <a:xfrm>
            <a:off x="8450000" y="3030000"/>
            <a:ext cx="2700000" cy="750000"/>
          </a:xfrm>
          <a:prstGeom prst="roundRect">
            <a:avLst>
              <a:gd name="adj" fmla="val 2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7" name="T3L"/>
          <p:cNvSpPr/>
          <p:nvPr/>
        </p:nvSpPr>
        <p:spPr>
          <a:xfrm>
            <a:off x="8450000" y="3030000"/>
            <a:ext cx="2700000" cy="750000"/>
          </a:xfrm>
          <a:prstGeom prst="rect">
            <a:avLst/>
          </a:prstGeom>
          <a:noFill/>
          <a:ln/>
        </p:spPr>
        <p:txBody>
          <a:bodyPr wrap="square" lIns="80000" tIns="40000" rIns="80000" bIns="4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Y48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File / MQ feed</a:t>
            </a:r>
          </a:p>
        </p:txBody>
      </p:sp>
      <p:sp>
        <p:nvSpPr>
          <p:cNvPr id="38" name="T4"/>
          <p:cNvSpPr/>
          <p:nvPr/>
        </p:nvSpPr>
        <p:spPr>
          <a:xfrm>
            <a:off x="8450000" y="3880000"/>
            <a:ext cx="2700000" cy="750000"/>
          </a:xfrm>
          <a:prstGeom prst="roundRect">
            <a:avLst>
              <a:gd name="adj" fmla="val 2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9" name="T4L"/>
          <p:cNvSpPr/>
          <p:nvPr/>
        </p:nvSpPr>
        <p:spPr>
          <a:xfrm>
            <a:off x="8450000" y="3880000"/>
            <a:ext cx="2700000" cy="750000"/>
          </a:xfrm>
          <a:prstGeom prst="rect">
            <a:avLst/>
          </a:prstGeom>
          <a:noFill/>
          <a:ln/>
        </p:spPr>
        <p:txBody>
          <a:bodyPr wrap="square" lIns="80000" tIns="40000" rIns="80000" bIns="4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DTB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REST / SAML SP</a:t>
            </a:r>
          </a:p>
        </p:txBody>
      </p:sp>
      <p:sp>
        <p:nvSpPr>
          <p:cNvPr id="40" name="T5"/>
          <p:cNvSpPr/>
          <p:nvPr/>
        </p:nvSpPr>
        <p:spPr>
          <a:xfrm>
            <a:off x="8450000" y="4730000"/>
            <a:ext cx="2700000" cy="750000"/>
          </a:xfrm>
          <a:prstGeom prst="roundRect">
            <a:avLst>
              <a:gd name="adj" fmla="val 2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1" name="T5L"/>
          <p:cNvSpPr/>
          <p:nvPr/>
        </p:nvSpPr>
        <p:spPr>
          <a:xfrm>
            <a:off x="8450000" y="4730000"/>
            <a:ext cx="2700000" cy="750000"/>
          </a:xfrm>
          <a:prstGeom prst="rect">
            <a:avLst/>
          </a:prstGeom>
          <a:noFill/>
          <a:ln/>
        </p:spPr>
        <p:txBody>
          <a:bodyPr wrap="square" lIns="80000" tIns="40000" rIns="80000" bIns="4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SPY</a:t>
            </a:r>
          </a:p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/>
              </a:rPr>
              <a:t>Vendor REST API</a:t>
            </a:r>
          </a:p>
        </p:txBody>
      </p:sp>
      <p:sp>
        <p:nvSpPr>
          <p:cNvPr id="50" name="AE1"/>
          <p:cNvSpPr/>
          <p:nvPr/>
        </p:nvSpPr>
        <p:spPr>
          <a:xfrm>
            <a:off x="7250000" y="1705000"/>
            <a:ext cx="1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1" name="AE2"/>
          <p:cNvSpPr/>
          <p:nvPr/>
        </p:nvSpPr>
        <p:spPr>
          <a:xfrm>
            <a:off x="7250000" y="2555000"/>
            <a:ext cx="1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2" name="AE3"/>
          <p:cNvSpPr/>
          <p:nvPr/>
        </p:nvSpPr>
        <p:spPr>
          <a:xfrm>
            <a:off x="7250000" y="3405000"/>
            <a:ext cx="1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3" name="AE4"/>
          <p:cNvSpPr/>
          <p:nvPr/>
        </p:nvSpPr>
        <p:spPr>
          <a:xfrm>
            <a:off x="7250000" y="4255000"/>
            <a:ext cx="1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4" name="AE5"/>
          <p:cNvSpPr/>
          <p:nvPr/>
        </p:nvSpPr>
        <p:spPr>
          <a:xfrm>
            <a:off x="7250000" y="5105000"/>
            <a:ext cx="1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5" name="AE_L"/>
          <p:cNvSpPr/>
          <p:nvPr/>
        </p:nvSpPr>
        <p:spPr>
          <a:xfrm>
            <a:off x="7260000" y="3100000"/>
            <a:ext cx="118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i="1" dirty="0">
                <a:solidFill>
                  <a:srgbClr val="000000"/>
                </a:solidFill>
                <a:latin typeface="Calibri"/>
              </a:rPr>
              <a:t>REST call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5980000"/>
            <a:ext cx="1109167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/>
              </a:rPr>
              <a:t>Red border = internal UAP component   Grey fill = target system   Black arrow = request/call   EIP acts as single gateway for all targets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IP Integration Sequenc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18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322"/>
                </a:solidFill>
                <a:latin typeface="Calibri"/>
              </a:rPr>
              <a:t>Sequence Diagram — EIP Integration (OAuth + REST Translation)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1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/>
              </a:rPr>
              <a:t>Generic pattern applicable to all 5 target systems (LQC / TBS / Y48 / DTB / SPY) — EIP handles OAuth and translates to each target’s native protocol</a:t>
            </a:r>
          </a:p>
        </p:txBody>
      </p:sp>
      <p:sp>
        <p:nvSpPr>
          <p:cNvPr id="10" name="LH_User"/>
          <p:cNvSpPr/>
          <p:nvPr/>
        </p:nvSpPr>
        <p:spPr>
          <a:xfrm>
            <a:off x="37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11" name="LH_UAP"/>
          <p:cNvSpPr/>
          <p:nvPr/>
        </p:nvSpPr>
        <p:spPr>
          <a:xfrm>
            <a:off x="190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UAP Portal</a:t>
            </a:r>
          </a:p>
        </p:txBody>
      </p:sp>
      <p:sp>
        <p:nvSpPr>
          <p:cNvPr id="12" name="LH_AIC"/>
          <p:cNvSpPr/>
          <p:nvPr/>
        </p:nvSpPr>
        <p:spPr>
          <a:xfrm>
            <a:off x="355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PingOne AIC</a:t>
            </a:r>
          </a:p>
        </p:txBody>
      </p:sp>
      <p:sp>
        <p:nvSpPr>
          <p:cNvPr id="13" name="LH_EIP"/>
          <p:cNvSpPr/>
          <p:nvPr/>
        </p:nvSpPr>
        <p:spPr>
          <a:xfrm>
            <a:off x="5450000" y="900000"/>
            <a:ext cx="11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EIP Gateway</a:t>
            </a:r>
          </a:p>
        </p:txBody>
      </p:sp>
      <p:sp>
        <p:nvSpPr>
          <p:cNvPr id="14" name="LH_OAuth"/>
          <p:cNvSpPr/>
          <p:nvPr/>
        </p:nvSpPr>
        <p:spPr>
          <a:xfrm>
            <a:off x="7150000" y="900000"/>
            <a:ext cx="13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OAuth Auth Server</a:t>
            </a:r>
          </a:p>
        </p:txBody>
      </p:sp>
      <p:sp>
        <p:nvSpPr>
          <p:cNvPr id="15" name="LH_App"/>
          <p:cNvSpPr/>
          <p:nvPr/>
        </p:nvSpPr>
        <p:spPr>
          <a:xfrm>
            <a:off x="9050000" y="900000"/>
            <a:ext cx="1300000" cy="40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Target Application</a:t>
            </a:r>
          </a:p>
        </p:txBody>
      </p:sp>
      <p:sp>
        <p:nvSpPr>
          <p:cNvPr id="20" name="LL1"/>
          <p:cNvSpPr/>
          <p:nvPr/>
        </p:nvSpPr>
        <p:spPr>
          <a:xfrm>
            <a:off x="92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1" name="LL2"/>
          <p:cNvSpPr/>
          <p:nvPr/>
        </p:nvSpPr>
        <p:spPr>
          <a:xfrm>
            <a:off x="245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2" name="LL3"/>
          <p:cNvSpPr/>
          <p:nvPr/>
        </p:nvSpPr>
        <p:spPr>
          <a:xfrm>
            <a:off x="41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3" name="LL4"/>
          <p:cNvSpPr/>
          <p:nvPr/>
        </p:nvSpPr>
        <p:spPr>
          <a:xfrm>
            <a:off x="60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4" name="LL5"/>
          <p:cNvSpPr/>
          <p:nvPr/>
        </p:nvSpPr>
        <p:spPr>
          <a:xfrm>
            <a:off x="78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5" name="LL6"/>
          <p:cNvSpPr/>
          <p:nvPr/>
        </p:nvSpPr>
        <p:spPr>
          <a:xfrm>
            <a:off x="97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30" name="A1"/>
          <p:cNvSpPr/>
          <p:nvPr/>
        </p:nvSpPr>
        <p:spPr>
          <a:xfrm>
            <a:off x="920000" y="1550000"/>
            <a:ext cx="153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1"/>
          <p:cNvSpPr/>
          <p:nvPr/>
        </p:nvSpPr>
        <p:spPr>
          <a:xfrm>
            <a:off x="940000" y="1380000"/>
            <a:ext cx="149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1. Initiate request via portal</a:t>
            </a:r>
          </a:p>
        </p:txBody>
      </p:sp>
      <p:sp>
        <p:nvSpPr>
          <p:cNvPr id="32" name="A2"/>
          <p:cNvSpPr/>
          <p:nvPr/>
        </p:nvSpPr>
        <p:spPr>
          <a:xfrm>
            <a:off x="2450000" y="1950000"/>
            <a:ext cx="165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2"/>
          <p:cNvSpPr/>
          <p:nvPr/>
        </p:nvSpPr>
        <p:spPr>
          <a:xfrm>
            <a:off x="2470000" y="1780000"/>
            <a:ext cx="161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2. Start integration journey</a:t>
            </a:r>
          </a:p>
        </p:txBody>
      </p:sp>
      <p:sp>
        <p:nvSpPr>
          <p:cNvPr id="34" name="A3"/>
          <p:cNvSpPr/>
          <p:nvPr/>
        </p:nvSpPr>
        <p:spPr>
          <a:xfrm>
            <a:off x="4100000" y="2350000"/>
            <a:ext cx="19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5" name="L3"/>
          <p:cNvSpPr/>
          <p:nvPr/>
        </p:nvSpPr>
        <p:spPr>
          <a:xfrm>
            <a:off x="4120000" y="2180000"/>
            <a:ext cx="18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3. Forward request to EIP gateway</a:t>
            </a:r>
          </a:p>
        </p:txBody>
      </p:sp>
      <p:sp>
        <p:nvSpPr>
          <p:cNvPr id="36" name="A4"/>
          <p:cNvSpPr/>
          <p:nvPr/>
        </p:nvSpPr>
        <p:spPr>
          <a:xfrm>
            <a:off x="6000000" y="275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7" name="L4"/>
          <p:cNvSpPr/>
          <p:nvPr/>
        </p:nvSpPr>
        <p:spPr>
          <a:xfrm>
            <a:off x="6020000" y="2580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4. Request OAuth token</a:t>
            </a:r>
          </a:p>
        </p:txBody>
      </p:sp>
      <p:sp>
        <p:nvSpPr>
          <p:cNvPr id="38" name="A5"/>
          <p:cNvSpPr/>
          <p:nvPr/>
        </p:nvSpPr>
        <p:spPr>
          <a:xfrm>
            <a:off x="6000000" y="315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39" name="L5"/>
          <p:cNvSpPr/>
          <p:nvPr/>
        </p:nvSpPr>
        <p:spPr>
          <a:xfrm>
            <a:off x="6020000" y="2980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5. Return access token</a:t>
            </a:r>
          </a:p>
        </p:txBody>
      </p:sp>
      <p:sp>
        <p:nvSpPr>
          <p:cNvPr id="40" name="P6"/>
          <p:cNvSpPr/>
          <p:nvPr/>
        </p:nvSpPr>
        <p:spPr>
          <a:xfrm>
            <a:off x="5700000" y="3350000"/>
            <a:ext cx="60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</a:ln>
        </p:spPr>
        <p:txBody>
          <a:bodyPr wrap="square" lIns="40000" tIns="30000" rIns="4000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6. Translate API to target protocol</a:t>
            </a:r>
          </a:p>
        </p:txBody>
      </p:sp>
      <p:sp>
        <p:nvSpPr>
          <p:cNvPr id="42" name="A7"/>
          <p:cNvSpPr/>
          <p:nvPr/>
        </p:nvSpPr>
        <p:spPr>
          <a:xfrm>
            <a:off x="6000000" y="3850000"/>
            <a:ext cx="37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3" name="L7"/>
          <p:cNvSpPr/>
          <p:nvPr/>
        </p:nvSpPr>
        <p:spPr>
          <a:xfrm>
            <a:off x="7200000" y="3680000"/>
            <a:ext cx="23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7. Call target system REST/SOAP API</a:t>
            </a:r>
          </a:p>
        </p:txBody>
      </p:sp>
      <p:sp>
        <p:nvSpPr>
          <p:cNvPr id="44" name="A8"/>
          <p:cNvSpPr/>
          <p:nvPr/>
        </p:nvSpPr>
        <p:spPr>
          <a:xfrm>
            <a:off x="6000000" y="4250000"/>
            <a:ext cx="37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5" name="L8"/>
          <p:cNvSpPr/>
          <p:nvPr/>
        </p:nvSpPr>
        <p:spPr>
          <a:xfrm>
            <a:off x="7200000" y="4080000"/>
            <a:ext cx="23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8. Return response / result</a:t>
            </a:r>
          </a:p>
        </p:txBody>
      </p:sp>
      <p:sp>
        <p:nvSpPr>
          <p:cNvPr id="46" name="A9"/>
          <p:cNvSpPr/>
          <p:nvPr/>
        </p:nvSpPr>
        <p:spPr>
          <a:xfrm>
            <a:off x="4100000" y="4650000"/>
            <a:ext cx="19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7" name="L9"/>
          <p:cNvSpPr/>
          <p:nvPr/>
        </p:nvSpPr>
        <p:spPr>
          <a:xfrm>
            <a:off x="4120000" y="4480000"/>
            <a:ext cx="18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9. Confirm integration result</a:t>
            </a:r>
          </a:p>
        </p:txBody>
      </p:sp>
      <p:sp>
        <p:nvSpPr>
          <p:cNvPr id="48" name="A10"/>
          <p:cNvSpPr/>
          <p:nvPr/>
        </p:nvSpPr>
        <p:spPr>
          <a:xfrm>
            <a:off x="920000" y="5050000"/>
            <a:ext cx="153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9" name="L10"/>
          <p:cNvSpPr/>
          <p:nvPr/>
        </p:nvSpPr>
        <p:spPr>
          <a:xfrm>
            <a:off x="940000" y="4880000"/>
            <a:ext cx="149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10. Display confirmation to user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654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/>
              </a:rPr>
              <a:t>Black solid → request/call  Black dashed → response/return  Red-tint box → processing step  Pattern repeats for LQC / TBS / Y48 / DTB / SPY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YN Bloc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Block Diagram — Dynatrace Integration &amp; Monitoring (DYN)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Covers: CIAM component connectivity · Function-level monitoring (Login, HRT, Provisioning, SSO, UAP) · Full client + server-side visibility</a:t>
            </a:r>
          </a:p>
        </p:txBody>
      </p:sp>
      <p:sp>
        <p:nvSpPr>
          <p:cNvPr id="4" name="ZU"/>
          <p:cNvSpPr/>
          <p:nvPr/>
        </p:nvSpPr>
        <p:spPr>
          <a:xfrm>
            <a:off x="548640" y="960000"/>
            <a:ext cx="7600000" cy="5450000"/>
          </a:xfrm>
          <a:prstGeom prst="roundRect">
            <a:avLst>
              <a:gd name="adj" fmla="val 8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  <p:txBody>
          <a:bodyPr wrap="square" lIns="0" tIns="0" rIns="0" bIns="0" rtlCol="0" anchor="ctr"/>
          <a:lstStyle/>
        </p:txBody>
      </p:sp>
      <p:sp>
        <p:nvSpPr>
          <p:cNvPr id="5" name="ZUL"/>
          <p:cNvSpPr/>
          <p:nvPr/>
        </p:nvSpPr>
        <p:spPr>
          <a:xfrm>
            <a:off x="718640" y="1010000"/>
            <a:ext cx="7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A6192E"/>
                </a:solidFill>
                <a:latin typeface="Calibri"/>
              </a:rPr>
              <a:t>UAP Platform Zone</a:t>
            </a:r>
          </a:p>
        </p:txBody>
      </p:sp>
      <p:sp>
        <p:nvSpPr>
          <p:cNvPr id="6" name="B_UAP"/>
          <p:cNvSpPr/>
          <p:nvPr/>
        </p:nvSpPr>
        <p:spPr>
          <a:xfrm>
            <a:off x="720000" y="1350000"/>
            <a:ext cx="19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UAP Portal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User entry point</a:t>
            </a:r>
          </a:p>
        </p:txBody>
      </p:sp>
      <p:sp>
        <p:nvSpPr>
          <p:cNvPr id="8" name="B_AIC"/>
          <p:cNvSpPr/>
          <p:nvPr/>
        </p:nvSpPr>
        <p:spPr>
          <a:xfrm>
            <a:off x="2900000" y="1350000"/>
            <a:ext cx="19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PingOne AIC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Journey engine</a:t>
            </a:r>
          </a:p>
        </p:txBody>
      </p:sp>
      <p:sp>
        <p:nvSpPr>
          <p:cNvPr id="10" name="B_PDir"/>
          <p:cNvSpPr/>
          <p:nvPr/>
        </p:nvSpPr>
        <p:spPr>
          <a:xfrm>
            <a:off x="5100000" y="1350000"/>
            <a:ext cx="19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Ping Directory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Identity store</a:t>
            </a:r>
          </a:p>
        </p:txBody>
      </p:sp>
      <p:sp>
        <p:nvSpPr>
          <p:cNvPr id="12" name="ZC"/>
          <p:cNvSpPr/>
          <p:nvPr/>
        </p:nvSpPr>
        <p:spPr>
          <a:xfrm>
            <a:off x="720000" y="2400000"/>
            <a:ext cx="7300000" cy="3800000"/>
          </a:xfrm>
          <a:prstGeom prst="roundRect">
            <a:avLst>
              <a:gd name="adj" fmla="val 600"/>
            </a:avLst>
          </a:prstGeom>
          <a:solidFill>
            <a:srgbClr val="FFFFFF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0" tIns="0" rIns="0" bIns="0" rtlCol="0" anchor="ctr"/>
          <a:lstStyle/>
        </p:txBody>
      </p:sp>
      <p:sp>
        <p:nvSpPr>
          <p:cNvPr id="13" name="ZCL"/>
          <p:cNvSpPr/>
          <p:nvPr/>
        </p:nvSpPr>
        <p:spPr>
          <a:xfrm>
            <a:off x="860000" y="2450000"/>
            <a:ext cx="35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Monitored CIAM Components (Dynatrace Agents)</a:t>
            </a:r>
          </a:p>
        </p:txBody>
      </p:sp>
      <p:sp>
        <p:nvSpPr>
          <p:cNvPr id="14" name="C1"/>
          <p:cNvSpPr/>
          <p:nvPr/>
        </p:nvSpPr>
        <p:spPr>
          <a:xfrm>
            <a:off x="800000" y="2720000"/>
            <a:ext cx="2200000" cy="320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Login &amp; Auth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Login page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HRT step-up flow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SSO access flows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Synthetic transactions</a:t>
            </a:r>
          </a:p>
        </p:txBody>
      </p:sp>
      <p:sp>
        <p:nvSpPr>
          <p:cNvPr id="16" name="C2"/>
          <p:cNvSpPr/>
          <p:nvPr/>
        </p:nvSpPr>
        <p:spPr>
          <a:xfrm>
            <a:off x="3100000" y="2720000"/>
            <a:ext cx="2200000" cy="320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Provisioning &amp; Admin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User provisioning flows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UAP admin activities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EIP integration calls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PingGateway routes</a:t>
            </a:r>
          </a:p>
        </p:txBody>
      </p:sp>
      <p:sp>
        <p:nvSpPr>
          <p:cNvPr id="18" name="C3"/>
          <p:cNvSpPr/>
          <p:nvPr/>
        </p:nvSpPr>
        <p:spPr>
          <a:xfrm>
            <a:off x="5400000" y="2720000"/>
            <a:ext cx="2200000" cy="320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Platform Services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RCS data connector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IDG / PingProtect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PingOne AIC journeys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Agent-based monitoring</a:t>
            </a:r>
          </a:p>
        </p:txBody>
      </p:sp>
      <p:sp>
        <p:nvSpPr>
          <p:cNvPr id="20" name="ZE"/>
          <p:cNvSpPr/>
          <p:nvPr/>
        </p:nvSpPr>
        <p:spPr>
          <a:xfrm>
            <a:off x="8450000" y="960000"/>
            <a:ext cx="3200000" cy="5450000"/>
          </a:xfrm>
          <a:prstGeom prst="roundRect">
            <a:avLst>
              <a:gd name="adj" fmla="val 8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  <p:txBody>
          <a:bodyPr wrap="square" lIns="0" tIns="0" rIns="0" bIns="0" rtlCol="0" anchor="ctr"/>
          <a:lstStyle/>
        </p:txBody>
      </p:sp>
      <p:sp>
        <p:nvSpPr>
          <p:cNvPr id="21" name="ZEL"/>
          <p:cNvSpPr/>
          <p:nvPr/>
        </p:nvSpPr>
        <p:spPr>
          <a:xfrm>
            <a:off x="8600000" y="1010000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6B6B6B"/>
                </a:solidFill>
                <a:latin typeface="Calibri"/>
              </a:rPr>
              <a:t>External Systems</a:t>
            </a:r>
          </a:p>
        </p:txBody>
      </p:sp>
      <p:sp>
        <p:nvSpPr>
          <p:cNvPr id="22" name="DYN"/>
          <p:cNvSpPr/>
          <p:nvPr/>
        </p:nvSpPr>
        <p:spPr>
          <a:xfrm>
            <a:off x="8650000" y="1600000"/>
            <a:ext cx="1900000" cy="10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Dynatrace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APM &amp; Observability</a:t>
            </a:r>
          </a:p>
        </p:txBody>
      </p:sp>
      <p:sp>
        <p:nvSpPr>
          <p:cNvPr id="23" name="DYNB"/>
          <p:cNvSpPr/>
          <p:nvPr/>
        </p:nvSpPr>
        <p:spPr>
          <a:xfrm>
            <a:off x="8680000" y="2700000"/>
            <a:ext cx="1800000" cy="2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0" i="0" dirty="0">
                <a:solidFill>
                  <a:srgbClr val="262626"/>
                </a:solidFill>
                <a:latin typeface="Calibri"/>
              </a:rPr>
              <a:t>• Performance metrics
• Error detection
• Client+server traces
• Monitored events
• Unified dashboards</a:t>
            </a:r>
          </a:p>
        </p:txBody>
      </p:sp>
      <p:sp>
        <p:nvSpPr>
          <p:cNvPr id="30" name="ADIC"/>
          <p:cNvSpPr/>
          <p:nvPr/>
        </p:nvSpPr>
        <p:spPr>
          <a:xfrm>
            <a:off x="8150000" y="2100000"/>
            <a:ext cx="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ADIC"/>
          <p:cNvSpPr/>
          <p:nvPr/>
        </p:nvSpPr>
        <p:spPr>
          <a:xfrm>
            <a:off x="8160000" y="1930000"/>
            <a:ext cx="48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Telemetry</a:t>
            </a:r>
          </a:p>
        </p:txBody>
      </p:sp>
      <p:sp>
        <p:nvSpPr>
          <p:cNvPr id="60" name="LG"/>
          <p:cNvSpPr/>
          <p:nvPr/>
        </p:nvSpPr>
        <p:spPr>
          <a:xfrm>
            <a:off x="548640" y="5980000"/>
            <a:ext cx="1109167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0" i="0" dirty="0">
                <a:solidFill>
                  <a:srgbClr val="6B6B6B"/>
                </a:solidFill>
                <a:latin typeface="Calibri"/>
              </a:rPr>
              <a:t>Red border = internal Grey fill = external Black arrow = request/call Dashed zone = UAP boundary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YN Seq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Sequence Diagram — Dynatrace Monitoring (DYN)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Scenario: User CIAM action triggers Dynatrace agent telemetry — client+server data captured, correlations made, alerts raised proactively</a:t>
            </a:r>
          </a:p>
        </p:txBody>
      </p:sp>
      <p:sp>
        <p:nvSpPr>
          <p:cNvPr id="10" name="LH0"/>
          <p:cNvSpPr/>
          <p:nvPr/>
        </p:nvSpPr>
        <p:spPr>
          <a:xfrm>
            <a:off x="200000" y="900000"/>
            <a:ext cx="12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20" name="LL0"/>
          <p:cNvSpPr/>
          <p:nvPr/>
        </p:nvSpPr>
        <p:spPr>
          <a:xfrm>
            <a:off x="8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1" name="LH1"/>
          <p:cNvSpPr/>
          <p:nvPr/>
        </p:nvSpPr>
        <p:spPr>
          <a:xfrm>
            <a:off x="1700000" y="900000"/>
            <a:ext cx="12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UAP</a:t>
            </a:r>
          </a:p>
        </p:txBody>
      </p:sp>
      <p:sp>
        <p:nvSpPr>
          <p:cNvPr id="21" name="LL1"/>
          <p:cNvSpPr/>
          <p:nvPr/>
        </p:nvSpPr>
        <p:spPr>
          <a:xfrm>
            <a:off x="23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2" name="LH2"/>
          <p:cNvSpPr/>
          <p:nvPr/>
        </p:nvSpPr>
        <p:spPr>
          <a:xfrm>
            <a:off x="3185000" y="900000"/>
            <a:ext cx="143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PingOne AIC</a:t>
            </a:r>
          </a:p>
        </p:txBody>
      </p:sp>
      <p:sp>
        <p:nvSpPr>
          <p:cNvPr id="22" name="LL2"/>
          <p:cNvSpPr/>
          <p:nvPr/>
        </p:nvSpPr>
        <p:spPr>
          <a:xfrm>
            <a:off x="39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3" name="LH3"/>
          <p:cNvSpPr/>
          <p:nvPr/>
        </p:nvSpPr>
        <p:spPr>
          <a:xfrm>
            <a:off x="4855000" y="900000"/>
            <a:ext cx="169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CIAM Services</a:t>
            </a:r>
          </a:p>
        </p:txBody>
      </p:sp>
      <p:sp>
        <p:nvSpPr>
          <p:cNvPr id="23" name="LL3"/>
          <p:cNvSpPr/>
          <p:nvPr/>
        </p:nvSpPr>
        <p:spPr>
          <a:xfrm>
            <a:off x="57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4" name="LH4"/>
          <p:cNvSpPr/>
          <p:nvPr/>
        </p:nvSpPr>
        <p:spPr>
          <a:xfrm>
            <a:off x="7300000" y="900000"/>
            <a:ext cx="12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Dynatrace</a:t>
            </a:r>
          </a:p>
        </p:txBody>
      </p:sp>
      <p:sp>
        <p:nvSpPr>
          <p:cNvPr id="24" name="LL4"/>
          <p:cNvSpPr/>
          <p:nvPr/>
        </p:nvSpPr>
        <p:spPr>
          <a:xfrm>
            <a:off x="79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30" name="A30"/>
          <p:cNvSpPr/>
          <p:nvPr/>
        </p:nvSpPr>
        <p:spPr>
          <a:xfrm>
            <a:off x="800000" y="1550000"/>
            <a:ext cx="1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30"/>
          <p:cNvSpPr/>
          <p:nvPr/>
        </p:nvSpPr>
        <p:spPr>
          <a:xfrm>
            <a:off x="820000" y="1375000"/>
            <a:ext cx="14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1. Initiate login / CIAM action</a:t>
            </a:r>
          </a:p>
        </p:txBody>
      </p:sp>
      <p:sp>
        <p:nvSpPr>
          <p:cNvPr id="32" name="A32"/>
          <p:cNvSpPr/>
          <p:nvPr/>
        </p:nvSpPr>
        <p:spPr>
          <a:xfrm>
            <a:off x="2300000" y="199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32"/>
          <p:cNvSpPr/>
          <p:nvPr/>
        </p:nvSpPr>
        <p:spPr>
          <a:xfrm>
            <a:off x="2320000" y="1815000"/>
            <a:ext cx="15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2. Route to AIC journey</a:t>
            </a:r>
          </a:p>
        </p:txBody>
      </p:sp>
      <p:sp>
        <p:nvSpPr>
          <p:cNvPr id="34" name="A34"/>
          <p:cNvSpPr/>
          <p:nvPr/>
        </p:nvSpPr>
        <p:spPr>
          <a:xfrm>
            <a:off x="3900000" y="243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5" name="L34"/>
          <p:cNvSpPr/>
          <p:nvPr/>
        </p:nvSpPr>
        <p:spPr>
          <a:xfrm>
            <a:off x="3920000" y="2255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3. Execute CIAM flow</a:t>
            </a:r>
          </a:p>
        </p:txBody>
      </p:sp>
      <p:sp>
        <p:nvSpPr>
          <p:cNvPr id="36" name="A36"/>
          <p:cNvSpPr/>
          <p:nvPr/>
        </p:nvSpPr>
        <p:spPr>
          <a:xfrm>
            <a:off x="5700000" y="2870000"/>
            <a:ext cx="2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7" name="L36"/>
          <p:cNvSpPr/>
          <p:nvPr/>
        </p:nvSpPr>
        <p:spPr>
          <a:xfrm>
            <a:off x="5720000" y="2695000"/>
            <a:ext cx="21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4. Emit telemetry (agent-based)</a:t>
            </a:r>
          </a:p>
        </p:txBody>
      </p:sp>
      <p:sp>
        <p:nvSpPr>
          <p:cNvPr id="38" name="P38"/>
          <p:cNvSpPr/>
          <p:nvPr/>
        </p:nvSpPr>
        <p:spPr>
          <a:xfrm>
            <a:off x="5600000" y="3310000"/>
            <a:ext cx="65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  <p:txBody>
          <a:bodyPr wrap="square" lIns="40000" tIns="30000" rIns="4000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5. Capture performance + errors</a:t>
            </a:r>
          </a:p>
        </p:txBody>
      </p:sp>
      <p:sp>
        <p:nvSpPr>
          <p:cNvPr id="40" name="A40"/>
          <p:cNvSpPr/>
          <p:nvPr/>
        </p:nvSpPr>
        <p:spPr>
          <a:xfrm>
            <a:off x="800000" y="3750000"/>
            <a:ext cx="71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1" name="L40"/>
          <p:cNvSpPr/>
          <p:nvPr/>
        </p:nvSpPr>
        <p:spPr>
          <a:xfrm>
            <a:off x="820000" y="3575000"/>
            <a:ext cx="70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6. Client-side metrics captured</a:t>
            </a:r>
          </a:p>
        </p:txBody>
      </p:sp>
      <p:sp>
        <p:nvSpPr>
          <p:cNvPr id="42" name="P42"/>
          <p:cNvSpPr/>
          <p:nvPr/>
        </p:nvSpPr>
        <p:spPr>
          <a:xfrm>
            <a:off x="7800000" y="4190000"/>
            <a:ext cx="65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  <p:txBody>
          <a:bodyPr wrap="square" lIns="40000" tIns="30000" rIns="4000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7. Correlate client + server traces</a:t>
            </a:r>
          </a:p>
        </p:txBody>
      </p:sp>
      <p:sp>
        <p:nvSpPr>
          <p:cNvPr id="44" name="A44"/>
          <p:cNvSpPr/>
          <p:nvPr/>
        </p:nvSpPr>
        <p:spPr>
          <a:xfrm>
            <a:off x="800000" y="4630000"/>
            <a:ext cx="31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5" name="L44"/>
          <p:cNvSpPr/>
          <p:nvPr/>
        </p:nvSpPr>
        <p:spPr>
          <a:xfrm>
            <a:off x="820000" y="4455000"/>
            <a:ext cx="30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8. Journey result returned to user</a:t>
            </a:r>
          </a:p>
        </p:txBody>
      </p:sp>
      <p:sp>
        <p:nvSpPr>
          <p:cNvPr id="46" name="A46"/>
          <p:cNvSpPr/>
          <p:nvPr/>
        </p:nvSpPr>
        <p:spPr>
          <a:xfrm>
            <a:off x="800000" y="5070000"/>
            <a:ext cx="71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7" name="L46"/>
          <p:cNvSpPr/>
          <p:nvPr/>
        </p:nvSpPr>
        <p:spPr>
          <a:xfrm>
            <a:off x="820000" y="4895000"/>
            <a:ext cx="70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9. Synthetic transactions run (scheduled)</a:t>
            </a:r>
          </a:p>
        </p:txBody>
      </p:sp>
      <p:sp>
        <p:nvSpPr>
          <p:cNvPr id="48" name="P48"/>
          <p:cNvSpPr/>
          <p:nvPr/>
        </p:nvSpPr>
        <p:spPr>
          <a:xfrm>
            <a:off x="7800000" y="5510000"/>
            <a:ext cx="65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  <p:txBody>
          <a:bodyPr wrap="square" lIns="40000" tIns="30000" rIns="4000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10. Alert / dashboard updated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654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0" i="0" dirty="0">
                <a:solidFill>
                  <a:srgbClr val="6B6B6B"/>
                </a:solidFill>
                <a:latin typeface="Calibri"/>
              </a:rPr>
              <a:t>Black solid → request/call  Black dashed → response/return  Red-tint box → processing step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IA Bloc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Block Diagram — CIA Platform (Access, Migration &amp; Export)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Covers: Default Entitlement on User Creation · Oracle Entitlement-to-Role Migration · Export Feature (csv/xlsx/pdf)</a:t>
            </a:r>
          </a:p>
        </p:txBody>
      </p:sp>
      <p:sp>
        <p:nvSpPr>
          <p:cNvPr id="4" name="ZU"/>
          <p:cNvSpPr/>
          <p:nvPr/>
        </p:nvSpPr>
        <p:spPr>
          <a:xfrm>
            <a:off x="548640" y="960000"/>
            <a:ext cx="7600000" cy="5450000"/>
          </a:xfrm>
          <a:prstGeom prst="roundRect">
            <a:avLst>
              <a:gd name="adj" fmla="val 8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  <p:txBody>
          <a:bodyPr wrap="square" lIns="0" tIns="0" rIns="0" bIns="0" rtlCol="0" anchor="ctr"/>
          <a:lstStyle/>
        </p:txBody>
      </p:sp>
      <p:sp>
        <p:nvSpPr>
          <p:cNvPr id="5" name="ZUL"/>
          <p:cNvSpPr/>
          <p:nvPr/>
        </p:nvSpPr>
        <p:spPr>
          <a:xfrm>
            <a:off x="718640" y="1010000"/>
            <a:ext cx="7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A6192E"/>
                </a:solidFill>
                <a:latin typeface="Calibri"/>
              </a:rPr>
              <a:t>UAP Platform Zone</a:t>
            </a:r>
          </a:p>
        </p:txBody>
      </p:sp>
      <p:sp>
        <p:nvSpPr>
          <p:cNvPr id="6" name="B_UAP"/>
          <p:cNvSpPr/>
          <p:nvPr/>
        </p:nvSpPr>
        <p:spPr>
          <a:xfrm>
            <a:off x="720000" y="1350000"/>
            <a:ext cx="19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UAP / CIA Portal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Admin &amp; user entry</a:t>
            </a:r>
          </a:p>
        </p:txBody>
      </p:sp>
      <p:sp>
        <p:nvSpPr>
          <p:cNvPr id="8" name="B_AIC"/>
          <p:cNvSpPr/>
          <p:nvPr/>
        </p:nvSpPr>
        <p:spPr>
          <a:xfrm>
            <a:off x="2900000" y="1350000"/>
            <a:ext cx="19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PingOne AIC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Journey engine</a:t>
            </a:r>
          </a:p>
        </p:txBody>
      </p:sp>
      <p:sp>
        <p:nvSpPr>
          <p:cNvPr id="10" name="B_PDir"/>
          <p:cNvSpPr/>
          <p:nvPr/>
        </p:nvSpPr>
        <p:spPr>
          <a:xfrm>
            <a:off x="5100000" y="1350000"/>
            <a:ext cx="19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Ping Directory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Roles &amp; user store</a:t>
            </a:r>
          </a:p>
        </p:txBody>
      </p:sp>
      <p:sp>
        <p:nvSpPr>
          <p:cNvPr id="12" name="ZC"/>
          <p:cNvSpPr/>
          <p:nvPr/>
        </p:nvSpPr>
        <p:spPr>
          <a:xfrm>
            <a:off x="720000" y="2380000"/>
            <a:ext cx="7300000" cy="3800000"/>
          </a:xfrm>
          <a:prstGeom prst="roundRect">
            <a:avLst>
              <a:gd name="adj" fmla="val 600"/>
            </a:avLst>
          </a:prstGeom>
          <a:solidFill>
            <a:srgbClr val="FFFFFF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0" tIns="0" rIns="0" bIns="0" rtlCol="0" anchor="ctr"/>
          <a:lstStyle/>
        </p:txBody>
      </p:sp>
      <p:sp>
        <p:nvSpPr>
          <p:cNvPr id="13" name="ZCL"/>
          <p:cNvSpPr/>
          <p:nvPr/>
        </p:nvSpPr>
        <p:spPr>
          <a:xfrm>
            <a:off x="860000" y="2430000"/>
            <a:ext cx="35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CIA Capabilities</a:t>
            </a:r>
          </a:p>
        </p:txBody>
      </p:sp>
      <p:sp>
        <p:nvSpPr>
          <p:cNvPr id="14" name="C1"/>
          <p:cNvSpPr/>
          <p:nvPr/>
        </p:nvSpPr>
        <p:spPr>
          <a:xfrm>
            <a:off x="800000" y="2680000"/>
            <a:ext cx="2200000" cy="328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Default Access on Create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User created in platform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Default entitlement granted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e.g. MBC basic access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AIC journey auto-enrolls</a:t>
            </a:r>
          </a:p>
        </p:txBody>
      </p:sp>
      <p:sp>
        <p:nvSpPr>
          <p:cNvPr id="16" name="C2"/>
          <p:cNvSpPr/>
          <p:nvPr/>
        </p:nvSpPr>
        <p:spPr>
          <a:xfrm>
            <a:off x="3100000" y="2680000"/>
            <a:ext cx="2200000" cy="328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Entitlement Migration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Oracle DB source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Entitlements retrieved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Translated to CIAM roles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Enforced via AIC</a:t>
            </a:r>
          </a:p>
        </p:txBody>
      </p:sp>
      <p:sp>
        <p:nvSpPr>
          <p:cNvPr id="18" name="C3"/>
          <p:cNvSpPr/>
          <p:nvPr/>
        </p:nvSpPr>
        <p:spPr>
          <a:xfrm>
            <a:off x="5400000" y="2680000"/>
            <a:ext cx="2200000" cy="328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Export Feature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csv / xlsx / pdf export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All users for customer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Ignores pagination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Error overlay on failure</a:t>
            </a:r>
          </a:p>
        </p:txBody>
      </p:sp>
      <p:sp>
        <p:nvSpPr>
          <p:cNvPr id="20" name="ZE"/>
          <p:cNvSpPr/>
          <p:nvPr/>
        </p:nvSpPr>
        <p:spPr>
          <a:xfrm>
            <a:off x="8450000" y="960000"/>
            <a:ext cx="3200000" cy="5450000"/>
          </a:xfrm>
          <a:prstGeom prst="roundRect">
            <a:avLst>
              <a:gd name="adj" fmla="val 8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  <p:txBody>
          <a:bodyPr wrap="square" lIns="0" tIns="0" rIns="0" bIns="0" rtlCol="0" anchor="ctr"/>
          <a:lstStyle/>
        </p:txBody>
      </p:sp>
      <p:sp>
        <p:nvSpPr>
          <p:cNvPr id="21" name="ZEL"/>
          <p:cNvSpPr/>
          <p:nvPr/>
        </p:nvSpPr>
        <p:spPr>
          <a:xfrm>
            <a:off x="8600000" y="1010000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6B6B6B"/>
                </a:solidFill>
                <a:latin typeface="Calibri"/>
              </a:rPr>
              <a:t>External Systems</a:t>
            </a:r>
          </a:p>
        </p:txBody>
      </p:sp>
      <p:sp>
        <p:nvSpPr>
          <p:cNvPr id="22" name="E1"/>
          <p:cNvSpPr/>
          <p:nvPr/>
        </p:nvSpPr>
        <p:spPr>
          <a:xfrm>
            <a:off x="8650000" y="1300000"/>
            <a:ext cx="1900000" cy="8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Oracle DB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Source entitlements</a:t>
            </a:r>
          </a:p>
        </p:txBody>
      </p:sp>
      <p:sp>
        <p:nvSpPr>
          <p:cNvPr id="24" name="E2"/>
          <p:cNvSpPr/>
          <p:nvPr/>
        </p:nvSpPr>
        <p:spPr>
          <a:xfrm>
            <a:off x="8650000" y="2280000"/>
            <a:ext cx="1900000" cy="8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CDL / WCA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Customer data</a:t>
            </a:r>
          </a:p>
        </p:txBody>
      </p:sp>
      <p:sp>
        <p:nvSpPr>
          <p:cNvPr id="26" name="E3"/>
          <p:cNvSpPr/>
          <p:nvPr/>
        </p:nvSpPr>
        <p:spPr>
          <a:xfrm>
            <a:off x="8650000" y="3260000"/>
            <a:ext cx="1900000" cy="8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Report Engine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csv/xlsx/pdf output</a:t>
            </a:r>
          </a:p>
        </p:txBody>
      </p:sp>
      <p:sp>
        <p:nvSpPr>
          <p:cNvPr id="30" name="A1"/>
          <p:cNvSpPr/>
          <p:nvPr/>
        </p:nvSpPr>
        <p:spPr>
          <a:xfrm>
            <a:off x="8150000" y="1700000"/>
            <a:ext cx="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1"/>
          <p:cNvSpPr/>
          <p:nvPr/>
        </p:nvSpPr>
        <p:spPr>
          <a:xfrm>
            <a:off x="8160000" y="1530000"/>
            <a:ext cx="48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Entitlement fetch</a:t>
            </a:r>
          </a:p>
        </p:txBody>
      </p:sp>
      <p:sp>
        <p:nvSpPr>
          <p:cNvPr id="32" name="A2"/>
          <p:cNvSpPr/>
          <p:nvPr/>
        </p:nvSpPr>
        <p:spPr>
          <a:xfrm>
            <a:off x="8150000" y="2680000"/>
            <a:ext cx="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2"/>
          <p:cNvSpPr/>
          <p:nvPr/>
        </p:nvSpPr>
        <p:spPr>
          <a:xfrm>
            <a:off x="8160000" y="2510000"/>
            <a:ext cx="48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Customer data</a:t>
            </a:r>
          </a:p>
        </p:txBody>
      </p:sp>
      <p:sp>
        <p:nvSpPr>
          <p:cNvPr id="34" name="A3"/>
          <p:cNvSpPr/>
          <p:nvPr/>
        </p:nvSpPr>
        <p:spPr>
          <a:xfrm>
            <a:off x="8150000" y="3660000"/>
            <a:ext cx="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5" name="L3"/>
          <p:cNvSpPr/>
          <p:nvPr/>
        </p:nvSpPr>
        <p:spPr>
          <a:xfrm>
            <a:off x="8160000" y="3490000"/>
            <a:ext cx="48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Export trigger</a:t>
            </a:r>
          </a:p>
        </p:txBody>
      </p:sp>
      <p:sp>
        <p:nvSpPr>
          <p:cNvPr id="60" name="LG"/>
          <p:cNvSpPr/>
          <p:nvPr/>
        </p:nvSpPr>
        <p:spPr>
          <a:xfrm>
            <a:off x="548640" y="5980000"/>
            <a:ext cx="1109167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0" i="0" dirty="0">
                <a:solidFill>
                  <a:srgbClr val="6B6B6B"/>
                </a:solidFill>
                <a:latin typeface="Calibri"/>
              </a:rPr>
              <a:t>Red border = internal Grey fill = external Black arrow = request/call Dashed zone = UAP boundary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IA Seq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Sequence Diagram — CIA Access &amp; Migration Flow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Scenario: New user created — default entitlement granted. Oracle entitlements retrieved and translated to CIAM roles</a:t>
            </a:r>
          </a:p>
        </p:txBody>
      </p:sp>
      <p:sp>
        <p:nvSpPr>
          <p:cNvPr id="10" name="LH0"/>
          <p:cNvSpPr/>
          <p:nvPr/>
        </p:nvSpPr>
        <p:spPr>
          <a:xfrm>
            <a:off x="20000" y="900000"/>
            <a:ext cx="156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Admin / User</a:t>
            </a:r>
          </a:p>
        </p:txBody>
      </p:sp>
      <p:sp>
        <p:nvSpPr>
          <p:cNvPr id="20" name="LL0"/>
          <p:cNvSpPr/>
          <p:nvPr/>
        </p:nvSpPr>
        <p:spPr>
          <a:xfrm>
            <a:off x="8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1" name="LH1"/>
          <p:cNvSpPr/>
          <p:nvPr/>
        </p:nvSpPr>
        <p:spPr>
          <a:xfrm>
            <a:off x="1750000" y="900000"/>
            <a:ext cx="13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CIA Portal</a:t>
            </a:r>
          </a:p>
        </p:txBody>
      </p:sp>
      <p:sp>
        <p:nvSpPr>
          <p:cNvPr id="21" name="LL1"/>
          <p:cNvSpPr/>
          <p:nvPr/>
        </p:nvSpPr>
        <p:spPr>
          <a:xfrm>
            <a:off x="24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2" name="LH2"/>
          <p:cNvSpPr/>
          <p:nvPr/>
        </p:nvSpPr>
        <p:spPr>
          <a:xfrm>
            <a:off x="3285000" y="900000"/>
            <a:ext cx="143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PingOne AIC</a:t>
            </a:r>
          </a:p>
        </p:txBody>
      </p:sp>
      <p:sp>
        <p:nvSpPr>
          <p:cNvPr id="22" name="LL2"/>
          <p:cNvSpPr/>
          <p:nvPr/>
        </p:nvSpPr>
        <p:spPr>
          <a:xfrm>
            <a:off x="40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3" name="LH3"/>
          <p:cNvSpPr/>
          <p:nvPr/>
        </p:nvSpPr>
        <p:spPr>
          <a:xfrm>
            <a:off x="4890000" y="900000"/>
            <a:ext cx="182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Ping Directory</a:t>
            </a:r>
          </a:p>
        </p:txBody>
      </p:sp>
      <p:sp>
        <p:nvSpPr>
          <p:cNvPr id="23" name="LL3"/>
          <p:cNvSpPr/>
          <p:nvPr/>
        </p:nvSpPr>
        <p:spPr>
          <a:xfrm>
            <a:off x="58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4" name="LH4"/>
          <p:cNvSpPr/>
          <p:nvPr/>
        </p:nvSpPr>
        <p:spPr>
          <a:xfrm>
            <a:off x="7300000" y="900000"/>
            <a:ext cx="12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Oracle DB</a:t>
            </a:r>
          </a:p>
        </p:txBody>
      </p:sp>
      <p:sp>
        <p:nvSpPr>
          <p:cNvPr id="24" name="LL4"/>
          <p:cNvSpPr/>
          <p:nvPr/>
        </p:nvSpPr>
        <p:spPr>
          <a:xfrm>
            <a:off x="79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30" name="A30"/>
          <p:cNvSpPr/>
          <p:nvPr/>
        </p:nvSpPr>
        <p:spPr>
          <a:xfrm>
            <a:off x="800000" y="155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30"/>
          <p:cNvSpPr/>
          <p:nvPr/>
        </p:nvSpPr>
        <p:spPr>
          <a:xfrm>
            <a:off x="820000" y="1375000"/>
            <a:ext cx="15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1. Create new user in CIA portal</a:t>
            </a:r>
          </a:p>
        </p:txBody>
      </p:sp>
      <p:sp>
        <p:nvSpPr>
          <p:cNvPr id="32" name="A32"/>
          <p:cNvSpPr/>
          <p:nvPr/>
        </p:nvSpPr>
        <p:spPr>
          <a:xfrm>
            <a:off x="2400000" y="206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32"/>
          <p:cNvSpPr/>
          <p:nvPr/>
        </p:nvSpPr>
        <p:spPr>
          <a:xfrm>
            <a:off x="2420000" y="1885000"/>
            <a:ext cx="15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2. Start user onboarding journey</a:t>
            </a:r>
          </a:p>
        </p:txBody>
      </p:sp>
      <p:sp>
        <p:nvSpPr>
          <p:cNvPr id="34" name="A34"/>
          <p:cNvSpPr/>
          <p:nvPr/>
        </p:nvSpPr>
        <p:spPr>
          <a:xfrm>
            <a:off x="4000000" y="2570000"/>
            <a:ext cx="39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5" name="L34"/>
          <p:cNvSpPr/>
          <p:nvPr/>
        </p:nvSpPr>
        <p:spPr>
          <a:xfrm>
            <a:off x="4020000" y="2395000"/>
            <a:ext cx="38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3. Retrieve entitlements from Oracle DB</a:t>
            </a:r>
          </a:p>
        </p:txBody>
      </p:sp>
      <p:sp>
        <p:nvSpPr>
          <p:cNvPr id="36" name="A36"/>
          <p:cNvSpPr/>
          <p:nvPr/>
        </p:nvSpPr>
        <p:spPr>
          <a:xfrm>
            <a:off x="4000000" y="3080000"/>
            <a:ext cx="39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37" name="L36"/>
          <p:cNvSpPr/>
          <p:nvPr/>
        </p:nvSpPr>
        <p:spPr>
          <a:xfrm>
            <a:off x="4020000" y="2905000"/>
            <a:ext cx="38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4. Return entitlement list</a:t>
            </a:r>
          </a:p>
        </p:txBody>
      </p:sp>
      <p:sp>
        <p:nvSpPr>
          <p:cNvPr id="38" name="P38"/>
          <p:cNvSpPr/>
          <p:nvPr/>
        </p:nvSpPr>
        <p:spPr>
          <a:xfrm>
            <a:off x="3900000" y="3590000"/>
            <a:ext cx="65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  <p:txBody>
          <a:bodyPr wrap="square" lIns="40000" tIns="30000" rIns="4000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5. Translate entitlements to CIAM roles</a:t>
            </a:r>
          </a:p>
        </p:txBody>
      </p:sp>
      <p:sp>
        <p:nvSpPr>
          <p:cNvPr id="40" name="A40"/>
          <p:cNvSpPr/>
          <p:nvPr/>
        </p:nvSpPr>
        <p:spPr>
          <a:xfrm>
            <a:off x="4000000" y="410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1" name="L40"/>
          <p:cNvSpPr/>
          <p:nvPr/>
        </p:nvSpPr>
        <p:spPr>
          <a:xfrm>
            <a:off x="4020000" y="3925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6. Grant default access (e.g. MBC)</a:t>
            </a:r>
          </a:p>
        </p:txBody>
      </p:sp>
      <p:sp>
        <p:nvSpPr>
          <p:cNvPr id="42" name="A42"/>
          <p:cNvSpPr/>
          <p:nvPr/>
        </p:nvSpPr>
        <p:spPr>
          <a:xfrm>
            <a:off x="4000000" y="461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3" name="L42"/>
          <p:cNvSpPr/>
          <p:nvPr/>
        </p:nvSpPr>
        <p:spPr>
          <a:xfrm>
            <a:off x="4020000" y="4435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7. Assign translated roles to user</a:t>
            </a:r>
          </a:p>
        </p:txBody>
      </p:sp>
      <p:sp>
        <p:nvSpPr>
          <p:cNvPr id="44" name="A44"/>
          <p:cNvSpPr/>
          <p:nvPr/>
        </p:nvSpPr>
        <p:spPr>
          <a:xfrm>
            <a:off x="4000000" y="512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5" name="L44"/>
          <p:cNvSpPr/>
          <p:nvPr/>
        </p:nvSpPr>
        <p:spPr>
          <a:xfrm>
            <a:off x="4020000" y="4945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8. Confirm user provisioned with roles</a:t>
            </a:r>
          </a:p>
        </p:txBody>
      </p:sp>
      <p:sp>
        <p:nvSpPr>
          <p:cNvPr id="46" name="A46"/>
          <p:cNvSpPr/>
          <p:nvPr/>
        </p:nvSpPr>
        <p:spPr>
          <a:xfrm>
            <a:off x="800000" y="5630000"/>
            <a:ext cx="3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7" name="L46"/>
          <p:cNvSpPr/>
          <p:nvPr/>
        </p:nvSpPr>
        <p:spPr>
          <a:xfrm>
            <a:off x="820000" y="5455000"/>
            <a:ext cx="31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9. Return confirmation to admin/user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654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0" i="0" dirty="0">
                <a:solidFill>
                  <a:srgbClr val="6B6B6B"/>
                </a:solidFill>
                <a:latin typeface="Calibri"/>
              </a:rPr>
              <a:t>Black solid → request/call  Black dashed → response/return  Red-tint box → processing step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B DMO Bloc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Block Diagram — BOB &amp; DMO Integration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BOB: CIAM submits report via REST near-real-time · DMO: Customer/user data sync for accurate reporting</a:t>
            </a:r>
          </a:p>
        </p:txBody>
      </p:sp>
      <p:sp>
        <p:nvSpPr>
          <p:cNvPr id="4" name="ZU"/>
          <p:cNvSpPr/>
          <p:nvPr/>
        </p:nvSpPr>
        <p:spPr>
          <a:xfrm>
            <a:off x="548640" y="960000"/>
            <a:ext cx="7600000" cy="5450000"/>
          </a:xfrm>
          <a:prstGeom prst="roundRect">
            <a:avLst>
              <a:gd name="adj" fmla="val 8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  <p:txBody>
          <a:bodyPr wrap="square" lIns="0" tIns="0" rIns="0" bIns="0" rtlCol="0" anchor="ctr"/>
          <a:lstStyle/>
        </p:txBody>
      </p:sp>
      <p:sp>
        <p:nvSpPr>
          <p:cNvPr id="5" name="ZUL"/>
          <p:cNvSpPr/>
          <p:nvPr/>
        </p:nvSpPr>
        <p:spPr>
          <a:xfrm>
            <a:off x="718640" y="1010000"/>
            <a:ext cx="7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A6192E"/>
                </a:solidFill>
                <a:latin typeface="Calibri"/>
              </a:rPr>
              <a:t>UAP Platform Zone</a:t>
            </a:r>
          </a:p>
        </p:txBody>
      </p:sp>
      <p:sp>
        <p:nvSpPr>
          <p:cNvPr id="6" name="B_UAP"/>
          <p:cNvSpPr/>
          <p:nvPr/>
        </p:nvSpPr>
        <p:spPr>
          <a:xfrm>
            <a:off x="720000" y="1350000"/>
            <a:ext cx="19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UAP Admin Console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Report trigger &amp; sync</a:t>
            </a:r>
          </a:p>
        </p:txBody>
      </p:sp>
      <p:sp>
        <p:nvSpPr>
          <p:cNvPr id="8" name="B_AIC"/>
          <p:cNvSpPr/>
          <p:nvPr/>
        </p:nvSpPr>
        <p:spPr>
          <a:xfrm>
            <a:off x="2900000" y="1350000"/>
            <a:ext cx="19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PingOne AIC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Journey &amp; data orchestration</a:t>
            </a:r>
          </a:p>
        </p:txBody>
      </p:sp>
      <p:sp>
        <p:nvSpPr>
          <p:cNvPr id="10" name="B_PDir"/>
          <p:cNvSpPr/>
          <p:nvPr/>
        </p:nvSpPr>
        <p:spPr>
          <a:xfrm>
            <a:off x="5100000" y="1350000"/>
            <a:ext cx="1900000" cy="8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322"/>
                </a:solidFill>
                <a:latin typeface="Calibri"/>
              </a:rPr>
              <a:t>Ping Directory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Customer/user store</a:t>
            </a:r>
          </a:p>
        </p:txBody>
      </p:sp>
      <p:sp>
        <p:nvSpPr>
          <p:cNvPr id="12" name="ZC"/>
          <p:cNvSpPr/>
          <p:nvPr/>
        </p:nvSpPr>
        <p:spPr>
          <a:xfrm>
            <a:off x="720000" y="2380000"/>
            <a:ext cx="7300000" cy="3800000"/>
          </a:xfrm>
          <a:prstGeom prst="roundRect">
            <a:avLst>
              <a:gd name="adj" fmla="val 600"/>
            </a:avLst>
          </a:prstGeom>
          <a:solidFill>
            <a:srgbClr val="FFFFFF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0" tIns="0" rIns="0" bIns="0" rtlCol="0" anchor="ctr"/>
          <a:lstStyle/>
        </p:txBody>
      </p:sp>
      <p:sp>
        <p:nvSpPr>
          <p:cNvPr id="13" name="ZCL"/>
          <p:cNvSpPr/>
          <p:nvPr/>
        </p:nvSpPr>
        <p:spPr>
          <a:xfrm>
            <a:off x="860000" y="2430000"/>
            <a:ext cx="35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Integration Capabilities</a:t>
            </a:r>
          </a:p>
        </p:txBody>
      </p:sp>
      <p:sp>
        <p:nvSpPr>
          <p:cNvPr id="14" name="C1"/>
          <p:cNvSpPr/>
          <p:nvPr/>
        </p:nvSpPr>
        <p:spPr>
          <a:xfrm>
            <a:off x="800000" y="2680000"/>
            <a:ext cx="3400000" cy="328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BOB Reporting (REST)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CIAM triggers report request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REST API call near-real-time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BOB schedules report generation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Confirmation returned to CIAM</a:t>
            </a:r>
          </a:p>
        </p:txBody>
      </p:sp>
      <p:sp>
        <p:nvSpPr>
          <p:cNvPr id="16" name="C2"/>
          <p:cNvSpPr/>
          <p:nvPr/>
        </p:nvSpPr>
        <p:spPr>
          <a:xfrm>
            <a:off x="4400000" y="2680000"/>
            <a:ext cx="3300000" cy="3280000"/>
          </a:xfrm>
          <a:prstGeom prst="roundRect">
            <a:avLst>
              <a:gd name="adj" fmla="val 15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80000" tIns="60000" rIns="80000" bIns="600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322"/>
                </a:solidFill>
                <a:latin typeface="Calibri"/>
              </a:rPr>
              <a:t>DMO Data Sync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User initiates sync request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Customer &amp; user data synced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DMO updated promptly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Calibri"/>
              </a:rPr>
              <a:t>Accurate reporting enabled</a:t>
            </a:r>
          </a:p>
        </p:txBody>
      </p:sp>
      <p:sp>
        <p:nvSpPr>
          <p:cNvPr id="20" name="ZE"/>
          <p:cNvSpPr/>
          <p:nvPr/>
        </p:nvSpPr>
        <p:spPr>
          <a:xfrm>
            <a:off x="8450000" y="960000"/>
            <a:ext cx="3200000" cy="5450000"/>
          </a:xfrm>
          <a:prstGeom prst="roundRect">
            <a:avLst>
              <a:gd name="adj" fmla="val 8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  <p:txBody>
          <a:bodyPr wrap="square" lIns="0" tIns="0" rIns="0" bIns="0" rtlCol="0" anchor="ctr"/>
          <a:lstStyle/>
        </p:txBody>
      </p:sp>
      <p:sp>
        <p:nvSpPr>
          <p:cNvPr id="21" name="ZEL"/>
          <p:cNvSpPr/>
          <p:nvPr/>
        </p:nvSpPr>
        <p:spPr>
          <a:xfrm>
            <a:off x="8600000" y="1010000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6B6B6B"/>
                </a:solidFill>
                <a:latin typeface="Calibri"/>
              </a:rPr>
              <a:t>External Systems</a:t>
            </a:r>
          </a:p>
        </p:txBody>
      </p:sp>
      <p:sp>
        <p:nvSpPr>
          <p:cNvPr id="22" name="E_BOB"/>
          <p:cNvSpPr/>
          <p:nvPr/>
        </p:nvSpPr>
        <p:spPr>
          <a:xfrm>
            <a:off x="8650000" y="1300000"/>
            <a:ext cx="1900000" cy="8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BOB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Report scheduling system</a:t>
            </a:r>
          </a:p>
        </p:txBody>
      </p:sp>
      <p:sp>
        <p:nvSpPr>
          <p:cNvPr id="24" name="E_DMO"/>
          <p:cNvSpPr/>
          <p:nvPr/>
        </p:nvSpPr>
        <p:spPr>
          <a:xfrm>
            <a:off x="8650000" y="2480000"/>
            <a:ext cx="1900000" cy="800000"/>
          </a:xfrm>
          <a:prstGeom prst="roundRect">
            <a:avLst>
              <a:gd name="adj" fmla="val 3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  <p:txBody>
          <a:bodyPr wrap="square" lIns="80000" tIns="50000" rIns="80000" bIns="500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/>
              </a:rPr>
              <a:t>DMO</a:t>
            </a:r>
          </a:p>
          <a:p>
            <a:pPr algn="ctr" indent="0" marL="0">
              <a:buNone/>
            </a:pPr>
            <a:r>
              <a:rPr lang="en-US" sz="880" i="1" dirty="0">
                <a:solidFill>
                  <a:srgbClr val="6B6B6B"/>
                </a:solidFill>
                <a:latin typeface="Calibri"/>
              </a:rPr>
              <a:t>Reporting data store</a:t>
            </a:r>
          </a:p>
        </p:txBody>
      </p:sp>
      <p:sp>
        <p:nvSpPr>
          <p:cNvPr id="30" name="A1"/>
          <p:cNvSpPr/>
          <p:nvPr/>
        </p:nvSpPr>
        <p:spPr>
          <a:xfrm>
            <a:off x="8150000" y="1700000"/>
            <a:ext cx="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1"/>
          <p:cNvSpPr/>
          <p:nvPr/>
        </p:nvSpPr>
        <p:spPr>
          <a:xfrm>
            <a:off x="8160000" y="1530000"/>
            <a:ext cx="48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REST report request</a:t>
            </a:r>
          </a:p>
        </p:txBody>
      </p:sp>
      <p:sp>
        <p:nvSpPr>
          <p:cNvPr id="32" name="A2"/>
          <p:cNvSpPr/>
          <p:nvPr/>
        </p:nvSpPr>
        <p:spPr>
          <a:xfrm>
            <a:off x="8150000" y="2880000"/>
            <a:ext cx="5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2"/>
          <p:cNvSpPr/>
          <p:nvPr/>
        </p:nvSpPr>
        <p:spPr>
          <a:xfrm>
            <a:off x="8160000" y="2710000"/>
            <a:ext cx="48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Data sync</a:t>
            </a:r>
          </a:p>
        </p:txBody>
      </p:sp>
      <p:sp>
        <p:nvSpPr>
          <p:cNvPr id="60" name="LG"/>
          <p:cNvSpPr/>
          <p:nvPr/>
        </p:nvSpPr>
        <p:spPr>
          <a:xfrm>
            <a:off x="548640" y="5980000"/>
            <a:ext cx="1109167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0" i="0" dirty="0">
                <a:solidFill>
                  <a:srgbClr val="6B6B6B"/>
                </a:solidFill>
                <a:latin typeface="Calibri"/>
              </a:rPr>
              <a:t>Red border = internal Grey fill = external Black arrow = request/call Dashed zone = UAP boundary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B DMO Seq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48640" y="200000"/>
            <a:ext cx="11091672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Sequence Diagram — BOB &amp; DMO Integration</a:t>
            </a:r>
          </a:p>
        </p:txBody>
      </p:sp>
      <p:sp>
        <p:nvSpPr>
          <p:cNvPr id="3" name="ST"/>
          <p:cNvSpPr/>
          <p:nvPr/>
        </p:nvSpPr>
        <p:spPr>
          <a:xfrm>
            <a:off x="548640" y="640000"/>
            <a:ext cx="11091672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Scenario: CIAM submits report to BOB via REST near-real-time — and syncs customer/user data to DMO for accurate reporting</a:t>
            </a:r>
          </a:p>
        </p:txBody>
      </p:sp>
      <p:sp>
        <p:nvSpPr>
          <p:cNvPr id="10" name="LH0"/>
          <p:cNvSpPr/>
          <p:nvPr/>
        </p:nvSpPr>
        <p:spPr>
          <a:xfrm>
            <a:off x="20000" y="900000"/>
            <a:ext cx="156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Admin / User</a:t>
            </a:r>
          </a:p>
        </p:txBody>
      </p:sp>
      <p:sp>
        <p:nvSpPr>
          <p:cNvPr id="20" name="LL0"/>
          <p:cNvSpPr/>
          <p:nvPr/>
        </p:nvSpPr>
        <p:spPr>
          <a:xfrm>
            <a:off x="8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1" name="LH1"/>
          <p:cNvSpPr/>
          <p:nvPr/>
        </p:nvSpPr>
        <p:spPr>
          <a:xfrm>
            <a:off x="1685000" y="900000"/>
            <a:ext cx="143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UAP Console</a:t>
            </a:r>
          </a:p>
        </p:txBody>
      </p:sp>
      <p:sp>
        <p:nvSpPr>
          <p:cNvPr id="21" name="LL1"/>
          <p:cNvSpPr/>
          <p:nvPr/>
        </p:nvSpPr>
        <p:spPr>
          <a:xfrm>
            <a:off x="24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2" name="LH2"/>
          <p:cNvSpPr/>
          <p:nvPr/>
        </p:nvSpPr>
        <p:spPr>
          <a:xfrm>
            <a:off x="3285000" y="900000"/>
            <a:ext cx="143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PingOne AIC</a:t>
            </a:r>
          </a:p>
        </p:txBody>
      </p:sp>
      <p:sp>
        <p:nvSpPr>
          <p:cNvPr id="22" name="LL2"/>
          <p:cNvSpPr/>
          <p:nvPr/>
        </p:nvSpPr>
        <p:spPr>
          <a:xfrm>
            <a:off x="40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3" name="LH3"/>
          <p:cNvSpPr/>
          <p:nvPr/>
        </p:nvSpPr>
        <p:spPr>
          <a:xfrm>
            <a:off x="4890000" y="900000"/>
            <a:ext cx="182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Ping Directory</a:t>
            </a:r>
          </a:p>
        </p:txBody>
      </p:sp>
      <p:sp>
        <p:nvSpPr>
          <p:cNvPr id="23" name="LL3"/>
          <p:cNvSpPr/>
          <p:nvPr/>
        </p:nvSpPr>
        <p:spPr>
          <a:xfrm>
            <a:off x="58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4" name="LH4"/>
          <p:cNvSpPr/>
          <p:nvPr/>
        </p:nvSpPr>
        <p:spPr>
          <a:xfrm>
            <a:off x="7500000" y="900000"/>
            <a:ext cx="1200000" cy="390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BOB / DMO</a:t>
            </a:r>
          </a:p>
        </p:txBody>
      </p:sp>
      <p:sp>
        <p:nvSpPr>
          <p:cNvPr id="24" name="LL4"/>
          <p:cNvSpPr/>
          <p:nvPr/>
        </p:nvSpPr>
        <p:spPr>
          <a:xfrm>
            <a:off x="8100000" y="1300000"/>
            <a:ext cx="0" cy="530000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30" name="A30"/>
          <p:cNvSpPr/>
          <p:nvPr/>
        </p:nvSpPr>
        <p:spPr>
          <a:xfrm>
            <a:off x="800000" y="155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1" name="L30"/>
          <p:cNvSpPr/>
          <p:nvPr/>
        </p:nvSpPr>
        <p:spPr>
          <a:xfrm>
            <a:off x="820000" y="1375000"/>
            <a:ext cx="15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1. Trigger report or data sync</a:t>
            </a:r>
          </a:p>
        </p:txBody>
      </p:sp>
      <p:sp>
        <p:nvSpPr>
          <p:cNvPr id="32" name="A32"/>
          <p:cNvSpPr/>
          <p:nvPr/>
        </p:nvSpPr>
        <p:spPr>
          <a:xfrm>
            <a:off x="2400000" y="2110000"/>
            <a:ext cx="16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3" name="L32"/>
          <p:cNvSpPr/>
          <p:nvPr/>
        </p:nvSpPr>
        <p:spPr>
          <a:xfrm>
            <a:off x="2420000" y="1935000"/>
            <a:ext cx="15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2. Start integration journey</a:t>
            </a:r>
          </a:p>
        </p:txBody>
      </p:sp>
      <p:sp>
        <p:nvSpPr>
          <p:cNvPr id="34" name="A34"/>
          <p:cNvSpPr/>
          <p:nvPr/>
        </p:nvSpPr>
        <p:spPr>
          <a:xfrm>
            <a:off x="4000000" y="267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5" name="L34"/>
          <p:cNvSpPr/>
          <p:nvPr/>
        </p:nvSpPr>
        <p:spPr>
          <a:xfrm>
            <a:off x="4020000" y="2495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3. Fetch customer/user data</a:t>
            </a:r>
          </a:p>
        </p:txBody>
      </p:sp>
      <p:sp>
        <p:nvSpPr>
          <p:cNvPr id="36" name="A36"/>
          <p:cNvSpPr/>
          <p:nvPr/>
        </p:nvSpPr>
        <p:spPr>
          <a:xfrm>
            <a:off x="4000000" y="3230000"/>
            <a:ext cx="18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37" name="L36"/>
          <p:cNvSpPr/>
          <p:nvPr/>
        </p:nvSpPr>
        <p:spPr>
          <a:xfrm>
            <a:off x="4020000" y="3055000"/>
            <a:ext cx="17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4. Return data set</a:t>
            </a:r>
          </a:p>
        </p:txBody>
      </p:sp>
      <p:sp>
        <p:nvSpPr>
          <p:cNvPr id="38" name="A38"/>
          <p:cNvSpPr/>
          <p:nvPr/>
        </p:nvSpPr>
        <p:spPr>
          <a:xfrm>
            <a:off x="4000000" y="3790000"/>
            <a:ext cx="41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9" name="L38"/>
          <p:cNvSpPr/>
          <p:nvPr/>
        </p:nvSpPr>
        <p:spPr>
          <a:xfrm>
            <a:off x="4020000" y="3615000"/>
            <a:ext cx="40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5. Send REST request to BOB / sync to DMO</a:t>
            </a:r>
          </a:p>
        </p:txBody>
      </p:sp>
      <p:sp>
        <p:nvSpPr>
          <p:cNvPr id="40" name="P40"/>
          <p:cNvSpPr/>
          <p:nvPr/>
        </p:nvSpPr>
        <p:spPr>
          <a:xfrm>
            <a:off x="8000000" y="4350000"/>
            <a:ext cx="650000" cy="28000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  <p:txBody>
          <a:bodyPr wrap="square" lIns="40000" tIns="30000" rIns="40000" bIns="300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/>
              </a:rPr>
              <a:t>6. BOB schedules report / DMO updates data</a:t>
            </a:r>
          </a:p>
        </p:txBody>
      </p:sp>
      <p:sp>
        <p:nvSpPr>
          <p:cNvPr id="42" name="A42"/>
          <p:cNvSpPr/>
          <p:nvPr/>
        </p:nvSpPr>
        <p:spPr>
          <a:xfrm>
            <a:off x="4000000" y="4910000"/>
            <a:ext cx="41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3" name="L42"/>
          <p:cNvSpPr/>
          <p:nvPr/>
        </p:nvSpPr>
        <p:spPr>
          <a:xfrm>
            <a:off x="4020000" y="4735000"/>
            <a:ext cx="40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7. Return ack / confirmation</a:t>
            </a:r>
          </a:p>
        </p:txBody>
      </p:sp>
      <p:sp>
        <p:nvSpPr>
          <p:cNvPr id="44" name="A44"/>
          <p:cNvSpPr/>
          <p:nvPr/>
        </p:nvSpPr>
        <p:spPr>
          <a:xfrm>
            <a:off x="800000" y="5470000"/>
            <a:ext cx="320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headEnd type="triangle"/>
            <a:tailEnd type="none"/>
          </a:ln>
        </p:spPr>
      </p:sp>
      <p:sp>
        <p:nvSpPr>
          <p:cNvPr id="45" name="L44"/>
          <p:cNvSpPr/>
          <p:nvPr/>
        </p:nvSpPr>
        <p:spPr>
          <a:xfrm>
            <a:off x="820000" y="5295000"/>
            <a:ext cx="316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i="0" dirty="0">
                <a:solidFill>
                  <a:srgbClr val="000000"/>
                </a:solidFill>
                <a:latin typeface="Calibri"/>
              </a:rPr>
              <a:t>8. Confirm integration complete</a:t>
            </a:r>
          </a:p>
        </p:txBody>
      </p:sp>
      <p:sp>
        <p:nvSpPr>
          <p:cNvPr id="99" name="LG"/>
          <p:cNvSpPr/>
          <p:nvPr/>
        </p:nvSpPr>
        <p:spPr>
          <a:xfrm>
            <a:off x="548640" y="6540000"/>
            <a:ext cx="11091672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0" i="0" dirty="0">
                <a:solidFill>
                  <a:srgbClr val="6B6B6B"/>
                </a:solidFill>
                <a:latin typeface="Calibri"/>
              </a:rPr>
              <a:t>Black solid → request/call  Black dashed → response/return  Red-tint box → processing step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Document — Diagram Standards, Templates &amp; Examples</dc:title>
  <dc:subject>PptxGenJS Presentation</dc:subject>
  <dc:creator>PptxGenJS</dc:creator>
  <cp:lastModifiedBy>PptxGenJS</cp:lastModifiedBy>
  <cp:revision>1</cp:revision>
  <dcterms:created xsi:type="dcterms:W3CDTF">2026-06-29T03:03:15Z</dcterms:created>
  <dcterms:modified xsi:type="dcterms:W3CDTF">2026-06-29T03:03:15Z</dcterms:modified>
</cp:coreProperties>
</file>