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
   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_title"/>
          <p:cNvSpPr/>
          <p:nvPr/>
        </p:nvSpPr>
        <p:spPr>
          <a:xfrm>
            <a:off x="457200" y="274320"/>
            <a:ext cx="1136868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Block Diagram — Access &amp; Authorization</a:t>
            </a:r>
          </a:p>
        </p:txBody>
      </p:sp>
      <p:sp>
        <p:nvSpPr>
          <p:cNvPr id="102" name="T_sub"/>
          <p:cNvSpPr/>
          <p:nvPr/>
        </p:nvSpPr>
        <p:spPr>
          <a:xfrm>
            <a:off x="457200" y="700000"/>
            <a:ext cx="113686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Covers: Workforce Authorization (Q03)  ·  EB1 Enrollment &amp; Access  ·  CMB API Governance  ·  CCY Payments  ·  Entitlement Management</a:t>
            </a:r>
          </a:p>
        </p:txBody>
      </p:sp>
      <p:sp>
        <p:nvSpPr>
          <p:cNvPr id="103" name="S_uap"/>
          <p:cNvSpPr/>
          <p:nvPr/>
        </p:nvSpPr>
        <p:spPr>
          <a:xfrm>
            <a:off x="457200" y="940000"/>
            <a:ext cx="5400000" cy="568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04" name="T_uap_lbl"/>
          <p:cNvSpPr/>
          <p:nvPr/>
        </p:nvSpPr>
        <p:spPr>
          <a:xfrm>
            <a:off x="557200" y="990000"/>
            <a:ext cx="1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105" name="S_portal"/>
          <p:cNvSpPr/>
          <p:nvPr/>
        </p:nvSpPr>
        <p:spPr>
          <a:xfrm>
            <a:off x="557200" y="1220000"/>
            <a:ext cx="5200000" cy="5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06" name="T_portal_name"/>
          <p:cNvSpPr/>
          <p:nvPr/>
        </p:nvSpPr>
        <p:spPr>
          <a:xfrm>
            <a:off x="657200" y="1320000"/>
            <a:ext cx="5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100" b="1" i="0" dirty="0">
                <a:solidFill>
                  <a:srgbClr val="262626"/>
                </a:solidFill>
                <a:latin typeface="Calibri"/>
              </a:rPr>
              <a:t>UAP Admin Portal</a:t>
            </a:r>
          </a:p>
        </p:txBody>
      </p:sp>
      <p:sp>
        <p:nvSpPr>
          <p:cNvPr id="107" name="T_portal_body"/>
          <p:cNvSpPr/>
          <p:nvPr/>
        </p:nvSpPr>
        <p:spPr>
          <a:xfrm>
            <a:off x="657200" y="1550000"/>
            <a:ext cx="50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Access control entry point  ·  Entitlement management  ·  User profile management</a:t>
            </a:r>
          </a:p>
        </p:txBody>
      </p:sp>
      <p:sp>
        <p:nvSpPr>
          <p:cNvPr id="108" name="S_q03"/>
          <p:cNvSpPr/>
          <p:nvPr/>
        </p:nvSpPr>
        <p:spPr>
          <a:xfrm>
            <a:off x="657200" y="2010000"/>
            <a:ext cx="2450000" cy="215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09" name="T_q03_hdr"/>
          <p:cNvSpPr/>
          <p:nvPr/>
        </p:nvSpPr>
        <p:spPr>
          <a:xfrm>
            <a:off x="737200" y="2170000"/>
            <a:ext cx="229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50" b="1" i="0" dirty="0">
                <a:solidFill>
                  <a:srgbClr val="262626"/>
                </a:solidFill>
                <a:latin typeface="Calibri"/>
              </a:rPr>
              <a:t>Workforce Authorization</a:t>
            </a:r>
          </a:p>
        </p:txBody>
      </p:sp>
      <p:sp>
        <p:nvSpPr>
          <p:cNvPr id="110" name="T_q03_sub"/>
          <p:cNvSpPr/>
          <p:nvPr/>
        </p:nvSpPr>
        <p:spPr>
          <a:xfrm>
            <a:off x="737200" y="2410000"/>
            <a:ext cx="229000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950" b="0" i="1" dirty="0">
                <a:solidFill>
                  <a:srgbClr val="6B6B6B"/>
                </a:solidFill>
                <a:latin typeface="Calibri"/>
              </a:rPr>
              <a:t>via Q03 Integration</a:t>
            </a:r>
          </a:p>
        </p:txBody>
      </p:sp>
      <p:sp>
        <p:nvSpPr>
          <p:cNvPr id="111" name="T_q03_body"/>
          <p:cNvSpPr/>
          <p:nvPr/>
        </p:nvSpPr>
        <p:spPr>
          <a:xfrm>
            <a:off x="737200" y="2620000"/>
            <a:ext cx="2290000" cy="15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User logs in via UAP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Q03 checks AD group membership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Access granted or denied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Based on group rules</a:t>
            </a:r>
          </a:p>
        </p:txBody>
      </p:sp>
      <p:sp>
        <p:nvSpPr>
          <p:cNvPr id="112" name="S_eb1"/>
          <p:cNvSpPr/>
          <p:nvPr/>
        </p:nvSpPr>
        <p:spPr>
          <a:xfrm>
            <a:off x="3207200" y="2010000"/>
            <a:ext cx="2450000" cy="215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3" name="T_eb1_hdr"/>
          <p:cNvSpPr/>
          <p:nvPr/>
        </p:nvSpPr>
        <p:spPr>
          <a:xfrm>
            <a:off x="3287200" y="2170000"/>
            <a:ext cx="229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50" b="1" i="0" dirty="0">
                <a:solidFill>
                  <a:srgbClr val="262626"/>
                </a:solidFill>
                <a:latin typeface="Calibri"/>
              </a:rPr>
              <a:t>EB1 Enrollment &amp; Access</a:t>
            </a:r>
          </a:p>
        </p:txBody>
      </p:sp>
      <p:sp>
        <p:nvSpPr>
          <p:cNvPr id="114" name="T_eb1_body"/>
          <p:cNvSpPr/>
          <p:nvPr/>
        </p:nvSpPr>
        <p:spPr>
          <a:xfrm>
            <a:off x="3287200" y="2460000"/>
            <a:ext cx="2290000" cy="16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SSO Admin manages EB1 customers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Enroll / unenroll customers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Vendor portal access control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Updates EB1 entitlement status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Launches vendor portal on approval</a:t>
            </a:r>
          </a:p>
        </p:txBody>
      </p:sp>
      <p:sp>
        <p:nvSpPr>
          <p:cNvPr id="115" name="S_cmb"/>
          <p:cNvSpPr/>
          <p:nvPr/>
        </p:nvSpPr>
        <p:spPr>
          <a:xfrm>
            <a:off x="657200" y="4265000"/>
            <a:ext cx="2450000" cy="215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6" name="T_cmb_hdr"/>
          <p:cNvSpPr/>
          <p:nvPr/>
        </p:nvSpPr>
        <p:spPr>
          <a:xfrm>
            <a:off x="737200" y="4425000"/>
            <a:ext cx="229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50" b="1" i="0" dirty="0">
                <a:solidFill>
                  <a:srgbClr val="262626"/>
                </a:solidFill>
                <a:latin typeface="Calibri"/>
              </a:rPr>
              <a:t>CMB API Governance</a:t>
            </a:r>
          </a:p>
        </p:txBody>
      </p:sp>
      <p:sp>
        <p:nvSpPr>
          <p:cNvPr id="117" name="T_cmb_body"/>
          <p:cNvSpPr/>
          <p:nvPr/>
        </p:nvSpPr>
        <p:spPr>
          <a:xfrm>
            <a:off x="737200" y="4715000"/>
            <a:ext cx="2290000" cy="16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Governs access to CMB APIs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Evaluates incoming API request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Permits or denies access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Centralized API access control</a:t>
            </a:r>
          </a:p>
        </p:txBody>
      </p:sp>
      <p:sp>
        <p:nvSpPr>
          <p:cNvPr id="118" name="S_ccy"/>
          <p:cNvSpPr/>
          <p:nvPr/>
        </p:nvSpPr>
        <p:spPr>
          <a:xfrm>
            <a:off x="3207200" y="4265000"/>
            <a:ext cx="2450000" cy="215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9" name="T_ccy_hdr"/>
          <p:cNvSpPr/>
          <p:nvPr/>
        </p:nvSpPr>
        <p:spPr>
          <a:xfrm>
            <a:off x="3287200" y="4425000"/>
            <a:ext cx="229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50" b="1" i="0" dirty="0">
                <a:solidFill>
                  <a:srgbClr val="262626"/>
                </a:solidFill>
                <a:latin typeface="Calibri"/>
              </a:rPr>
              <a:t>CCY &amp; Entitlement Mgmt</a:t>
            </a:r>
          </a:p>
        </p:txBody>
      </p:sp>
      <p:sp>
        <p:nvSpPr>
          <p:cNvPr id="120" name="T_ccy_body"/>
          <p:cNvSpPr/>
          <p:nvPr/>
        </p:nvSpPr>
        <p:spPr>
          <a:xfrm>
            <a:off x="3287200" y="4715000"/>
            <a:ext cx="2290000" cy="16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Bank user enables CCY payments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in User Profile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Centralized entitlement control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Admin assigns / removes users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View approval &amp; entitlement status</a:t>
            </a:r>
          </a:p>
        </p:txBody>
      </p:sp>
      <p:sp>
        <p:nvSpPr>
          <p:cNvPr id="121" name="S_cia"/>
          <p:cNvSpPr/>
          <p:nvPr/>
        </p:nvSpPr>
        <p:spPr>
          <a:xfrm>
            <a:off x="6057200" y="940000"/>
            <a:ext cx="2700000" cy="5680000"/>
          </a:xfrm>
          <a:prstGeom prst="roundRect">
            <a:avLst>
              <a:gd name="adj" fmla="val 3000"/>
            </a:avLst>
          </a:prstGeom>
          <a:solidFill>
            <a:srgbClr val="F5E6E8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22" name="T_cia_lbl"/>
          <p:cNvSpPr/>
          <p:nvPr/>
        </p:nvSpPr>
        <p:spPr>
          <a:xfrm>
            <a:off x="6157200" y="990000"/>
            <a:ext cx="2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CIA (PingOne AIC)</a:t>
            </a:r>
          </a:p>
        </p:txBody>
      </p:sp>
      <p:sp>
        <p:nvSpPr>
          <p:cNvPr id="123" name="S_aic"/>
          <p:cNvSpPr/>
          <p:nvPr/>
        </p:nvSpPr>
        <p:spPr>
          <a:xfrm>
            <a:off x="6157200" y="1220000"/>
            <a:ext cx="2500000" cy="53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4" name="T_aic_name"/>
          <p:cNvSpPr/>
          <p:nvPr/>
        </p:nvSpPr>
        <p:spPr>
          <a:xfrm>
            <a:off x="6257200" y="1420000"/>
            <a:ext cx="23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100" b="1" i="0" dirty="0">
                <a:solidFill>
                  <a:srgbClr val="262626"/>
                </a:solidFill>
                <a:latin typeface="Calibri"/>
              </a:rPr>
              <a:t>PingOne AIC</a:t>
            </a:r>
          </a:p>
        </p:txBody>
      </p:sp>
      <p:sp>
        <p:nvSpPr>
          <p:cNvPr id="125" name="T_aic_body"/>
          <p:cNvSpPr/>
          <p:nvPr/>
        </p:nvSpPr>
        <p:spPr>
          <a:xfrm>
            <a:off x="6257200" y="1730000"/>
            <a:ext cx="2300000" cy="4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Journey &amp; access orchestration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/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Workforce Auth journey: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  Q03 AD group check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  Grant / deny via group rules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/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EB1 journey: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  Enroll / unenroll customers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  Update entitlement &amp; launch portal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/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CMB API journey: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  Evaluate API access request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  Permit or deny access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/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CCY journey: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  Enable CCY in user profile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/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Entitlement journey: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  Assign / remove / view status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  Retrieve approval details</a:t>
            </a:r>
          </a:p>
        </p:txBody>
      </p:sp>
      <p:sp>
        <p:nvSpPr>
          <p:cNvPr id="126" name="S_ext"/>
          <p:cNvSpPr/>
          <p:nvPr/>
        </p:nvSpPr>
        <p:spPr>
          <a:xfrm>
            <a:off x="8957200" y="940000"/>
            <a:ext cx="2777600" cy="568000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27" name="T_ext_lbl"/>
          <p:cNvSpPr/>
          <p:nvPr/>
        </p:nvSpPr>
        <p:spPr>
          <a:xfrm>
            <a:off x="9057200" y="990000"/>
            <a:ext cx="2577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00" b="1" i="1" dirty="0">
                <a:solidFill>
                  <a:srgbClr val="262626"/>
                </a:solidFill>
                <a:latin typeface="Calibri"/>
              </a:rPr>
              <a:t>Third-Party Systems</a:t>
            </a:r>
          </a:p>
        </p:txBody>
      </p:sp>
      <p:sp>
        <p:nvSpPr>
          <p:cNvPr id="128" name="S_e1_0"/>
          <p:cNvSpPr/>
          <p:nvPr/>
        </p:nvSpPr>
        <p:spPr>
          <a:xfrm>
            <a:off x="9057200" y="1390000"/>
            <a:ext cx="2577600" cy="120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29" name="T_e1_0_n"/>
          <p:cNvSpPr/>
          <p:nvPr/>
        </p:nvSpPr>
        <p:spPr>
          <a:xfrm>
            <a:off x="9117200" y="1773750"/>
            <a:ext cx="2457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262626"/>
                </a:solidFill>
                <a:latin typeface="Calibri"/>
              </a:rPr>
              <a:t>Q03 / Active Directory</a:t>
            </a:r>
          </a:p>
        </p:txBody>
      </p:sp>
      <p:sp>
        <p:nvSpPr>
          <p:cNvPr id="130" name="T_e1_0_b"/>
          <p:cNvSpPr/>
          <p:nvPr/>
        </p:nvSpPr>
        <p:spPr>
          <a:xfrm>
            <a:off x="9117200" y="2053750"/>
            <a:ext cx="2457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AD group membership store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Workforce auth source</a:t>
            </a:r>
          </a:p>
        </p:txBody>
      </p:sp>
      <p:sp>
        <p:nvSpPr>
          <p:cNvPr id="131" name="S_e1_1"/>
          <p:cNvSpPr/>
          <p:nvPr/>
        </p:nvSpPr>
        <p:spPr>
          <a:xfrm>
            <a:off x="9057200" y="2697500"/>
            <a:ext cx="2577600" cy="120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2" name="T_e1_1_n"/>
          <p:cNvSpPr/>
          <p:nvPr/>
        </p:nvSpPr>
        <p:spPr>
          <a:xfrm>
            <a:off x="9117200" y="3081250"/>
            <a:ext cx="2457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262626"/>
                </a:solidFill>
                <a:latin typeface="Calibri"/>
              </a:rPr>
              <a:t>EB1 Portal</a:t>
            </a:r>
          </a:p>
        </p:txBody>
      </p:sp>
      <p:sp>
        <p:nvSpPr>
          <p:cNvPr id="133" name="T_e1_1_b"/>
          <p:cNvSpPr/>
          <p:nvPr/>
        </p:nvSpPr>
        <p:spPr>
          <a:xfrm>
            <a:off x="9117200" y="3361250"/>
            <a:ext cx="2457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ERP customer entitlements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Vendor portal integration</a:t>
            </a:r>
          </a:p>
        </p:txBody>
      </p:sp>
      <p:sp>
        <p:nvSpPr>
          <p:cNvPr id="134" name="S_e1_2"/>
          <p:cNvSpPr/>
          <p:nvPr/>
        </p:nvSpPr>
        <p:spPr>
          <a:xfrm>
            <a:off x="9057200" y="4005000"/>
            <a:ext cx="2577600" cy="120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5" name="T_e1_2_n"/>
          <p:cNvSpPr/>
          <p:nvPr/>
        </p:nvSpPr>
        <p:spPr>
          <a:xfrm>
            <a:off x="9117200" y="4388750"/>
            <a:ext cx="2457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262626"/>
                </a:solidFill>
                <a:latin typeface="Calibri"/>
              </a:rPr>
              <a:t>CMB API Gateway</a:t>
            </a:r>
          </a:p>
        </p:txBody>
      </p:sp>
      <p:sp>
        <p:nvSpPr>
          <p:cNvPr id="136" name="T_e1_2_b"/>
          <p:cNvSpPr/>
          <p:nvPr/>
        </p:nvSpPr>
        <p:spPr>
          <a:xfrm>
            <a:off x="9117200" y="4668750"/>
            <a:ext cx="2457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External CMB API endpoint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Access governed by UAP</a:t>
            </a:r>
          </a:p>
        </p:txBody>
      </p:sp>
      <p:sp>
        <p:nvSpPr>
          <p:cNvPr id="137" name="S_e1_3"/>
          <p:cNvSpPr/>
          <p:nvPr/>
        </p:nvSpPr>
        <p:spPr>
          <a:xfrm>
            <a:off x="9057200" y="5312500"/>
            <a:ext cx="2577600" cy="120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8" name="T_e1_3_n"/>
          <p:cNvSpPr/>
          <p:nvPr/>
        </p:nvSpPr>
        <p:spPr>
          <a:xfrm>
            <a:off x="9117200" y="5696250"/>
            <a:ext cx="2457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262626"/>
                </a:solidFill>
                <a:latin typeface="Calibri"/>
              </a:rPr>
              <a:t>CCY Service</a:t>
            </a:r>
          </a:p>
        </p:txBody>
      </p:sp>
      <p:sp>
        <p:nvSpPr>
          <p:cNvPr id="139" name="T_e1_3_b"/>
          <p:cNvSpPr/>
          <p:nvPr/>
        </p:nvSpPr>
        <p:spPr>
          <a:xfrm>
            <a:off x="9117200" y="5976250"/>
            <a:ext cx="2457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Automated Payments-CCY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User profile flag</a:t>
            </a:r>
          </a:p>
        </p:txBody>
      </p:sp>
      <p:sp>
        <p:nvSpPr>
          <p:cNvPr id="140" name="D_s1_0"/>
          <p:cNvSpPr/>
          <p:nvPr/>
        </p:nvSpPr>
        <p:spPr>
          <a:xfrm>
            <a:off x="8757200" y="1993750"/>
            <a:ext cx="20000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1" name="TArr141"/>
          <p:cNvSpPr/>
          <p:nvPr/>
        </p:nvSpPr>
        <p:spPr>
          <a:xfrm>
            <a:off x="8787200" y="1828750"/>
            <a:ext cx="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AD auth</a:t>
            </a:r>
          </a:p>
        </p:txBody>
      </p:sp>
      <p:sp>
        <p:nvSpPr>
          <p:cNvPr id="142" name="D_s1_1"/>
          <p:cNvSpPr/>
          <p:nvPr/>
        </p:nvSpPr>
        <p:spPr>
          <a:xfrm>
            <a:off x="8757200" y="3301250"/>
            <a:ext cx="20000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3" name="TArr143"/>
          <p:cNvSpPr/>
          <p:nvPr/>
        </p:nvSpPr>
        <p:spPr>
          <a:xfrm>
            <a:off x="8787200" y="3136250"/>
            <a:ext cx="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EB1 enrol</a:t>
            </a:r>
          </a:p>
        </p:txBody>
      </p:sp>
      <p:sp>
        <p:nvSpPr>
          <p:cNvPr id="144" name="D_s1_2"/>
          <p:cNvSpPr/>
          <p:nvPr/>
        </p:nvSpPr>
        <p:spPr>
          <a:xfrm>
            <a:off x="8757200" y="4608750"/>
            <a:ext cx="20000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5" name="TArr145"/>
          <p:cNvSpPr/>
          <p:nvPr/>
        </p:nvSpPr>
        <p:spPr>
          <a:xfrm>
            <a:off x="8787200" y="4443750"/>
            <a:ext cx="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CMB access</a:t>
            </a:r>
          </a:p>
        </p:txBody>
      </p:sp>
      <p:sp>
        <p:nvSpPr>
          <p:cNvPr id="146" name="D_s1_3"/>
          <p:cNvSpPr/>
          <p:nvPr/>
        </p:nvSpPr>
        <p:spPr>
          <a:xfrm>
            <a:off x="8757200" y="5916250"/>
            <a:ext cx="20000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7" name="TArr147"/>
          <p:cNvSpPr/>
          <p:nvPr/>
        </p:nvSpPr>
        <p:spPr>
          <a:xfrm>
            <a:off x="8787200" y="5751250"/>
            <a:ext cx="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CCY update</a:t>
            </a:r>
          </a:p>
        </p:txBody>
      </p:sp>
      <p:sp>
        <p:nvSpPr>
          <p:cNvPr id="148" name="D_uap_cia"/>
          <p:cNvSpPr/>
          <p:nvPr/>
        </p:nvSpPr>
        <p:spPr>
          <a:xfrm>
            <a:off x="5857200" y="3780000"/>
            <a:ext cx="10000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9" name="TArr149"/>
          <p:cNvSpPr/>
          <p:nvPr/>
        </p:nvSpPr>
        <p:spPr>
          <a:xfrm>
            <a:off x="5887200" y="3615000"/>
            <a:ext cx="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journey</a:t>
            </a:r>
          </a:p>
        </p:txBody>
      </p:sp>
      <p:sp>
        <p:nvSpPr>
          <p:cNvPr id="150" name="T_legend"/>
          <p:cNvSpPr/>
          <p:nvPr/>
        </p:nvSpPr>
        <p:spPr>
          <a:xfrm>
            <a:off x="457200" y="6720000"/>
            <a:ext cx="113686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950" b="0" i="1" dirty="0">
                <a:solidFill>
                  <a:srgbClr val="6B6B6B"/>
                </a:solidFill>
                <a:latin typeface="Calibri"/>
              </a:rPr>
              <a:t>Black border = Internal  ·  Grey fill = External  ·  Black arrow = request/call  ·  Dashed zone = platform boundary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_title"/>
          <p:cNvSpPr/>
          <p:nvPr/>
        </p:nvSpPr>
        <p:spPr>
          <a:xfrm>
            <a:off x="457200" y="274320"/>
            <a:ext cx="1136868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Block Diagram — Platform Governance</a:t>
            </a:r>
          </a:p>
        </p:txBody>
      </p:sp>
      <p:sp>
        <p:nvSpPr>
          <p:cNvPr id="202" name="T_sub"/>
          <p:cNvSpPr/>
          <p:nvPr/>
        </p:nvSpPr>
        <p:spPr>
          <a:xfrm>
            <a:off x="457200" y="700000"/>
            <a:ext cx="113686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Covers: Privacy &amp; Cookies Policy  ·  Inactive User Purge  ·  Accessibility (WCAG 2.X)  ·  Entitlement Approval Visibility</a:t>
            </a:r>
          </a:p>
        </p:txBody>
      </p:sp>
      <p:sp>
        <p:nvSpPr>
          <p:cNvPr id="203" name="S_uap"/>
          <p:cNvSpPr/>
          <p:nvPr/>
        </p:nvSpPr>
        <p:spPr>
          <a:xfrm>
            <a:off x="457200" y="940000"/>
            <a:ext cx="5400000" cy="568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204" name="T_uap_lbl"/>
          <p:cNvSpPr/>
          <p:nvPr/>
        </p:nvSpPr>
        <p:spPr>
          <a:xfrm>
            <a:off x="557200" y="990000"/>
            <a:ext cx="1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205" name="S_portal"/>
          <p:cNvSpPr/>
          <p:nvPr/>
        </p:nvSpPr>
        <p:spPr>
          <a:xfrm>
            <a:off x="557200" y="1220000"/>
            <a:ext cx="5200000" cy="5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206" name="T_portal_name"/>
          <p:cNvSpPr/>
          <p:nvPr/>
        </p:nvSpPr>
        <p:spPr>
          <a:xfrm>
            <a:off x="657200" y="1320000"/>
            <a:ext cx="5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100" b="1" i="0" dirty="0">
                <a:solidFill>
                  <a:srgbClr val="262626"/>
                </a:solidFill>
                <a:latin typeface="Calibri"/>
              </a:rPr>
              <a:t>UAP Admin Portal</a:t>
            </a:r>
          </a:p>
        </p:txBody>
      </p:sp>
      <p:sp>
        <p:nvSpPr>
          <p:cNvPr id="207" name="T_portal_body"/>
          <p:cNvSpPr/>
          <p:nvPr/>
        </p:nvSpPr>
        <p:spPr>
          <a:xfrm>
            <a:off x="657200" y="1550000"/>
            <a:ext cx="50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Governance &amp; compliance entry point  ·  User lifecycle management</a:t>
            </a:r>
          </a:p>
        </p:txBody>
      </p:sp>
      <p:sp>
        <p:nvSpPr>
          <p:cNvPr id="208" name="S_priv"/>
          <p:cNvSpPr/>
          <p:nvPr/>
        </p:nvSpPr>
        <p:spPr>
          <a:xfrm>
            <a:off x="657200" y="2010000"/>
            <a:ext cx="2450000" cy="215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09" name="T_priv_hdr"/>
          <p:cNvSpPr/>
          <p:nvPr/>
        </p:nvSpPr>
        <p:spPr>
          <a:xfrm>
            <a:off x="737200" y="2170000"/>
            <a:ext cx="229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50" b="1" i="0" dirty="0">
                <a:solidFill>
                  <a:srgbClr val="262626"/>
                </a:solidFill>
                <a:latin typeface="Calibri"/>
              </a:rPr>
              <a:t>Privacy &amp; Cookies Policy</a:t>
            </a:r>
          </a:p>
        </p:txBody>
      </p:sp>
      <p:sp>
        <p:nvSpPr>
          <p:cNvPr id="210" name="T_priv_body"/>
          <p:cNvSpPr/>
          <p:nvPr/>
        </p:nvSpPr>
        <p:spPr>
          <a:xfrm>
            <a:off x="737200" y="2460000"/>
            <a:ext cx="2290000" cy="16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If cookies rejected: redirect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to mufgamericas.com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Privacy policy link on: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  MUFG Exchange page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  Main admin search page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DSH surfaces privacy link</a:t>
            </a:r>
          </a:p>
        </p:txBody>
      </p:sp>
      <p:sp>
        <p:nvSpPr>
          <p:cNvPr id="211" name="S_purge"/>
          <p:cNvSpPr/>
          <p:nvPr/>
        </p:nvSpPr>
        <p:spPr>
          <a:xfrm>
            <a:off x="3207200" y="2010000"/>
            <a:ext cx="2450000" cy="215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12" name="T_purge_hdr"/>
          <p:cNvSpPr/>
          <p:nvPr/>
        </p:nvSpPr>
        <p:spPr>
          <a:xfrm>
            <a:off x="3287200" y="2170000"/>
            <a:ext cx="229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50" b="1" i="0" dirty="0">
                <a:solidFill>
                  <a:srgbClr val="262626"/>
                </a:solidFill>
                <a:latin typeface="Calibri"/>
              </a:rPr>
              <a:t>Inactive User Purge</a:t>
            </a:r>
          </a:p>
        </p:txBody>
      </p:sp>
      <p:sp>
        <p:nvSpPr>
          <p:cNvPr id="213" name="T_purge_body"/>
          <p:cNvSpPr/>
          <p:nvPr/>
        </p:nvSpPr>
        <p:spPr>
          <a:xfrm>
            <a:off x="3287200" y="2460000"/>
            <a:ext cx="2290000" cy="16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Configurable inactivity period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Customer exceeds threshold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System locks user account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Auto-purge after lock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Configurable by admin</a:t>
            </a:r>
          </a:p>
        </p:txBody>
      </p:sp>
      <p:sp>
        <p:nvSpPr>
          <p:cNvPr id="214" name="S_a11y"/>
          <p:cNvSpPr/>
          <p:nvPr/>
        </p:nvSpPr>
        <p:spPr>
          <a:xfrm>
            <a:off x="657200" y="4265000"/>
            <a:ext cx="2450000" cy="215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15" name="T_a11y_hdr"/>
          <p:cNvSpPr/>
          <p:nvPr/>
        </p:nvSpPr>
        <p:spPr>
          <a:xfrm>
            <a:off x="737200" y="4425000"/>
            <a:ext cx="229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50" b="1" i="0" dirty="0">
                <a:solidFill>
                  <a:srgbClr val="262626"/>
                </a:solidFill>
                <a:latin typeface="Calibri"/>
              </a:rPr>
              <a:t>Accessibility (WCAG 2.X)</a:t>
            </a:r>
          </a:p>
        </p:txBody>
      </p:sp>
      <p:sp>
        <p:nvSpPr>
          <p:cNvPr id="216" name="T_a11y_body"/>
          <p:cNvSpPr/>
          <p:nvPr/>
        </p:nvSpPr>
        <p:spPr>
          <a:xfrm>
            <a:off x="737200" y="4715000"/>
            <a:ext cx="2290000" cy="16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All UI meets WCAG 2.X A11y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Applies to all UAP components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Login, navigation, all forms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Accessible to all user types</a:t>
            </a:r>
          </a:p>
        </p:txBody>
      </p:sp>
      <p:sp>
        <p:nvSpPr>
          <p:cNvPr id="217" name="S_ent"/>
          <p:cNvSpPr/>
          <p:nvPr/>
        </p:nvSpPr>
        <p:spPr>
          <a:xfrm>
            <a:off x="3207200" y="4265000"/>
            <a:ext cx="2450000" cy="215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18" name="T_ent_hdr"/>
          <p:cNvSpPr/>
          <p:nvPr/>
        </p:nvSpPr>
        <p:spPr>
          <a:xfrm>
            <a:off x="3287200" y="4425000"/>
            <a:ext cx="229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50" b="1" i="0" dirty="0">
                <a:solidFill>
                  <a:srgbClr val="262626"/>
                </a:solidFill>
                <a:latin typeface="Calibri"/>
              </a:rPr>
              <a:t>Entitlement Visibility</a:t>
            </a:r>
          </a:p>
        </p:txBody>
      </p:sp>
      <p:sp>
        <p:nvSpPr>
          <p:cNvPr id="219" name="T_ent_body"/>
          <p:cNvSpPr/>
          <p:nvPr/>
        </p:nvSpPr>
        <p:spPr>
          <a:xfrm>
            <a:off x="3287200" y="4715000"/>
            <a:ext cx="2290000" cy="166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Admin views approval status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of submitted requests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Admin views current entitlements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System retrieves &amp; displays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entitlement records &amp; details</a:t>
            </a:r>
          </a:p>
        </p:txBody>
      </p:sp>
      <p:sp>
        <p:nvSpPr>
          <p:cNvPr id="220" name="S_cia"/>
          <p:cNvSpPr/>
          <p:nvPr/>
        </p:nvSpPr>
        <p:spPr>
          <a:xfrm>
            <a:off x="6057200" y="940000"/>
            <a:ext cx="2700000" cy="5680000"/>
          </a:xfrm>
          <a:prstGeom prst="roundRect">
            <a:avLst>
              <a:gd name="adj" fmla="val 3000"/>
            </a:avLst>
          </a:prstGeom>
          <a:solidFill>
            <a:srgbClr val="F5E6E8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221" name="T_cia_lbl"/>
          <p:cNvSpPr/>
          <p:nvPr/>
        </p:nvSpPr>
        <p:spPr>
          <a:xfrm>
            <a:off x="6157200" y="990000"/>
            <a:ext cx="2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CIA (PingOne AIC)</a:t>
            </a:r>
          </a:p>
        </p:txBody>
      </p:sp>
      <p:sp>
        <p:nvSpPr>
          <p:cNvPr id="222" name="S_aic"/>
          <p:cNvSpPr/>
          <p:nvPr/>
        </p:nvSpPr>
        <p:spPr>
          <a:xfrm>
            <a:off x="6157200" y="1220000"/>
            <a:ext cx="2500000" cy="53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223" name="T_aic_name"/>
          <p:cNvSpPr/>
          <p:nvPr/>
        </p:nvSpPr>
        <p:spPr>
          <a:xfrm>
            <a:off x="6257200" y="1420000"/>
            <a:ext cx="23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100" b="1" i="0" dirty="0">
                <a:solidFill>
                  <a:srgbClr val="262626"/>
                </a:solidFill>
                <a:latin typeface="Calibri"/>
              </a:rPr>
              <a:t>PingOne AIC</a:t>
            </a:r>
          </a:p>
        </p:txBody>
      </p:sp>
      <p:sp>
        <p:nvSpPr>
          <p:cNvPr id="224" name="T_aic_body"/>
          <p:cNvSpPr/>
          <p:nvPr/>
        </p:nvSpPr>
        <p:spPr>
          <a:xfrm>
            <a:off x="6257200" y="1730000"/>
            <a:ext cx="2300000" cy="4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Journey orchestration engine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/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Privacy journey: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  Detect cookie rejection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  Redirect to mufgamericas.com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/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Purge journey: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  Monitor inactivity threshold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  Lock account on breach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/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Accessibility: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  WCAG 2.X enforced on all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  UAP components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/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Entitlement journey: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  Retrieve approval status</a:t>
            </a:r>
          </a:p>
          <a:p>
            <a:pPr algn="ctr" marL="0" indent="0">
              <a:buNone/>
            </a:pPr>
            <a:r>
              <a:rPr lang="en-US" sz="840" b="0" i="1" dirty="0">
                <a:solidFill>
                  <a:srgbClr val="6B6B6B"/>
                </a:solidFill>
                <a:latin typeface="Calibri"/>
              </a:rPr>
              <a:t>  Display entitlement records</a:t>
            </a:r>
          </a:p>
        </p:txBody>
      </p:sp>
      <p:sp>
        <p:nvSpPr>
          <p:cNvPr id="225" name="S_ext"/>
          <p:cNvSpPr/>
          <p:nvPr/>
        </p:nvSpPr>
        <p:spPr>
          <a:xfrm>
            <a:off x="8957200" y="940000"/>
            <a:ext cx="2777600" cy="568000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26" name="T_ext_lbl"/>
          <p:cNvSpPr/>
          <p:nvPr/>
        </p:nvSpPr>
        <p:spPr>
          <a:xfrm>
            <a:off x="9057200" y="990000"/>
            <a:ext cx="2577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00" b="1" i="1" dirty="0">
                <a:solidFill>
                  <a:srgbClr val="262626"/>
                </a:solidFill>
                <a:latin typeface="Calibri"/>
              </a:rPr>
              <a:t>Third-Party Systems</a:t>
            </a:r>
          </a:p>
        </p:txBody>
      </p:sp>
      <p:sp>
        <p:nvSpPr>
          <p:cNvPr id="227" name="S_e2_0"/>
          <p:cNvSpPr/>
          <p:nvPr/>
        </p:nvSpPr>
        <p:spPr>
          <a:xfrm>
            <a:off x="9057200" y="1390000"/>
            <a:ext cx="2577600" cy="120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28" name="T_e2_0_n"/>
          <p:cNvSpPr/>
          <p:nvPr/>
        </p:nvSpPr>
        <p:spPr>
          <a:xfrm>
            <a:off x="9117200" y="1773750"/>
            <a:ext cx="2457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262626"/>
                </a:solidFill>
                <a:latin typeface="Calibri"/>
              </a:rPr>
              <a:t>mufgamericas.com</a:t>
            </a:r>
          </a:p>
        </p:txBody>
      </p:sp>
      <p:sp>
        <p:nvSpPr>
          <p:cNvPr id="229" name="T_e2_0_b"/>
          <p:cNvSpPr/>
          <p:nvPr/>
        </p:nvSpPr>
        <p:spPr>
          <a:xfrm>
            <a:off x="9117200" y="2053750"/>
            <a:ext cx="2457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Cookie rejection redirect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Privacy policy host</a:t>
            </a:r>
          </a:p>
        </p:txBody>
      </p:sp>
      <p:sp>
        <p:nvSpPr>
          <p:cNvPr id="230" name="S_e2_1"/>
          <p:cNvSpPr/>
          <p:nvPr/>
        </p:nvSpPr>
        <p:spPr>
          <a:xfrm>
            <a:off x="9057200" y="2697500"/>
            <a:ext cx="2577600" cy="120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31" name="T_e2_1_n"/>
          <p:cNvSpPr/>
          <p:nvPr/>
        </p:nvSpPr>
        <p:spPr>
          <a:xfrm>
            <a:off x="9117200" y="3081250"/>
            <a:ext cx="2457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262626"/>
                </a:solidFill>
                <a:latin typeface="Calibri"/>
              </a:rPr>
              <a:t>DSH Portal</a:t>
            </a:r>
          </a:p>
        </p:txBody>
      </p:sp>
      <p:sp>
        <p:nvSpPr>
          <p:cNvPr id="232" name="T_e2_1_b"/>
          <p:cNvSpPr/>
          <p:nvPr/>
        </p:nvSpPr>
        <p:spPr>
          <a:xfrm>
            <a:off x="9117200" y="3361250"/>
            <a:ext cx="2457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Digital Services Hub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Privacy policy entry point</a:t>
            </a:r>
          </a:p>
        </p:txBody>
      </p:sp>
      <p:sp>
        <p:nvSpPr>
          <p:cNvPr id="233" name="S_e2_2"/>
          <p:cNvSpPr/>
          <p:nvPr/>
        </p:nvSpPr>
        <p:spPr>
          <a:xfrm>
            <a:off x="9057200" y="4005000"/>
            <a:ext cx="2577600" cy="120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34" name="T_e2_2_n"/>
          <p:cNvSpPr/>
          <p:nvPr/>
        </p:nvSpPr>
        <p:spPr>
          <a:xfrm>
            <a:off x="9117200" y="4388750"/>
            <a:ext cx="2457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262626"/>
                </a:solidFill>
                <a:latin typeface="Calibri"/>
              </a:rPr>
              <a:t>WCAG A11y Engine</a:t>
            </a:r>
          </a:p>
        </p:txBody>
      </p:sp>
      <p:sp>
        <p:nvSpPr>
          <p:cNvPr id="235" name="T_e2_2_b"/>
          <p:cNvSpPr/>
          <p:nvPr/>
        </p:nvSpPr>
        <p:spPr>
          <a:xfrm>
            <a:off x="9117200" y="4668750"/>
            <a:ext cx="2457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Accessibility validator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WCAG 2.X compliance check</a:t>
            </a:r>
          </a:p>
        </p:txBody>
      </p:sp>
      <p:sp>
        <p:nvSpPr>
          <p:cNvPr id="236" name="S_e2_3"/>
          <p:cNvSpPr/>
          <p:nvPr/>
        </p:nvSpPr>
        <p:spPr>
          <a:xfrm>
            <a:off x="9057200" y="5312500"/>
            <a:ext cx="2577600" cy="120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37" name="T_e2_3_n"/>
          <p:cNvSpPr/>
          <p:nvPr/>
        </p:nvSpPr>
        <p:spPr>
          <a:xfrm>
            <a:off x="9117200" y="5696250"/>
            <a:ext cx="2457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262626"/>
                </a:solidFill>
                <a:latin typeface="Calibri"/>
              </a:rPr>
              <a:t>Entitlement Store</a:t>
            </a:r>
          </a:p>
        </p:txBody>
      </p:sp>
      <p:sp>
        <p:nvSpPr>
          <p:cNvPr id="238" name="T_e2_3_b"/>
          <p:cNvSpPr/>
          <p:nvPr/>
        </p:nvSpPr>
        <p:spPr>
          <a:xfrm>
            <a:off x="9117200" y="5976250"/>
            <a:ext cx="2457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Approval records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Entitlement data source</a:t>
            </a:r>
          </a:p>
        </p:txBody>
      </p:sp>
      <p:sp>
        <p:nvSpPr>
          <p:cNvPr id="239" name="D_s2_0"/>
          <p:cNvSpPr/>
          <p:nvPr/>
        </p:nvSpPr>
        <p:spPr>
          <a:xfrm>
            <a:off x="8757200" y="1993750"/>
            <a:ext cx="20000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40" name="TArr240"/>
          <p:cNvSpPr/>
          <p:nvPr/>
        </p:nvSpPr>
        <p:spPr>
          <a:xfrm>
            <a:off x="8787200" y="1828750"/>
            <a:ext cx="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redirect</a:t>
            </a:r>
          </a:p>
        </p:txBody>
      </p:sp>
      <p:sp>
        <p:nvSpPr>
          <p:cNvPr id="241" name="D_s2_1"/>
          <p:cNvSpPr/>
          <p:nvPr/>
        </p:nvSpPr>
        <p:spPr>
          <a:xfrm>
            <a:off x="8757200" y="3301250"/>
            <a:ext cx="20000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42" name="TArr242"/>
          <p:cNvSpPr/>
          <p:nvPr/>
        </p:nvSpPr>
        <p:spPr>
          <a:xfrm>
            <a:off x="8787200" y="3136250"/>
            <a:ext cx="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privacy link</a:t>
            </a:r>
          </a:p>
        </p:txBody>
      </p:sp>
      <p:sp>
        <p:nvSpPr>
          <p:cNvPr id="243" name="D_s2_2"/>
          <p:cNvSpPr/>
          <p:nvPr/>
        </p:nvSpPr>
        <p:spPr>
          <a:xfrm>
            <a:off x="8757200" y="4608750"/>
            <a:ext cx="20000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44" name="TArr244"/>
          <p:cNvSpPr/>
          <p:nvPr/>
        </p:nvSpPr>
        <p:spPr>
          <a:xfrm>
            <a:off x="8787200" y="4443750"/>
            <a:ext cx="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A11y check</a:t>
            </a:r>
          </a:p>
        </p:txBody>
      </p:sp>
      <p:sp>
        <p:nvSpPr>
          <p:cNvPr id="245" name="D_s2_3"/>
          <p:cNvSpPr/>
          <p:nvPr/>
        </p:nvSpPr>
        <p:spPr>
          <a:xfrm>
            <a:off x="8757200" y="5916250"/>
            <a:ext cx="20000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46" name="TArr246"/>
          <p:cNvSpPr/>
          <p:nvPr/>
        </p:nvSpPr>
        <p:spPr>
          <a:xfrm>
            <a:off x="8787200" y="5751250"/>
            <a:ext cx="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entitlement data</a:t>
            </a:r>
          </a:p>
        </p:txBody>
      </p:sp>
      <p:sp>
        <p:nvSpPr>
          <p:cNvPr id="247" name="D_uap_cia"/>
          <p:cNvSpPr/>
          <p:nvPr/>
        </p:nvSpPr>
        <p:spPr>
          <a:xfrm>
            <a:off x="5857200" y="3780000"/>
            <a:ext cx="10000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48" name="TArr248"/>
          <p:cNvSpPr/>
          <p:nvPr/>
        </p:nvSpPr>
        <p:spPr>
          <a:xfrm>
            <a:off x="5887200" y="3615000"/>
            <a:ext cx="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journey</a:t>
            </a:r>
          </a:p>
        </p:txBody>
      </p:sp>
      <p:sp>
        <p:nvSpPr>
          <p:cNvPr id="249" name="T_legend"/>
          <p:cNvSpPr/>
          <p:nvPr/>
        </p:nvSpPr>
        <p:spPr>
          <a:xfrm>
            <a:off x="457200" y="6720000"/>
            <a:ext cx="113686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950" b="0" i="1" dirty="0">
                <a:solidFill>
                  <a:srgbClr val="6B6B6B"/>
                </a:solidFill>
                <a:latin typeface="Calibri"/>
              </a:rPr>
              <a:t>Black border = Internal  ·  Grey fill = External  ·  Black arrow = request/call  ·  Dashed zone = platform boundary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