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er Self Service v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User Self-Service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Covers: Access Self-Service  ·  Device Self-Service  ·  Profile Self-Service  ·  Token Self-Service  ·  MFA Menu  ·  Internal = black border  ·  External = grey fill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060000"/>
            <a:ext cx="4888532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104"/>
          <p:cNvSpPr/>
          <p:nvPr/>
        </p:nvSpPr>
        <p:spPr>
          <a:xfrm>
            <a:off x="557200" y="1110000"/>
            <a:ext cx="4708532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</a:t>
            </a:r>
          </a:p>
        </p:txBody>
      </p:sp>
      <p:sp>
        <p:nvSpPr>
          <p:cNvPr id="105" name="S105"/>
          <p:cNvSpPr/>
          <p:nvPr/>
        </p:nvSpPr>
        <p:spPr>
          <a:xfrm>
            <a:off x="607200" y="1355000"/>
            <a:ext cx="4588532" cy="5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106"/>
          <p:cNvSpPr/>
          <p:nvPr/>
        </p:nvSpPr>
        <p:spPr>
          <a:xfrm>
            <a:off x="682200" y="1422200"/>
            <a:ext cx="443853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UAP Portal</a:t>
            </a:r>
          </a:p>
        </p:txBody>
      </p:sp>
      <p:sp>
        <p:nvSpPr>
          <p:cNvPr id="107" name="ML107"/>
          <p:cNvSpPr/>
          <p:nvPr/>
        </p:nvSpPr>
        <p:spPr>
          <a:xfrm>
            <a:off x="682200" y="1645720"/>
            <a:ext cx="4438532" cy="21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MUFG Exchange Portal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User entry point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08" name="S108"/>
          <p:cNvSpPr/>
          <p:nvPr/>
        </p:nvSpPr>
        <p:spPr>
          <a:xfrm>
            <a:off x="572200" y="2095000"/>
            <a:ext cx="4658532" cy="441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262626"/>
            </a:solidFill>
            <a:prstDash val="dash"/>
          </a:ln>
        </p:spPr>
      </p:sp>
      <p:sp>
        <p:nvSpPr>
          <p:cNvPr id="109" name="T109"/>
          <p:cNvSpPr/>
          <p:nvPr/>
        </p:nvSpPr>
        <p:spPr>
          <a:xfrm>
            <a:off x="657200" y="2140000"/>
            <a:ext cx="4508532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A6192E"/>
                </a:solidFill>
                <a:latin typeface="Calibri"/>
              </a:rPr>
              <a:t>Self-Service Capabilities</a:t>
            </a:r>
          </a:p>
        </p:txBody>
      </p:sp>
      <p:sp>
        <p:nvSpPr>
          <p:cNvPr id="110" name="S110"/>
          <p:cNvSpPr/>
          <p:nvPr/>
        </p:nvSpPr>
        <p:spPr>
          <a:xfrm>
            <a:off x="657200" y="2345000"/>
            <a:ext cx="829706" cy="409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1" name="T111"/>
          <p:cNvSpPr/>
          <p:nvPr/>
        </p:nvSpPr>
        <p:spPr>
          <a:xfrm>
            <a:off x="732200" y="2835800"/>
            <a:ext cx="67970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Access
Self-Service</a:t>
            </a:r>
          </a:p>
        </p:txBody>
      </p:sp>
      <p:sp>
        <p:nvSpPr>
          <p:cNvPr id="112" name="ML112"/>
          <p:cNvSpPr/>
          <p:nvPr/>
        </p:nvSpPr>
        <p:spPr>
          <a:xfrm>
            <a:off x="732200" y="3089800"/>
            <a:ext cx="679706" cy="331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Request new entitlement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View assigned entitlements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View approval status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Approval history</a:t>
            </a:r>
          </a:p>
        </p:txBody>
      </p:sp>
      <p:sp>
        <p:nvSpPr>
          <p:cNvPr id="113" name="S113"/>
          <p:cNvSpPr/>
          <p:nvPr/>
        </p:nvSpPr>
        <p:spPr>
          <a:xfrm>
            <a:off x="1571906" y="2345000"/>
            <a:ext cx="829706" cy="409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4" name="T114"/>
          <p:cNvSpPr/>
          <p:nvPr/>
        </p:nvSpPr>
        <p:spPr>
          <a:xfrm>
            <a:off x="1646906" y="2835800"/>
            <a:ext cx="67970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Device
Self-Service</a:t>
            </a:r>
          </a:p>
        </p:txBody>
      </p:sp>
      <p:sp>
        <p:nvSpPr>
          <p:cNvPr id="115" name="ML115"/>
          <p:cNvSpPr/>
          <p:nvPr/>
        </p:nvSpPr>
        <p:spPr>
          <a:xfrm>
            <a:off x="1646906" y="3089800"/>
            <a:ext cx="679706" cy="331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Register device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Deregister device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View all registered devices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View latest device activity</a:t>
            </a:r>
          </a:p>
        </p:txBody>
      </p:sp>
      <p:sp>
        <p:nvSpPr>
          <p:cNvPr id="116" name="S116"/>
          <p:cNvSpPr/>
          <p:nvPr/>
        </p:nvSpPr>
        <p:spPr>
          <a:xfrm>
            <a:off x="2486612" y="2345000"/>
            <a:ext cx="829706" cy="409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7" name="T117"/>
          <p:cNvSpPr/>
          <p:nvPr/>
        </p:nvSpPr>
        <p:spPr>
          <a:xfrm>
            <a:off x="2561612" y="2835800"/>
            <a:ext cx="67970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Profile
Self-Service</a:t>
            </a:r>
          </a:p>
        </p:txBody>
      </p:sp>
      <p:sp>
        <p:nvSpPr>
          <p:cNvPr id="118" name="ML118"/>
          <p:cNvSpPr/>
          <p:nvPr/>
        </p:nvSpPr>
        <p:spPr>
          <a:xfrm>
            <a:off x="2561612" y="3089800"/>
            <a:ext cx="679706" cy="331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Manage phone / email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Security settings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Language preferences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Profile change → SEM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→ admin review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→ reflects in CIA</a:t>
            </a:r>
          </a:p>
        </p:txBody>
      </p:sp>
      <p:sp>
        <p:nvSpPr>
          <p:cNvPr id="119" name="S119"/>
          <p:cNvSpPr/>
          <p:nvPr/>
        </p:nvSpPr>
        <p:spPr>
          <a:xfrm>
            <a:off x="3401318" y="2345000"/>
            <a:ext cx="829706" cy="409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0" name="T120"/>
          <p:cNvSpPr/>
          <p:nvPr/>
        </p:nvSpPr>
        <p:spPr>
          <a:xfrm>
            <a:off x="3476318" y="2835800"/>
            <a:ext cx="67970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Token
Self-Service</a:t>
            </a:r>
          </a:p>
        </p:txBody>
      </p:sp>
      <p:sp>
        <p:nvSpPr>
          <p:cNvPr id="121" name="ML121"/>
          <p:cNvSpPr/>
          <p:nvPr/>
        </p:nvSpPr>
        <p:spPr>
          <a:xfrm>
            <a:off x="3476318" y="3089800"/>
            <a:ext cx="679706" cy="331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Activate &amp; manage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RSA SecurID token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Login via UID + OTP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Re-register mobile token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Start over on error</a:t>
            </a:r>
          </a:p>
        </p:txBody>
      </p:sp>
      <p:sp>
        <p:nvSpPr>
          <p:cNvPr id="122" name="S122"/>
          <p:cNvSpPr/>
          <p:nvPr/>
        </p:nvSpPr>
        <p:spPr>
          <a:xfrm>
            <a:off x="4316024" y="2345000"/>
            <a:ext cx="829706" cy="409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3" name="T123"/>
          <p:cNvSpPr/>
          <p:nvPr/>
        </p:nvSpPr>
        <p:spPr>
          <a:xfrm>
            <a:off x="4391024" y="2835800"/>
            <a:ext cx="67970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MFA Menu</a:t>
            </a:r>
          </a:p>
        </p:txBody>
      </p:sp>
      <p:sp>
        <p:nvSpPr>
          <p:cNvPr id="124" name="ML124"/>
          <p:cNvSpPr/>
          <p:nvPr/>
        </p:nvSpPr>
        <p:spPr>
          <a:xfrm>
            <a:off x="4391024" y="3089800"/>
            <a:ext cx="679706" cy="331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Display default MFA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preference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Show other MFA options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in disabled mode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until registered</a:t>
            </a:r>
          </a:p>
        </p:txBody>
      </p:sp>
      <p:sp>
        <p:nvSpPr>
          <p:cNvPr id="125" name="S125"/>
          <p:cNvSpPr/>
          <p:nvPr/>
        </p:nvSpPr>
        <p:spPr>
          <a:xfrm>
            <a:off x="5205732" y="1580000"/>
            <a:ext cx="45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6" name="T126"/>
          <p:cNvSpPr/>
          <p:nvPr/>
        </p:nvSpPr>
        <p:spPr>
          <a:xfrm>
            <a:off x="5172172" y="139500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OIDC</a:t>
            </a:r>
          </a:p>
        </p:txBody>
      </p:sp>
      <p:sp>
        <p:nvSpPr>
          <p:cNvPr id="127" name="S127"/>
          <p:cNvSpPr/>
          <p:nvPr/>
        </p:nvSpPr>
        <p:spPr>
          <a:xfrm>
            <a:off x="5205732" y="1690000"/>
            <a:ext cx="45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28" name="T128"/>
          <p:cNvSpPr/>
          <p:nvPr/>
        </p:nvSpPr>
        <p:spPr>
          <a:xfrm>
            <a:off x="5172172" y="171200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session / tokens</a:t>
            </a:r>
          </a:p>
        </p:txBody>
      </p:sp>
      <p:sp>
        <p:nvSpPr>
          <p:cNvPr id="129" name="S129"/>
          <p:cNvSpPr/>
          <p:nvPr/>
        </p:nvSpPr>
        <p:spPr>
          <a:xfrm>
            <a:off x="5240732" y="4242500"/>
            <a:ext cx="28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0" name="T130"/>
          <p:cNvSpPr/>
          <p:nvPr/>
        </p:nvSpPr>
        <p:spPr>
          <a:xfrm>
            <a:off x="5189672" y="412862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AIC journey call</a:t>
            </a:r>
          </a:p>
        </p:txBody>
      </p:sp>
      <p:sp>
        <p:nvSpPr>
          <p:cNvPr id="131" name="S131"/>
          <p:cNvSpPr/>
          <p:nvPr/>
        </p:nvSpPr>
        <p:spPr>
          <a:xfrm>
            <a:off x="5240732" y="4362500"/>
            <a:ext cx="41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2" name="T132"/>
          <p:cNvSpPr/>
          <p:nvPr/>
        </p:nvSpPr>
        <p:spPr>
          <a:xfrm>
            <a:off x="5189672" y="4384499"/>
            <a:ext cx="502500" cy="199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Response</a:t>
            </a:r>
          </a:p>
        </p:txBody>
      </p:sp>
      <p:sp>
        <p:nvSpPr>
          <p:cNvPr id="133" name="S133"/>
          <p:cNvSpPr/>
          <p:nvPr/>
        </p:nvSpPr>
        <p:spPr>
          <a:xfrm>
            <a:off x="5528612" y="1060000"/>
            <a:ext cx="2728483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4" name="T134"/>
          <p:cNvSpPr/>
          <p:nvPr/>
        </p:nvSpPr>
        <p:spPr>
          <a:xfrm>
            <a:off x="5628612" y="1110000"/>
            <a:ext cx="2548483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 (PingOne AIC)</a:t>
            </a:r>
          </a:p>
        </p:txBody>
      </p:sp>
      <p:sp>
        <p:nvSpPr>
          <p:cNvPr id="135" name="S135"/>
          <p:cNvSpPr/>
          <p:nvPr/>
        </p:nvSpPr>
        <p:spPr>
          <a:xfrm>
            <a:off x="5668612" y="1355000"/>
            <a:ext cx="2448483" cy="51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36" name="T136"/>
          <p:cNvSpPr/>
          <p:nvPr/>
        </p:nvSpPr>
        <p:spPr>
          <a:xfrm>
            <a:off x="5743612" y="1973000"/>
            <a:ext cx="2298483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PingOne AIC</a:t>
            </a:r>
          </a:p>
        </p:txBody>
      </p:sp>
      <p:sp>
        <p:nvSpPr>
          <p:cNvPr id="137" name="ML137"/>
          <p:cNvSpPr/>
          <p:nvPr/>
        </p:nvSpPr>
        <p:spPr>
          <a:xfrm>
            <a:off x="5743612" y="2227000"/>
            <a:ext cx="2298483" cy="4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Journey Orchestration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Self-service flows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OIDC-authenticated sessions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Policy evaluation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Access: routes to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Approval Workflow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Profile: routes change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request to SEM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Token: manages RSA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SecurID token lifecycle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Device &amp; MFA: handled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internally in CIA</a:t>
            </a:r>
          </a:p>
        </p:txBody>
      </p:sp>
      <p:sp>
        <p:nvSpPr>
          <p:cNvPr id="139" name="T139"/>
          <p:cNvSpPr/>
          <p:nvPr/>
        </p:nvSpPr>
        <p:spPr>
          <a:xfrm>
            <a:off x="5796853" y="1436800"/>
            <a:ext cx="13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Executes self-service journey</a:t>
            </a:r>
          </a:p>
        </p:txBody>
      </p:sp>
      <p:sp>
        <p:nvSpPr>
          <p:cNvPr id="140" name="S140"/>
          <p:cNvSpPr/>
          <p:nvPr/>
        </p:nvSpPr>
        <p:spPr>
          <a:xfrm flipV="1">
            <a:off x="8267095" y="2797000"/>
            <a:ext cx="20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1" name="T141"/>
          <p:cNvSpPr/>
          <p:nvPr/>
        </p:nvSpPr>
        <p:spPr>
          <a:xfrm>
            <a:off x="8143535" y="259168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Route for approval</a:t>
            </a:r>
          </a:p>
        </p:txBody>
      </p:sp>
      <p:sp>
        <p:nvSpPr>
          <p:cNvPr id="142" name="S142"/>
          <p:cNvSpPr/>
          <p:nvPr/>
        </p:nvSpPr>
        <p:spPr>
          <a:xfrm>
            <a:off x="8267095" y="2897000"/>
            <a:ext cx="2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43" name="T143"/>
          <p:cNvSpPr/>
          <p:nvPr/>
        </p:nvSpPr>
        <p:spPr>
          <a:xfrm>
            <a:off x="8143535" y="2918999"/>
            <a:ext cx="520000" cy="21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approval status</a:t>
            </a:r>
          </a:p>
        </p:txBody>
      </p:sp>
      <p:sp>
        <p:nvSpPr>
          <p:cNvPr id="144" name="S144"/>
          <p:cNvSpPr/>
          <p:nvPr/>
        </p:nvSpPr>
        <p:spPr>
          <a:xfrm>
            <a:off x="8267095" y="5063000"/>
            <a:ext cx="2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5" name="T145"/>
          <p:cNvSpPr/>
          <p:nvPr/>
        </p:nvSpPr>
        <p:spPr>
          <a:xfrm>
            <a:off x="8143535" y="487800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Profile change request</a:t>
            </a:r>
          </a:p>
        </p:txBody>
      </p:sp>
      <p:sp>
        <p:nvSpPr>
          <p:cNvPr id="146" name="S146"/>
          <p:cNvSpPr/>
          <p:nvPr/>
        </p:nvSpPr>
        <p:spPr>
          <a:xfrm>
            <a:off x="8267095" y="5163000"/>
            <a:ext cx="2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47" name="T147"/>
          <p:cNvSpPr/>
          <p:nvPr/>
        </p:nvSpPr>
        <p:spPr>
          <a:xfrm>
            <a:off x="8143535" y="518500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change reflected in CIA</a:t>
            </a:r>
          </a:p>
        </p:txBody>
      </p:sp>
      <p:sp>
        <p:nvSpPr>
          <p:cNvPr id="148" name="S148"/>
          <p:cNvSpPr/>
          <p:nvPr/>
        </p:nvSpPr>
        <p:spPr>
          <a:xfrm>
            <a:off x="8439975" y="1060000"/>
            <a:ext cx="3385905" cy="553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49" name="T149"/>
          <p:cNvSpPr/>
          <p:nvPr/>
        </p:nvSpPr>
        <p:spPr>
          <a:xfrm>
            <a:off x="8539975" y="1110000"/>
            <a:ext cx="3205905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150" name="S150"/>
          <p:cNvSpPr/>
          <p:nvPr/>
        </p:nvSpPr>
        <p:spPr>
          <a:xfrm>
            <a:off x="8549975" y="1355000"/>
            <a:ext cx="3165905" cy="2450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1" name="T151"/>
          <p:cNvSpPr/>
          <p:nvPr/>
        </p:nvSpPr>
        <p:spPr>
          <a:xfrm>
            <a:off x="8624975" y="1673500"/>
            <a:ext cx="3015905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262626"/>
                </a:solidFill>
                <a:latin typeface="Calibri"/>
              </a:rPr>
              <a:t>Approval Workflow</a:t>
            </a:r>
          </a:p>
        </p:txBody>
      </p:sp>
      <p:sp>
        <p:nvSpPr>
          <p:cNvPr id="152" name="ML152"/>
          <p:cNvSpPr/>
          <p:nvPr/>
        </p:nvSpPr>
        <p:spPr>
          <a:xfrm>
            <a:off x="8624975" y="1927500"/>
            <a:ext cx="3015905" cy="18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Entitlement requests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Approver notified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Multi-level approval support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Status returned to user</a:t>
            </a:r>
          </a:p>
        </p:txBody>
      </p:sp>
      <p:sp>
        <p:nvSpPr>
          <p:cNvPr id="153" name="S153"/>
          <p:cNvSpPr/>
          <p:nvPr/>
        </p:nvSpPr>
        <p:spPr>
          <a:xfrm>
            <a:off x="8549975" y="4055000"/>
            <a:ext cx="3165905" cy="2450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4" name="T154"/>
          <p:cNvSpPr/>
          <p:nvPr/>
        </p:nvSpPr>
        <p:spPr>
          <a:xfrm>
            <a:off x="8624975" y="4373500"/>
            <a:ext cx="3015905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262626"/>
                </a:solidFill>
                <a:latin typeface="Calibri"/>
              </a:rPr>
              <a:t>SEM System</a:t>
            </a:r>
          </a:p>
        </p:txBody>
      </p:sp>
      <p:sp>
        <p:nvSpPr>
          <p:cNvPr id="155" name="ML155"/>
          <p:cNvSpPr/>
          <p:nvPr/>
        </p:nvSpPr>
        <p:spPr>
          <a:xfrm>
            <a:off x="8624975" y="4627500"/>
            <a:ext cx="3015905" cy="18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Profile change requests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Notifies admin for review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Approved changes reflected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in CIA platform</a:t>
            </a:r>
          </a:p>
        </p:txBody>
      </p:sp>
      <p:sp>
        <p:nvSpPr>
          <p:cNvPr id="156" name="T156"/>
          <p:cNvSpPr/>
          <p:nvPr/>
        </p:nvSpPr>
        <p:spPr>
          <a:xfrm>
            <a:off x="457200" y="666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Internal = black border  ·  External = grey fill  ·  Black arrow = request/call  ·  Dashed zone = platform boundary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247</Words>
  <Application>Microsoft Office PowerPoint</Application>
  <PresentationFormat>Widescreen</PresentationFormat>
  <Paragraphs>76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Nisheeth Bhardwaj</cp:lastModifiedBy>
  <cp:revision>2</cp:revision>
  <dcterms:created xsi:type="dcterms:W3CDTF">2013-01-27T09:14:16Z</dcterms:created>
  <dcterms:modified xsi:type="dcterms:W3CDTF">2026-07-10T12:27:44Z</dcterms:modified>
  <cp:category/>
</cp:coreProperties>
</file>